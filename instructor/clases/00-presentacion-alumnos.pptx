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9cb82f32d64558" /><Relationship Type="http://schemas.openxmlformats.org/officeDocument/2006/relationships/extended-properties" Target="/docProps/app.xml" Id="Rdfdfbbeed236426b" /><Relationship Type="http://schemas.openxmlformats.org/officeDocument/2006/relationships/officeDocument" Target="/ppt/presentation.xml" Id="Ra842c266186242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df94d6bfd9481c"/>
  </p:sldMasterIdLst>
  <p:notesMasterIdLst>
    <p:notesMasterId xmlns:r="http://schemas.openxmlformats.org/officeDocument/2006/relationships" r:id="R199269297e664454"/>
  </p:notesMasterIdLst>
  <p:sldIdLst>
    <p:sldId xmlns:r="http://schemas.openxmlformats.org/officeDocument/2006/relationships" id="256" r:id="Rcf60bac52fde41b1"/>
    <p:sldId xmlns:r="http://schemas.openxmlformats.org/officeDocument/2006/relationships" id="257" r:id="R8eea30bfd4e448fc"/>
    <p:sldId xmlns:r="http://schemas.openxmlformats.org/officeDocument/2006/relationships" id="258" r:id="Rebf4d94c7de54c0c"/>
    <p:sldId xmlns:r="http://schemas.openxmlformats.org/officeDocument/2006/relationships" id="259" r:id="Rc426a2ae2587444f"/>
    <p:sldId xmlns:r="http://schemas.openxmlformats.org/officeDocument/2006/relationships" id="260" r:id="R8b9a9b1fb77b46ea"/>
    <p:sldId xmlns:r="http://schemas.openxmlformats.org/officeDocument/2006/relationships" id="261" r:id="R86913d3a9810484d"/>
    <p:sldId xmlns:r="http://schemas.openxmlformats.org/officeDocument/2006/relationships" id="262" r:id="R70884c72bdc641c9"/>
    <p:sldId xmlns:r="http://schemas.openxmlformats.org/officeDocument/2006/relationships" id="263" r:id="Rc96ba0e274444977"/>
    <p:sldId xmlns:r="http://schemas.openxmlformats.org/officeDocument/2006/relationships" id="264" r:id="R8725c3dd7bdf4efb"/>
    <p:sldId xmlns:r="http://schemas.openxmlformats.org/officeDocument/2006/relationships" id="265" r:id="R388ce8bbf2a94fdd"/>
    <p:sldId xmlns:r="http://schemas.openxmlformats.org/officeDocument/2006/relationships" id="266" r:id="R4dbebe64679d4bcb"/>
    <p:sldId xmlns:r="http://schemas.openxmlformats.org/officeDocument/2006/relationships" id="267" r:id="R6f85f7ce97ac4d55"/>
    <p:sldId xmlns:r="http://schemas.openxmlformats.org/officeDocument/2006/relationships" id="268" r:id="Ra73cac06f8ff4b84"/>
    <p:sldId xmlns:r="http://schemas.openxmlformats.org/officeDocument/2006/relationships" id="269" r:id="Rd0004bf1ad734a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a17e65b4b74c96" /><Relationship Type="http://schemas.openxmlformats.org/officeDocument/2006/relationships/slideMaster" Target="/ppt/slideMasters/slideMaster1.xml" Id="R1adf94d6bfd9481c" /><Relationship Type="http://schemas.openxmlformats.org/officeDocument/2006/relationships/notesMaster" Target="/ppt/notesMasters/notesMaster1.xml" Id="R199269297e664454" /><Relationship Type="http://schemas.openxmlformats.org/officeDocument/2006/relationships/presProps" Target="/ppt/presProps.xml" Id="R1bc537b9e2ce4867" /><Relationship Type="http://schemas.openxmlformats.org/officeDocument/2006/relationships/tableStyles" Target="/ppt/tableStyles.xml" Id="R654cb93303864b18" /><Relationship Type="http://schemas.openxmlformats.org/officeDocument/2006/relationships/slide" Target="/ppt/slides/slide1.xml" Id="Rcf60bac52fde41b1" /><Relationship Type="http://schemas.openxmlformats.org/officeDocument/2006/relationships/slide" Target="/ppt/slides/slide2.xml" Id="R8eea30bfd4e448fc" /><Relationship Type="http://schemas.openxmlformats.org/officeDocument/2006/relationships/slide" Target="/ppt/slides/slide3.xml" Id="Rebf4d94c7de54c0c" /><Relationship Type="http://schemas.openxmlformats.org/officeDocument/2006/relationships/slide" Target="/ppt/slides/slide4.xml" Id="Rc426a2ae2587444f" /><Relationship Type="http://schemas.openxmlformats.org/officeDocument/2006/relationships/slide" Target="/ppt/slides/slide5.xml" Id="R8b9a9b1fb77b46ea" /><Relationship Type="http://schemas.openxmlformats.org/officeDocument/2006/relationships/slide" Target="/ppt/slides/slide6.xml" Id="R86913d3a9810484d" /><Relationship Type="http://schemas.openxmlformats.org/officeDocument/2006/relationships/slide" Target="/ppt/slides/slide7.xml" Id="R70884c72bdc641c9" /><Relationship Type="http://schemas.openxmlformats.org/officeDocument/2006/relationships/slide" Target="/ppt/slides/slide8.xml" Id="Rc96ba0e274444977" /><Relationship Type="http://schemas.openxmlformats.org/officeDocument/2006/relationships/slide" Target="/ppt/slides/slide9.xml" Id="R8725c3dd7bdf4efb" /><Relationship Type="http://schemas.openxmlformats.org/officeDocument/2006/relationships/slide" Target="/ppt/slides/slide10.xml" Id="R388ce8bbf2a94fdd" /><Relationship Type="http://schemas.openxmlformats.org/officeDocument/2006/relationships/slide" Target="/ppt/slides/slide11.xml" Id="R4dbebe64679d4bcb" /><Relationship Type="http://schemas.openxmlformats.org/officeDocument/2006/relationships/slide" Target="/ppt/slides/slide12.xml" Id="R6f85f7ce97ac4d55" /><Relationship Type="http://schemas.openxmlformats.org/officeDocument/2006/relationships/slide" Target="/ppt/slides/slide13.xml" Id="Ra73cac06f8ff4b84" /><Relationship Type="http://schemas.openxmlformats.org/officeDocument/2006/relationships/slide" Target="/ppt/slides/slide14.xml" Id="Rd0004bf1ad734a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24a413c15340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835e1660834e02" /><Relationship Type="http://schemas.openxmlformats.org/officeDocument/2006/relationships/notesMaster" Target="/ppt/notesMasters/notesMaster1.xml" Id="R99e5935125fc4c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e0b55a9e174412" /><Relationship Type="http://schemas.openxmlformats.org/officeDocument/2006/relationships/notesMaster" Target="/ppt/notesMasters/notesMaster1.xml" Id="R4beb3f9f206b40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956d2d415e4e90" /><Relationship Type="http://schemas.openxmlformats.org/officeDocument/2006/relationships/notesMaster" Target="/ppt/notesMasters/notesMaster1.xml" Id="R2318850d105843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063fea155349d5" /><Relationship Type="http://schemas.openxmlformats.org/officeDocument/2006/relationships/notesMaster" Target="/ppt/notesMasters/notesMaster1.xml" Id="R33f94b5916914c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01adba15434e5c" /><Relationship Type="http://schemas.openxmlformats.org/officeDocument/2006/relationships/notesMaster" Target="/ppt/notesMasters/notesMaster1.xml" Id="Rbd0dacce1e304e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7ba246969f4ac3" /><Relationship Type="http://schemas.openxmlformats.org/officeDocument/2006/relationships/notesMaster" Target="/ppt/notesMasters/notesMaster1.xml" Id="Reb2b8b1dce674b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81fa2c28034e8c" /><Relationship Type="http://schemas.openxmlformats.org/officeDocument/2006/relationships/notesMaster" Target="/ppt/notesMasters/notesMaster1.xml" Id="Re88187903fae41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0575a874a74fa6" /><Relationship Type="http://schemas.openxmlformats.org/officeDocument/2006/relationships/notesMaster" Target="/ppt/notesMasters/notesMaster1.xml" Id="R69ddf4ab59304a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e0db5d79114fc3" /><Relationship Type="http://schemas.openxmlformats.org/officeDocument/2006/relationships/notesMaster" Target="/ppt/notesMasters/notesMaster1.xml" Id="R9255730f157543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d95dddefe04f4c" /><Relationship Type="http://schemas.openxmlformats.org/officeDocument/2006/relationships/notesMaster" Target="/ppt/notesMasters/notesMaster1.xml" Id="R5be761f8c1444a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f42976fc874863" /><Relationship Type="http://schemas.openxmlformats.org/officeDocument/2006/relationships/notesMaster" Target="/ppt/notesMasters/notesMaster1.xml" Id="R8083b76f297e42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664dbbfcef42f9" /><Relationship Type="http://schemas.openxmlformats.org/officeDocument/2006/relationships/notesMaster" Target="/ppt/notesMasters/notesMaster1.xml" Id="Rcaf794f129e140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5260b460ded499b" /><Relationship Type="http://schemas.openxmlformats.org/officeDocument/2006/relationships/notesMaster" Target="/ppt/notesMasters/notesMaster1.xml" Id="R92176690be5745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fcd1b8d12f54fd9" /><Relationship Type="http://schemas.openxmlformats.org/officeDocument/2006/relationships/notesMaster" Target="/ppt/notesMasters/notesMaster1.xml" Id="R15aa1c9220c240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Construiremos AulaPedidos paso a paso. El objetivo es desarrollar con ayuda de Copilot y conservar el criterio para revisar lo que propone. Son 40 horas efectivas, en diez clases de cuatro horas. Los descansos quedan fuera de esas horas.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Ilustración conceptual generada con IA para este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Una API permite que otros programas pidan información o realicen operaciones. AulaPedidos ofrece un catálogo de productos y permite crear, consultar o cancelar pedidos según los permisos. La aplicación es el ejemplo común de todo el curso. La IA ayuda a desarrollar el proyecto. El proyecto no incluye un chatbot ni una función de IA para el usuario final.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clase combina una demostración corta con práctica. Trabajaremos en parejas, alternando quién conduce y quién revisa. Pediremos a Copilot cambios pequeños, leeremos el resultado y lo comprobaremos con pruebas. Las decisiones quedan en una bitácora. Usamos datos sintéticos y evitamos compartir secretos.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 harness como el conjunto de instrucciones, contexto, herramientas y verificaciones que orienta al asistente. Configuraremos instrucciones del repositorio, prompts y agentes. El alumno debe entender qué acepta y por qué. Incluye uso responsable de datos y revisión humana.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https://github.com/ychavez/CursoNETIA/blob/main/instructor/clases/01-ia-harness.md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las cuatro capas: Domain, Application, Infrastructure y Api. El dominio contiene reglas del negocio y conserva su independencia de HTTP y de la base de datos. Usaremos inyección de dependencias y aplicaremos SOLID con ejemplos concretos. El alumno documentará una decisión de arquitectura.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https://github.com/ychavez/CursoNETIA/blob/main/instructor/clases/02-arquitectura.md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Repository, CQRS, Mediator, Result y eventos del dominio. IRepository&lt;T&gt; concentra operaciones comunes para raíces de agregado. Los repositorios especializados conservan las consultas del negocio e IUnitOfWork guarda los cambios. No se agrega borrado físico genérico. Muestra también docs/repositorio-generico.md cuando el grupo implemente el contrato.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https://github.com/ychavez/CursoNETIA/blob/main/instructor/clases/03-patrones.md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 REST y los contratos de entrada y salida. Implementaremos endpoints para catálogo y pedidos, validación, códigos HTTP, ProblemDetails, versión de API y documentación OpenAPI. Los errores deben comunicar qué pasó sin revelar detalles internos.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https://github.com/ychavez/CursoNETIA/blob/main/instructor/clases/04-api.md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 Core traduce operaciones del modelo a la base de datos. Trabajaremos relaciones, migraciones, auditoría, borrado lógico, concurrencia y consultas eficientes. La ruta inicial utiliza SQLite. El curso incluye SQL Server mediante contenedores y migraciones para ambos proveedores.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https://github.com/ychavez/CursoNETIA/blob/main/instructor/clases/05-datos.md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Distingue autenticación de autorización. Veremos roles, permisos y autorización por recurso: tener un token no permite consultar cualquier pedido. Incluye riesgos OWASP relevantes. Los JWT del laboratorio son temporales y se generan localmente. La etapa productiva requiere un proveedor de identidad real.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https://github.com/ychavez/CursoNETIA/blob/main/instructor/clases/06-seguridad.md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Comprobaremos comportamientos del dominio y flujos completos de la API. Usaremos mocks donde aporten aislamiento, revisaremos cobertura y escribiremos regresiones para errores encontrados. Copilot puede proponer pruebas y refactorizaciones, pero debemos verificar que las pruebas detecten fallos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https://github.com/ychavez/CursoNETIA/blob/main/instructor/clases/07-calidad.md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 Adapter, Outbox, Retry, Circuit Breaker y Cache Aside a partir de fallos concretos. La outbox conserva notificaciones pendientes y permite reenviarlas. La entrega es al menos una vez y el receptor deduplica eventos. No promete entrega exactamente una vez. Veremos también las limitaciones de la caché 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https://github.com/ychavez/CursoNETIA/blob/main/instructor/clases/08-resiliencia.md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Docker Compose levanta SQL Server, el proceso de migraciones, la API, el receptor de notificaciones y el dashboard de Aspire. Observaremos registros, métricas, trazas y comprobaciones de salud. La práctica se ejecuta localmente. El curso no exige una cuenta de Azure o AWS ni despliega servicios en la nube.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https://github.com/ychavez/CursoNETIA/blob/main/instructor/clases/09-operacion.md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alumno integra un cambio, ejecuta pruebas y presenta evidencia del funcionamiento. Revisaremos seguridad, documentación y bitácora de IA. Prepararemos un plan para producción con sus pendientes reales. La entrega demuestra aprendizaje dentro del alcance docente y no certifica una solución lista para producción.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https://github.com/ychavez/CursoNETIA/blob/main/instructor/clases/10-entrega.md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entrega incluye repositorio ejecutable, configuración de Copilot, pruebas, documentación y demostración. Cada participante explica una decisión de arquitectura y una propuesta de IA que revisó o rechazó con razones. El repositorio enlazado contiene la solución de referencia y los materiales del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Ilustración conceptual generada con IA para este curso.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 del curso: https://github.com/ychavez/CursoNETIA/blob/main/instructor/evaluacion.md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a80e91db2e45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d04fcabaca41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fe7b9bd9b4a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3966a9164b484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00fa6050a34f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646be5961044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FDCCE37-A8B5-4D9B-A2ED-B97263D2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50600FC-3480-490F-A98C-191D0CE8B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62002FB-5C81-4213-B098-7DDF3C5058B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9FEE767-66DF-4991-B352-33727F9B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7A4DEE1-C177-45CF-BC48-F9A7B7130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9B32865-C68D-467E-A9BB-7D6FCD73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5E2E0E-C50A-4C9A-9215-17D202F115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56BEC02-24B4-4389-A4A3-89F4881E60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5B69FF6-66E1-4CEC-972C-505AC569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4B8400A-B8BD-47B9-B452-C48A6DF835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D83308-2DDB-4B8B-9F88-B473E64F8B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0D4A9C-812A-4BE8-AED4-AE23620411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ABBFEA1-8408-40A7-ABFB-A8F74A05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9A576E2-4053-40D6-A9D7-C7EAB8C2EA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CAB85C-65C1-4900-8183-B5999A38E8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9265ad136f4eab" /><Relationship Type="http://schemas.openxmlformats.org/officeDocument/2006/relationships/slideLayout" Target="/ppt/slideLayouts/slideLayout1.xml" Id="Re7c3bf5f629e4390" /><Relationship Type="http://schemas.openxmlformats.org/officeDocument/2006/relationships/slideLayout" Target="/ppt/slideLayouts/slideLayout2.xml" Id="Ree63cf4b4fdc436d" /><Relationship Type="http://schemas.openxmlformats.org/officeDocument/2006/relationships/slideLayout" Target="/ppt/slideLayouts/slideLayout3.xml" Id="Rf6882c7454444a18" /><Relationship Type="http://schemas.openxmlformats.org/officeDocument/2006/relationships/slideLayout" Target="/ppt/slideLayouts/slideLayout4.xml" Id="R7d71579d07e542d2" /><Relationship Type="http://schemas.openxmlformats.org/officeDocument/2006/relationships/slideLayout" Target="/ppt/slideLayouts/slideLayout5.xml" Id="R5d6eb7e42bcf459c" /><Relationship Type="http://schemas.openxmlformats.org/officeDocument/2006/relationships/slideLayout" Target="/ppt/slideLayouts/slideLayout6.xml" Id="R0898b5613dc647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c3bf5f629e4390"/>
    <p:sldLayoutId xmlns:r="http://schemas.openxmlformats.org/officeDocument/2006/relationships" id="2147483650" r:id="Ree63cf4b4fdc436d"/>
    <p:sldLayoutId xmlns:r="http://schemas.openxmlformats.org/officeDocument/2006/relationships" id="2147483651" r:id="Rf6882c7454444a18"/>
    <p:sldLayoutId xmlns:r="http://schemas.openxmlformats.org/officeDocument/2006/relationships" id="2147483652" r:id="R7d71579d07e542d2"/>
    <p:sldLayoutId xmlns:r="http://schemas.openxmlformats.org/officeDocument/2006/relationships" id="2147483653" r:id="R5d6eb7e42bcf459c"/>
    <p:sldLayoutId xmlns:r="http://schemas.openxmlformats.org/officeDocument/2006/relationships" id="2147483654" r:id="R0898b5613dc647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0840a9f1be4e70" /><Relationship Type="http://schemas.openxmlformats.org/officeDocument/2006/relationships/image" Target="/ppt/media/image.png" Id="R73cbc4f601124a11" /><Relationship Type="http://schemas.openxmlformats.org/officeDocument/2006/relationships/notesSlide" Target="/ppt/notesSlides/notesSlide1.xml" Id="Rde3c2cf3950c45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e5f2a82f14b3e" /><Relationship Type="http://schemas.openxmlformats.org/officeDocument/2006/relationships/notesSlide" Target="/ppt/notesSlides/notesSlide2.xml" Id="Rc243c9f13c4a46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0fbeb13ee44f6f" /><Relationship Type="http://schemas.openxmlformats.org/officeDocument/2006/relationships/notesSlide" Target="/ppt/notesSlides/notesSlide3.xml" Id="Rff2944c2a1e040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0025ad071743ff" /><Relationship Type="http://schemas.openxmlformats.org/officeDocument/2006/relationships/notesSlide" Target="/ppt/notesSlides/notesSlide4.xml" Id="R9761605c01c44f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6749802c1a423b" /><Relationship Type="http://schemas.openxmlformats.org/officeDocument/2006/relationships/notesSlide" Target="/ppt/notesSlides/notesSlide5.xml" Id="R149cfa049c6443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ad17fbc4c44651" /><Relationship Type="http://schemas.openxmlformats.org/officeDocument/2006/relationships/notesSlide" Target="/ppt/notesSlides/notesSlide6.xml" Id="R19a46f18222245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fedd24bdca4df4" /><Relationship Type="http://schemas.openxmlformats.org/officeDocument/2006/relationships/notesSlide" Target="/ppt/notesSlides/notesSlide7.xml" Id="Re8b8944157da4c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a591e34a334175" /><Relationship Type="http://schemas.openxmlformats.org/officeDocument/2006/relationships/notesSlide" Target="/ppt/notesSlides/notesSlide8.xml" Id="R2e7608deef3348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d3bd66538e4d73" /><Relationship Type="http://schemas.openxmlformats.org/officeDocument/2006/relationships/notesSlide" Target="/ppt/notesSlides/notesSlide9.xml" Id="R206d400adb4e4f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7ecbee0bd94b96" /><Relationship Type="http://schemas.openxmlformats.org/officeDocument/2006/relationships/notesSlide" Target="/ppt/notesSlides/notesSlide10.xml" Id="Ref1d917bc66141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8d3d1aecc6478f" /><Relationship Type="http://schemas.openxmlformats.org/officeDocument/2006/relationships/notesSlide" Target="/ppt/notesSlides/notesSlide11.xml" Id="Rc8d25469045f4f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280002c4c1468f" /><Relationship Type="http://schemas.openxmlformats.org/officeDocument/2006/relationships/notesSlide" Target="/ppt/notesSlides/notesSlide12.xml" Id="R69583983df4d4e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614a0cc4664c4a" /><Relationship Type="http://schemas.openxmlformats.org/officeDocument/2006/relationships/notesSlide" Target="/ppt/notesSlides/notesSlide13.xml" Id="Rbccfa35d220c4a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ae112a96cb4254" /><Relationship Type="http://schemas.openxmlformats.org/officeDocument/2006/relationships/image" Target="/ppt/media/image2.png" Id="Rd7d085a144fe4197" /><Relationship Type="http://schemas.openxmlformats.org/officeDocument/2006/relationships/hyperlink" Target="https://github.com/ychavez/CursoNETIA" TargetMode="External" Id="R7fa304577f1c4e49" /><Relationship Type="http://schemas.openxmlformats.org/officeDocument/2006/relationships/notesSlide" Target="/ppt/notesSlides/notesSlide14.xml" Id="R3a2a44ce7f7d47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bc4f601124a1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urse title">
            <a:extLst xmlns:a="http://schemas.openxmlformats.org/drawingml/2006/main">
              <a:ext uri="{FF2B5EF4-FFF2-40B4-BE49-F238E27FC236}">
                <a16:creationId xmlns:a16="http://schemas.microsoft.com/office/drawing/2014/main" id="{43BA4371-724D-4942-B59E-EC7AEA31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6905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.NET con IA</a:t>
            </a:r>
          </a:p>
        </p:txBody>
      </p:sp>
      <p:sp>
        <p:nvSpPr>
          <p:cNvPr id="3" name="Course subtitle">
            <a:extLst xmlns:a="http://schemas.openxmlformats.org/drawingml/2006/main">
              <a:ext uri="{FF2B5EF4-FFF2-40B4-BE49-F238E27FC236}">
                <a16:creationId xmlns:a16="http://schemas.microsoft.com/office/drawing/2014/main" id="{2FA0FA8A-1BD2-4806-946D-9302BAF0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671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Desarrollo con GitHub Copilot</a:t>
            </a:r>
          </a:p>
        </p:txBody>
      </p:sp>
      <p:sp>
        <p:nvSpPr>
          <p:cNvPr id="4" name="Course duration">
            <a:extLst xmlns:a="http://schemas.openxmlformats.org/drawingml/2006/main">
              <a:ext uri="{FF2B5EF4-FFF2-40B4-BE49-F238E27FC236}">
                <a16:creationId xmlns:a16="http://schemas.microsoft.com/office/drawing/2014/main" id="{F892741F-47EA-4FC4-B664-C6B8CD0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0125"/>
            <a:ext cx="619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7E2D7"/>
                </a:solidFill>
                <a:latin typeface="Arial"/>
                <a:ea typeface="Arial"/>
                <a:cs typeface="Arial"/>
              </a:rPr>
              <a:t>40 horas</a:t>
            </a:r>
          </a:p>
          <a:p xmlns:a="http://schemas.openxmlformats.org/drawingml/2006/main">
            <a:pPr>
              <a:defRPr sz="225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A7E2D7"/>
                </a:solidFill>
                <a:latin typeface="Arial"/>
                <a:ea typeface="Arial"/>
                <a:cs typeface="Arial"/>
              </a:rPr>
              <a:t>10 clases prácticas</a:t>
            </a:r>
          </a:p>
        </p:txBody>
      </p:sp>
    </p:spTree>
    <p:extLst>
      <p:ext uri="{BB962C8B-B14F-4D97-AF65-F5344CB8AC3E}">
        <p14:creationId xmlns:p14="http://schemas.microsoft.com/office/powerpoint/2010/main" val="1623110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roject title">
            <a:extLst xmlns:a="http://schemas.openxmlformats.org/drawingml/2006/main">
              <a:ext uri="{FF2B5EF4-FFF2-40B4-BE49-F238E27FC236}">
                <a16:creationId xmlns:a16="http://schemas.microsoft.com/office/drawing/2014/main" id="{A67D5387-9063-4A25-9821-C71FC682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809625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AulaPedidos</a:t>
            </a:r>
          </a:p>
        </p:txBody>
      </p:sp>
      <p:sp>
        <p:nvSpPr>
          <p:cNvPr id="2" name="Project description">
            <a:extLst xmlns:a="http://schemas.openxmlformats.org/drawingml/2006/main">
              <a:ext uri="{FF2B5EF4-FFF2-40B4-BE49-F238E27FC236}">
                <a16:creationId xmlns:a16="http://schemas.microsoft.com/office/drawing/2014/main" id="{CF497C1C-85CA-46FC-932B-A58D18AD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Una API para gestionar</a:t>
            </a:r>
          </a:p>
          <a:p xmlns:a="http://schemas.openxmlformats.org/drawingml/2006/main">
            <a:pPr>
              <a:defRPr sz="412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productos y pedidos.</a:t>
            </a:r>
          </a:p>
        </p:txBody>
      </p:sp>
      <p:sp>
        <p:nvSpPr>
          <p:cNvPr id="3" name="Project capabilities">
            <a:extLst xmlns:a="http://schemas.openxmlformats.org/drawingml/2006/main">
              <a:ext uri="{FF2B5EF4-FFF2-40B4-BE49-F238E27FC236}">
                <a16:creationId xmlns:a16="http://schemas.microsoft.com/office/drawing/2014/main" id="{810C7F32-23B7-4554-8F82-21F647F1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Con permisos, datos persistentes</a:t>
            </a:r>
          </a:p>
          <a:p xmlns:a="http://schemas.openxmlformats.org/drawingml/2006/main">
            <a:pPr>
              <a:defRPr sz="2400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y notificaciones.</a:t>
            </a:r>
          </a:p>
        </p:txBody>
      </p:sp>
    </p:spTree>
    <p:extLst>
      <p:ext uri="{BB962C8B-B14F-4D97-AF65-F5344CB8AC3E}">
        <p14:creationId xmlns:p14="http://schemas.microsoft.com/office/powerpoint/2010/main" val="2877386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Learning title">
            <a:extLst xmlns:a="http://schemas.openxmlformats.org/drawingml/2006/main">
              <a:ext uri="{FF2B5EF4-FFF2-40B4-BE49-F238E27FC236}">
                <a16:creationId xmlns:a16="http://schemas.microsoft.com/office/drawing/2014/main" id="{FEA93AC5-2969-4FA8-B475-0E875D45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Cómo trabajaremos</a:t>
            </a:r>
          </a:p>
        </p:txBody>
      </p:sp>
      <p:sp>
        <p:nvSpPr>
          <p:cNvPr id="2" name="AI role">
            <a:extLst xmlns:a="http://schemas.openxmlformats.org/drawingml/2006/main">
              <a:ext uri="{FF2B5EF4-FFF2-40B4-BE49-F238E27FC236}">
                <a16:creationId xmlns:a16="http://schemas.microsoft.com/office/drawing/2014/main" id="{88F8262D-6D20-4E15-A221-9C01CE51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812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Copilot propone.</a:t>
            </a:r>
          </a:p>
        </p:txBody>
      </p:sp>
      <p:sp>
        <p:nvSpPr>
          <p:cNvPr id="3" name="Student role">
            <a:extLst xmlns:a="http://schemas.openxmlformats.org/drawingml/2006/main">
              <a:ext uri="{FF2B5EF4-FFF2-40B4-BE49-F238E27FC236}">
                <a16:creationId xmlns:a16="http://schemas.microsoft.com/office/drawing/2014/main" id="{6608528B-A5C3-4E38-A9C6-52B6F3F5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A7E2D7"/>
                </a:solidFill>
                <a:latin typeface="Arial"/>
                <a:ea typeface="Arial"/>
                <a:cs typeface="Arial"/>
              </a:rPr>
              <a:t>Tú revisas y decides.</a:t>
            </a:r>
          </a:p>
        </p:txBody>
      </p:sp>
      <p:sp>
        <p:nvSpPr>
          <p:cNvPr id="4" name="Practice method">
            <a:extLst xmlns:a="http://schemas.openxmlformats.org/drawingml/2006/main">
              <a:ext uri="{FF2B5EF4-FFF2-40B4-BE49-F238E27FC236}">
                <a16:creationId xmlns:a16="http://schemas.microsoft.com/office/drawing/2014/main" id="{6DC115E9-A120-4596-AF54-96BCDCB9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339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Verás una demostración y practicarás en equipo.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Probarás tu solución y explicarás tus decisiones.</a:t>
            </a:r>
          </a:p>
        </p:txBody>
      </p:sp>
    </p:spTree>
    <p:extLst>
      <p:ext uri="{BB962C8B-B14F-4D97-AF65-F5344CB8AC3E}">
        <p14:creationId xmlns:p14="http://schemas.microsoft.com/office/powerpoint/2010/main" val="15816740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1634622E-9FE8-464E-ADBA-80F1392D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5E17A89-0CC8-4C69-8FE2-1B004133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4118A6EB-88B5-4E61-BDE4-E0BC55C1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Copilot y su contexto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DB71A511-F263-43D8-86C1-7341D80E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A6BC4726-A934-4119-8C10-2AD922D8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El harness: instrucciones y contexto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guiar a la IA.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A3167BC9-ADA9-4B9F-897C-436F6E21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A05EA7BE-AB96-45CC-9889-15108446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Configurar Copilot para el proyecto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comprobar sus propuestas.</a:t>
            </a:r>
          </a:p>
        </p:txBody>
      </p:sp>
    </p:spTree>
    <p:extLst>
      <p:ext uri="{BB962C8B-B14F-4D97-AF65-F5344CB8AC3E}">
        <p14:creationId xmlns:p14="http://schemas.microsoft.com/office/powerpoint/2010/main" val="10105251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DD29C8F4-D4F4-46DC-B770-B68986F9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CD38F558-5AA6-4311-9C57-EAB60FC8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797B655C-02C1-4FA7-9570-A7E5CC51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Arquitectura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por capas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838A77B3-9DBB-497C-A156-D80B5CE8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ED351AAF-C452-47FA-8A7A-44232C55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Clean Architecture y SOLID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separar responsabilidades.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DED3C2AA-1A20-41DA-91AE-933ED073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870FA262-B106-4237-8BD7-AA638421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Definir reglas de negocio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organizar las dependencias.</a:t>
            </a:r>
          </a:p>
        </p:txBody>
      </p:sp>
    </p:spTree>
    <p:extLst>
      <p:ext uri="{BB962C8B-B14F-4D97-AF65-F5344CB8AC3E}">
        <p14:creationId xmlns:p14="http://schemas.microsoft.com/office/powerpoint/2010/main" val="15153875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6B5E4269-4AC6-4516-B88D-59315AEC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4374E56-A4AF-42A4-A56D-D24C1764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0A38C35-1A67-42E7-9FAA-4DFA4FA7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Patrones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repositorios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B4B0B9E3-D5C3-4B76-A647-83868434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801B3F05-114B-4BAE-89B8-C8171079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organizar consultas, cambios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acceso a datos.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11FB8215-06A0-4981-991A-C2BDE125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388C8D6C-5317-4311-8F9E-7C29710A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un repositorio reutilizable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 IRepository&lt;T&gt;.</a:t>
            </a:r>
          </a:p>
        </p:txBody>
      </p:sp>
    </p:spTree>
    <p:extLst>
      <p:ext uri="{BB962C8B-B14F-4D97-AF65-F5344CB8AC3E}">
        <p14:creationId xmlns:p14="http://schemas.microsoft.com/office/powerpoint/2010/main" val="1746648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11475FDA-9604-47F5-8487-D569DB82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6AECE2BA-C9FB-4EBD-BD9D-3652EC3A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DBF0EBC2-9690-4C05-BD64-7FD4E356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API y contratos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28C032F3-CB01-458D-9BB3-C3B61A5E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8240C012-6631-479E-842D-0A4CC1CA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Peticiones y respuestas claras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entre aplicaciones.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ED8B7F65-8688-40F7-8A47-5A5F55C4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737089ED-5143-40A7-BDB1-D7DD87BC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rutas, validar entradas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documentar errores con OpenAPI.</a:t>
            </a:r>
          </a:p>
        </p:txBody>
      </p:sp>
    </p:spTree>
    <p:extLst>
      <p:ext uri="{BB962C8B-B14F-4D97-AF65-F5344CB8AC3E}">
        <p14:creationId xmlns:p14="http://schemas.microsoft.com/office/powerpoint/2010/main" val="109067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099DEBAA-3FC9-4BC6-9F7D-003BBDC1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C6987BAA-2E72-4498-8C86-C0E6F812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96576AAE-DBCC-460D-86BE-A0200F41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Datos con EF Core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151439FE-A64C-47AD-846B-BB96243D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1B882379-1090-412A-BD58-E8ACD9D3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guardar datos y evolucionar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la base mediante migraciones.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2AE8AC63-71B8-48B5-9CEC-EC3937FC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E21DA0C0-4399-4741-8659-670EED9F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Crear relaciones, optimizar consultas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registrar cambios.</a:t>
            </a:r>
          </a:p>
        </p:txBody>
      </p:sp>
    </p:spTree>
    <p:extLst>
      <p:ext uri="{BB962C8B-B14F-4D97-AF65-F5344CB8AC3E}">
        <p14:creationId xmlns:p14="http://schemas.microsoft.com/office/powerpoint/2010/main" val="2490549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41580874-D747-4C55-AFD8-FDEAF31A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88DF5405-B46E-4AE0-8554-E89F65C4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E80DB4A-6237-452D-AA4B-CD2EA89D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Seguridad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permisos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944D773D-DF45-4B07-A429-178679A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AA67A093-ED6F-4CFB-B7CD-46926AA1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Tokens JWT y reglas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proteger el acceso.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CB579CF3-B3A4-45D2-8C06-7534F57C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786E7889-3892-400D-8AE8-BB13D7F03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Controlar quién puede consultar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o modificar cada pedido.</a:t>
            </a:r>
          </a:p>
        </p:txBody>
      </p:sp>
    </p:spTree>
    <p:extLst>
      <p:ext uri="{BB962C8B-B14F-4D97-AF65-F5344CB8AC3E}">
        <p14:creationId xmlns:p14="http://schemas.microsoft.com/office/powerpoint/2010/main" val="18898252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8A6F5F96-85DC-49CC-A0F4-77EDF1AD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7F3518BC-EDD3-4DBD-B1C5-389F98DA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5569EB11-8F95-46E0-8954-82D1917B4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Calidad y pruebas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097A2047-AED9-462B-85F5-8EDBB38C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156C5A05-814C-4C5B-A00B-63FA619F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Pruebas unitarias y de integración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para detectar errores.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2E4A0CF8-B1F9-4408-8CB9-7B62E6DD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A396771D-6544-4E4D-BF75-54545929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Verificar reglas y API.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Mejorar código con pruebas que lo respalden.</a:t>
            </a:r>
          </a:p>
        </p:txBody>
      </p:sp>
    </p:spTree>
    <p:extLst>
      <p:ext uri="{BB962C8B-B14F-4D97-AF65-F5344CB8AC3E}">
        <p14:creationId xmlns:p14="http://schemas.microsoft.com/office/powerpoint/2010/main" val="11371068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DDAB6192-F167-444B-9045-9CD8A2C0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2CFDA9E2-954E-43C4-8D60-718D1E4C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52A92DF0-A0CF-4603-8366-BF9F8C1F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Respuesta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ante fallos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24866873-9C86-4F33-B021-63C12E0C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26E01DBE-778E-4FE2-A36A-1B52960A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Notificaciones pendientes con Outbox,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reintentos y caché.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4BA663B4-5439-4AAB-945F-B55BEC8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B11864E0-50BA-4B7B-B693-0AF95843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Simular fallos y comprobar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la recuperación del sistema.</a:t>
            </a:r>
          </a:p>
        </p:txBody>
      </p:sp>
    </p:spTree>
    <p:extLst>
      <p:ext uri="{BB962C8B-B14F-4D97-AF65-F5344CB8AC3E}">
        <p14:creationId xmlns:p14="http://schemas.microsoft.com/office/powerpoint/2010/main" val="97446657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2EB43BB5-5E01-46C8-8A17-23B4CAC7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0AE636C9-A8F3-4807-9493-CF4DE753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1DE34637-783D-4F67-AD50-9EFAFD5C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Docker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diagnóstico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E6F4B20F-DB27-4901-B7DA-E2638CD0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D2ED3284-BA2B-4BF2-AC70-7B7F18AD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Docker para ejecutar servicios.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OpenTelemetry para observarlos.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E2969768-4316-447A-B242-F364DF5D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66C0B28E-C69B-4B08-AC62-A753D55B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Levantar el sistema local y detectar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problemas con métricas y trazas.</a:t>
            </a:r>
          </a:p>
        </p:txBody>
      </p:sp>
    </p:spTree>
    <p:extLst>
      <p:ext uri="{BB962C8B-B14F-4D97-AF65-F5344CB8AC3E}">
        <p14:creationId xmlns:p14="http://schemas.microsoft.com/office/powerpoint/2010/main" val="7792244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4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ass number">
            <a:extLst xmlns:a="http://schemas.openxmlformats.org/drawingml/2006/main">
              <a:ext uri="{FF2B5EF4-FFF2-40B4-BE49-F238E27FC236}">
                <a16:creationId xmlns:a16="http://schemas.microsoft.com/office/drawing/2014/main" id="{B5E2F4E8-EF29-4027-9FE8-AA119D64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19125"/>
            <a:ext cx="2171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C1B4E7"/>
                </a:solidFill>
                <a:latin typeface="Arial"/>
                <a:ea typeface="Arial"/>
                <a:cs typeface="Arial"/>
              </a:defRPr>
            </a:pPr>
            <a:r>
              <a:rPr sz="11550" b="1">
                <a:solidFill>
                  <a:srgbClr val="C1B4E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Class duration">
            <a:extLst xmlns:a="http://schemas.openxmlformats.org/drawingml/2006/main">
              <a:ext uri="{FF2B5EF4-FFF2-40B4-BE49-F238E27FC236}">
                <a16:creationId xmlns:a16="http://schemas.microsoft.com/office/drawing/2014/main" id="{4889EF75-BB5D-46F3-A9FA-49B7AFC2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28875"/>
            <a:ext cx="1952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CLASE</a:t>
            </a:r>
          </a:p>
          <a:p xmlns:a="http://schemas.openxmlformats.org/drawingml/2006/main">
            <a:pPr>
              <a:defRPr sz="1875" b="0">
                <a:solidFill>
                  <a:srgbClr val="45516A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5516A"/>
                </a:solidFill>
                <a:latin typeface="Arial"/>
                <a:ea typeface="Arial"/>
                <a:cs typeface="Arial"/>
              </a:rPr>
              <a:t>4 horas</a:t>
            </a:r>
          </a:p>
        </p:txBody>
      </p:sp>
      <p:sp>
        <p:nvSpPr>
          <p:cNvPr id="3" name="Class title">
            <a:extLst xmlns:a="http://schemas.openxmlformats.org/drawingml/2006/main">
              <a:ext uri="{FF2B5EF4-FFF2-40B4-BE49-F238E27FC236}">
                <a16:creationId xmlns:a16="http://schemas.microsoft.com/office/drawing/2014/main" id="{B824E76C-F928-45D9-B40B-3B78F049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809625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Integración</a:t>
            </a:r>
          </a:p>
          <a:p xmlns:a="http://schemas.openxmlformats.org/drawingml/2006/main">
            <a:pPr>
              <a:defRPr sz="4275" b="1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4275" b="1">
                <a:solidFill>
                  <a:srgbClr val="172137"/>
                </a:solidFill>
                <a:latin typeface="Arial"/>
                <a:ea typeface="Arial"/>
                <a:cs typeface="Arial"/>
              </a:rPr>
              <a:t>y entrega</a:t>
            </a:r>
          </a:p>
        </p:txBody>
      </p:sp>
      <p:sp>
        <p:nvSpPr>
          <p:cNvPr id="4" name="Learning label">
            <a:extLst xmlns:a="http://schemas.openxmlformats.org/drawingml/2006/main">
              <a:ext uri="{FF2B5EF4-FFF2-40B4-BE49-F238E27FC236}">
                <a16:creationId xmlns:a16="http://schemas.microsoft.com/office/drawing/2014/main" id="{F89574B7-B855-4B43-835C-8E454D3C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752725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APRENDERÁS</a:t>
            </a:r>
          </a:p>
        </p:txBody>
      </p:sp>
      <p:sp>
        <p:nvSpPr>
          <p:cNvPr id="5" name="Learning outcome">
            <a:extLst xmlns:a="http://schemas.openxmlformats.org/drawingml/2006/main">
              <a:ext uri="{FF2B5EF4-FFF2-40B4-BE49-F238E27FC236}">
                <a16:creationId xmlns:a16="http://schemas.microsoft.com/office/drawing/2014/main" id="{FA7D994D-EE34-463A-A8E6-BC278593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90875"/>
            <a:ext cx="8191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Cómo revisar la solución completa</a:t>
            </a:r>
          </a:p>
          <a:p xmlns:a="http://schemas.openxmlformats.org/drawingml/2006/main">
            <a:pPr>
              <a:defRPr sz="270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preparar su siguiente etapa.</a:t>
            </a:r>
          </a:p>
        </p:txBody>
      </p:sp>
      <p:sp>
        <p:nvSpPr>
          <p:cNvPr id="6" name="Practice label">
            <a:extLst xmlns:a="http://schemas.openxmlformats.org/drawingml/2006/main">
              <a:ext uri="{FF2B5EF4-FFF2-40B4-BE49-F238E27FC236}">
                <a16:creationId xmlns:a16="http://schemas.microsoft.com/office/drawing/2014/main" id="{C5AC8392-52F4-4576-9B6F-DF523102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667250"/>
            <a:ext cx="762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044B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044B6"/>
                </a:solidFill>
                <a:latin typeface="Arial"/>
                <a:ea typeface="Arial"/>
                <a:cs typeface="Arial"/>
              </a:rPr>
              <a:t>HARÁS</a:t>
            </a:r>
          </a:p>
        </p:txBody>
      </p:sp>
      <p:sp>
        <p:nvSpPr>
          <p:cNvPr id="7" name="Practice outcome">
            <a:extLst xmlns:a="http://schemas.openxmlformats.org/drawingml/2006/main">
              <a:ext uri="{FF2B5EF4-FFF2-40B4-BE49-F238E27FC236}">
                <a16:creationId xmlns:a16="http://schemas.microsoft.com/office/drawing/2014/main" id="{88B4F69C-8D22-4185-A92F-016361B29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05400"/>
            <a:ext cx="8191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Resolver el desafío final</a:t>
            </a:r>
          </a:p>
          <a:p xmlns:a="http://schemas.openxmlformats.org/drawingml/2006/main">
            <a:pPr>
              <a:defRPr sz="2550" b="0">
                <a:solidFill>
                  <a:srgbClr val="17213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2137"/>
                </a:solidFill>
                <a:latin typeface="Arial"/>
                <a:ea typeface="Arial"/>
                <a:cs typeface="Arial"/>
              </a:rPr>
              <a:t>y justificar tus decisiones.</a:t>
            </a:r>
          </a:p>
        </p:txBody>
      </p:sp>
    </p:spTree>
    <p:extLst>
      <p:ext uri="{BB962C8B-B14F-4D97-AF65-F5344CB8AC3E}">
        <p14:creationId xmlns:p14="http://schemas.microsoft.com/office/powerpoint/2010/main" val="8430595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18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d085a144fe41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Delivery title">
            <a:extLst xmlns:a="http://schemas.openxmlformats.org/drawingml/2006/main">
              <a:ext uri="{FF2B5EF4-FFF2-40B4-BE49-F238E27FC236}">
                <a16:creationId xmlns:a16="http://schemas.microsoft.com/office/drawing/2014/main" id="{C0F37B35-045C-4F90-AA5B-CB280D6C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52500"/>
            <a:ext cx="6905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 entrega final</a:t>
            </a:r>
          </a:p>
        </p:txBody>
      </p:sp>
      <p:sp>
        <p:nvSpPr>
          <p:cNvPr id="3" name="Delivery application">
            <a:extLst xmlns:a="http://schemas.openxmlformats.org/drawingml/2006/main">
              <a:ext uri="{FF2B5EF4-FFF2-40B4-BE49-F238E27FC236}">
                <a16:creationId xmlns:a16="http://schemas.microsoft.com/office/drawing/2014/main" id="{AC0F568E-6545-452D-A225-856D3F65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Aplicación funcionando.</a:t>
            </a:r>
          </a:p>
        </p:txBody>
      </p:sp>
      <p:sp>
        <p:nvSpPr>
          <p:cNvPr id="4" name="Delivery evidence">
            <a:extLst xmlns:a="http://schemas.openxmlformats.org/drawingml/2006/main">
              <a:ext uri="{FF2B5EF4-FFF2-40B4-BE49-F238E27FC236}">
                <a16:creationId xmlns:a16="http://schemas.microsoft.com/office/drawing/2014/main" id="{017A3F5D-E514-41F9-A5C5-A66BDF95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y documentación.</a:t>
            </a:r>
          </a:p>
        </p:txBody>
      </p:sp>
      <p:sp>
        <p:nvSpPr>
          <p:cNvPr id="5" name="Delivery understanding">
            <a:extLst xmlns:a="http://schemas.openxmlformats.org/drawingml/2006/main">
              <a:ext uri="{FF2B5EF4-FFF2-40B4-BE49-F238E27FC236}">
                <a16:creationId xmlns:a16="http://schemas.microsoft.com/office/drawing/2014/main" id="{7FA8C5BE-FB39-4E9F-A78C-5963A145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685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Decisiones que puedes explicar.</a:t>
            </a:r>
          </a:p>
        </p:txBody>
      </p:sp>
      <p:sp>
        <p:nvSpPr>
          <p:cNvPr id="6" name="Course repository">
            <a:extLst xmlns:a="http://schemas.openxmlformats.org/drawingml/2006/main">
              <a:ext uri="{FF2B5EF4-FFF2-40B4-BE49-F238E27FC236}">
                <a16:creationId xmlns:a16="http://schemas.microsoft.com/office/drawing/2014/main" id="{2F8774B0-8396-446E-AF31-1F4BE824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48350"/>
            <a:ext cx="681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A7E2D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7E2D7"/>
                </a:solidFill>
                <a:latin typeface="Arial"/>
                <a:ea typeface="Arial"/>
                <a:cs typeface="Arial"/>
                <a:hlinkClick xmlns:r="http://schemas.openxmlformats.org/officeDocument/2006/relationships" r:id="R7fa304577f1c4e49"/>
              </a:rPr>
              <a:t>github.com/ychavez/CursoNETIA</a:t>
            </a:r>
          </a:p>
        </p:txBody>
      </p:sp>
    </p:spTree>
    <p:extLst>
      <p:ext uri="{BB962C8B-B14F-4D97-AF65-F5344CB8AC3E}">
        <p14:creationId xmlns:p14="http://schemas.microsoft.com/office/powerpoint/2010/main" val="14348117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2026-09-29T15:22:41.7220000Z</dcterms:created>
  <dcterms:modified xsi:type="dcterms:W3CDTF">2026-09-29T15:22:41.7220000Z</dcterms:modified>
</coreProperties>
</file>
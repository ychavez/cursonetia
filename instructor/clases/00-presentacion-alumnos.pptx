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128652afc14ece" /><Relationship Type="http://schemas.openxmlformats.org/officeDocument/2006/relationships/extended-properties" Target="/docProps/app.xml" Id="Rb97ad0ba4d854628" /><Relationship Type="http://schemas.openxmlformats.org/officeDocument/2006/relationships/officeDocument" Target="/ppt/presentation.xml" Id="Rde5c69fbb33343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631cc8b9334827"/>
  </p:sldMasterIdLst>
  <p:notesMasterIdLst>
    <p:notesMasterId xmlns:r="http://schemas.openxmlformats.org/officeDocument/2006/relationships" r:id="Rce19066b91874d47"/>
  </p:notesMasterIdLst>
  <p:sldIdLst>
    <p:sldId xmlns:r="http://schemas.openxmlformats.org/officeDocument/2006/relationships" id="256" r:id="R0a404aa8c5d748f8"/>
    <p:sldId xmlns:r="http://schemas.openxmlformats.org/officeDocument/2006/relationships" id="257" r:id="Rd13976f65ac443f0"/>
    <p:sldId xmlns:r="http://schemas.openxmlformats.org/officeDocument/2006/relationships" id="258" r:id="R465840514ca945c9"/>
    <p:sldId xmlns:r="http://schemas.openxmlformats.org/officeDocument/2006/relationships" id="259" r:id="R0dd90b38dd0a4934"/>
    <p:sldId xmlns:r="http://schemas.openxmlformats.org/officeDocument/2006/relationships" id="260" r:id="R222d8554ea0d467b"/>
    <p:sldId xmlns:r="http://schemas.openxmlformats.org/officeDocument/2006/relationships" id="261" r:id="R26e405b247624f63"/>
    <p:sldId xmlns:r="http://schemas.openxmlformats.org/officeDocument/2006/relationships" id="262" r:id="Rb8e083284b32456e"/>
    <p:sldId xmlns:r="http://schemas.openxmlformats.org/officeDocument/2006/relationships" id="263" r:id="R77ed92c254ba4835"/>
    <p:sldId xmlns:r="http://schemas.openxmlformats.org/officeDocument/2006/relationships" id="264" r:id="Rc2785ff173af4df7"/>
    <p:sldId xmlns:r="http://schemas.openxmlformats.org/officeDocument/2006/relationships" id="265" r:id="R83df7a47ccca4bb9"/>
    <p:sldId xmlns:r="http://schemas.openxmlformats.org/officeDocument/2006/relationships" id="266" r:id="Re8ac42630666419f"/>
    <p:sldId xmlns:r="http://schemas.openxmlformats.org/officeDocument/2006/relationships" id="267" r:id="R40bc58730d8045f4"/>
    <p:sldId xmlns:r="http://schemas.openxmlformats.org/officeDocument/2006/relationships" id="268" r:id="R35f26a1be6a54d9e"/>
    <p:sldId xmlns:r="http://schemas.openxmlformats.org/officeDocument/2006/relationships" id="269" r:id="R9bc98dfefbcd48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71dd8dbec3462c" /><Relationship Type="http://schemas.openxmlformats.org/officeDocument/2006/relationships/slideMaster" Target="/ppt/slideMasters/slideMaster1.xml" Id="R82631cc8b9334827" /><Relationship Type="http://schemas.openxmlformats.org/officeDocument/2006/relationships/notesMaster" Target="/ppt/notesMasters/notesMaster1.xml" Id="Rce19066b91874d47" /><Relationship Type="http://schemas.openxmlformats.org/officeDocument/2006/relationships/presProps" Target="/ppt/presProps.xml" Id="R5fec01eb35284dd1" /><Relationship Type="http://schemas.openxmlformats.org/officeDocument/2006/relationships/tableStyles" Target="/ppt/tableStyles.xml" Id="R5a865f2297b64f71" /><Relationship Type="http://schemas.openxmlformats.org/officeDocument/2006/relationships/slide" Target="/ppt/slides/slide1.xml" Id="R0a404aa8c5d748f8" /><Relationship Type="http://schemas.openxmlformats.org/officeDocument/2006/relationships/slide" Target="/ppt/slides/slide2.xml" Id="Rd13976f65ac443f0" /><Relationship Type="http://schemas.openxmlformats.org/officeDocument/2006/relationships/slide" Target="/ppt/slides/slide3.xml" Id="R465840514ca945c9" /><Relationship Type="http://schemas.openxmlformats.org/officeDocument/2006/relationships/slide" Target="/ppt/slides/slide4.xml" Id="R0dd90b38dd0a4934" /><Relationship Type="http://schemas.openxmlformats.org/officeDocument/2006/relationships/slide" Target="/ppt/slides/slide5.xml" Id="R222d8554ea0d467b" /><Relationship Type="http://schemas.openxmlformats.org/officeDocument/2006/relationships/slide" Target="/ppt/slides/slide6.xml" Id="R26e405b247624f63" /><Relationship Type="http://schemas.openxmlformats.org/officeDocument/2006/relationships/slide" Target="/ppt/slides/slide7.xml" Id="Rb8e083284b32456e" /><Relationship Type="http://schemas.openxmlformats.org/officeDocument/2006/relationships/slide" Target="/ppt/slides/slide8.xml" Id="R77ed92c254ba4835" /><Relationship Type="http://schemas.openxmlformats.org/officeDocument/2006/relationships/slide" Target="/ppt/slides/slide9.xml" Id="Rc2785ff173af4df7" /><Relationship Type="http://schemas.openxmlformats.org/officeDocument/2006/relationships/slide" Target="/ppt/slides/slide10.xml" Id="R83df7a47ccca4bb9" /><Relationship Type="http://schemas.openxmlformats.org/officeDocument/2006/relationships/slide" Target="/ppt/slides/slide11.xml" Id="Re8ac42630666419f" /><Relationship Type="http://schemas.openxmlformats.org/officeDocument/2006/relationships/slide" Target="/ppt/slides/slide12.xml" Id="R40bc58730d8045f4" /><Relationship Type="http://schemas.openxmlformats.org/officeDocument/2006/relationships/slide" Target="/ppt/slides/slide13.xml" Id="R35f26a1be6a54d9e" /><Relationship Type="http://schemas.openxmlformats.org/officeDocument/2006/relationships/slide" Target="/ppt/slides/slide14.xml" Id="R9bc98dfefbcd48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8ceb374ad046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5a31e5b0a8e450d" /><Relationship Type="http://schemas.openxmlformats.org/officeDocument/2006/relationships/notesMaster" Target="/ppt/notesMasters/notesMaster1.xml" Id="Ra7d697e0ed0e44d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8ddb61526844a2" /><Relationship Type="http://schemas.openxmlformats.org/officeDocument/2006/relationships/notesMaster" Target="/ppt/notesMasters/notesMaster1.xml" Id="R09de2bfdb24a45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b5b976b2a94ee5" /><Relationship Type="http://schemas.openxmlformats.org/officeDocument/2006/relationships/notesMaster" Target="/ppt/notesMasters/notesMaster1.xml" Id="R2923b2c9b8d240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f018df50de4292" /><Relationship Type="http://schemas.openxmlformats.org/officeDocument/2006/relationships/notesMaster" Target="/ppt/notesMasters/notesMaster1.xml" Id="Rf0738b38ed2444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36447db55e4ee4" /><Relationship Type="http://schemas.openxmlformats.org/officeDocument/2006/relationships/notesMaster" Target="/ppt/notesMasters/notesMaster1.xml" Id="R5ab63239a77f4b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316673d71f42a5" /><Relationship Type="http://schemas.openxmlformats.org/officeDocument/2006/relationships/notesMaster" Target="/ppt/notesMasters/notesMaster1.xml" Id="Rb03dfcdd456640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f7cdc35b6b47ba" /><Relationship Type="http://schemas.openxmlformats.org/officeDocument/2006/relationships/notesMaster" Target="/ppt/notesMasters/notesMaster1.xml" Id="Rb2dc98bb578046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cb23b317554b12" /><Relationship Type="http://schemas.openxmlformats.org/officeDocument/2006/relationships/notesMaster" Target="/ppt/notesMasters/notesMaster1.xml" Id="R8cf056ff525d4be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dad1949625d4737" /><Relationship Type="http://schemas.openxmlformats.org/officeDocument/2006/relationships/notesMaster" Target="/ppt/notesMasters/notesMaster1.xml" Id="R0ae93136a10641a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7b05b978d84ecd" /><Relationship Type="http://schemas.openxmlformats.org/officeDocument/2006/relationships/notesMaster" Target="/ppt/notesMasters/notesMaster1.xml" Id="R6df028433045401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4bea18d361949c1" /><Relationship Type="http://schemas.openxmlformats.org/officeDocument/2006/relationships/notesMaster" Target="/ppt/notesMasters/notesMaster1.xml" Id="R4ab8df81bfc746d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4fd5da9d2ba4d8b" /><Relationship Type="http://schemas.openxmlformats.org/officeDocument/2006/relationships/notesMaster" Target="/ppt/notesMasters/notesMaster1.xml" Id="R009a0f73c5074f2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4986893a64476b" /><Relationship Type="http://schemas.openxmlformats.org/officeDocument/2006/relationships/notesMaster" Target="/ppt/notesMasters/notesMaster1.xml" Id="R6fab8e10ad46456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66eb443d11c413b" /><Relationship Type="http://schemas.openxmlformats.org/officeDocument/2006/relationships/notesMaster" Target="/ppt/notesMasters/notesMaster1.xml" Id="R8527e34b2cc24e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Construiremos AulaPedidos paso a paso. El objetivo es desarrollar con ayuda de Copilot y conservar el criterio para revisar lo que propone. Son 40 horas efectivas, en diez clases de cuatro horas. Los descansos quedan fuera de esas horas.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Ilustración conceptual generada con IA para este curso.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Una API permite que otros programas pidan información o realicen operaciones. AulaPedidos ofrece un catálogo de productos y permite crear, consultar o cancelar pedidos según los permisos. La aplicación es el ejemplo común de todo el curso. La IA ayuda a desarrollar el proyecto. El proyecto no incluye un chatbot ni una función de IA para el usuario final.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Cada clase combina una demostración corta con práctica. Trabajaremos en parejas, alternando quién conduce y quién revisa. Pediremos a Copilot cambios pequeños, leeremos el resultado y lo comprobaremos con pruebas. Las decisiones quedan en una bitácora. Usamos datos sintéticos y evitamos compartir secretos.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 harness como el conjunto de instrucciones, contexto, herramientas y verificaciones que orienta al asistente. Configuraremos instrucciones del repositorio, prompts y agentes. El alumno debe entender qué acepta y por qué. Incluye uso responsable de datos y revisión humana.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https://github.com/ychavez/CursoNETIA/blob/main/instructor/clases/01-ia-harness.md</a:t>
            </a:r>
          </a:p>
          <a:p xmlns:a="http://schemas.openxmlformats.org/drawingml/2006/main">
            <a:br/>
            <a:br/>
            <a:r>
              <a:t>Ejemplo para explicar: si pedimos crear un endpoint sin indicar las capas, Copilot puede mezclar reglas del negocio con HTTP. Las instrucciones del repositorio orientan dónde colocar cada parte y las pruebas ayudan a comprobar el resultado.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 las cuatro capas: Domain, Application, Infrastructure y Api. El dominio contiene reglas del negocio y conserva su independencia de HTTP y de la base de datos. Usaremos inyección de dependencias y aplicaremos SOLID con ejemplos concretos. El alumno documentará una decisión de arquitectura.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https://github.com/ychavez/CursoNETIA/blob/main/instructor/clases/02-arquitectura.md</a:t>
            </a:r>
          </a:p>
          <a:p xmlns:a="http://schemas.openxmlformats.org/drawingml/2006/main">
            <a:br/>
            <a:br/>
            <a:r>
              <a:t>Ejemplo para explicar: la regla que impide crear un pedido vacío pertenece al dominio. Conservamos esa regla al usar SQLite o SQL Server. La infraestructura implementa el acceso a cada motor.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 Repository, CQRS, Mediator, Result y eventos del dominio. IRepository&lt;T&gt; concentra operaciones comunes para raíces de agregado. Los repositorios especializados conservan las consultas del negocio e IUnitOfWork guarda los cambios. No se agrega borrado físico genérico. Muestra también docs/repositorio-generico.md cuando el grupo implemente el contrato.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https://github.com/ychavez/CursoNETIA/blob/main/instructor/clases/03-patrones.md</a:t>
            </a:r>
          </a:p>
          <a:p xmlns:a="http://schemas.openxmlformats.org/drawingml/2006/main">
            <a:br/>
            <a:br/>
            <a:r>
              <a:t>Ejemplo para explicar: el caso de uso solicita un producto mediante un contrato. La implementación de EF Core lo busca en la base. IRepository&lt;T&gt; reúne operaciones comunes e IUnitOfWork confirma los cambios. Las consultas específicas permanecen en contratos especializados.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 REST y los contratos de entrada y salida. Implementaremos endpoints para catálogo y pedidos, validación, códigos HTTP, ProblemDetails, versión de API y documentación OpenAPI. Los errores deben comunicar qué pasó sin revelar detalles internos.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https://github.com/ychavez/CursoNETIA/blob/main/instructor/clases/04-api.md</a:t>
            </a:r>
          </a:p>
          <a:p xmlns:a="http://schemas.openxmlformats.org/drawingml/2006/main">
            <a:br/>
            <a:br/>
            <a:r>
              <a:t>Ejemplo para explicar: al crear un pedido, el cliente envía productos y cantidades. El contrato define los datos requeridos y la respuesta esperada. Si una entrada es inválida, la API devuelve un error comprensible y consistente.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EF Core traduce operaciones del modelo a la base de datos. Trabajaremos relaciones, migraciones, auditoría, borrado lógico, concurrencia y consultas eficientes. La ruta inicial utiliza SQLite. El curso incluye SQL Server mediante contenedores y migraciones para ambos proveedores.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https://github.com/ychavez/CursoNETIA/blob/main/instructor/clases/05-datos.md</a:t>
            </a:r>
          </a:p>
          <a:p xmlns:a="http://schemas.openxmlformats.org/drawingml/2006/main">
            <a:br/>
            <a:br/>
            <a:r>
              <a:t>Ejemplo para explicar: una relación asocia un pedido con sus líneas. Al cambiar el modelo, una migración registra cómo evoluciona la estructura. Revisamos las consultas y los cambios simultáneos para proteger la consistencia de los datos.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Distingue autenticación de autorización. Veremos roles, permisos y autorización por recurso: tener un token no permite consultar cualquier pedido. Incluye riesgos OWASP relevantes. Los JWT del laboratorio son temporales y se generan localmente. La etapa productiva requiere un proveedor de identidad real.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https://github.com/ychavez/CursoNETIA/blob/main/instructor/clases/06-seguridad.md</a:t>
            </a:r>
          </a:p>
          <a:p xmlns:a="http://schemas.openxmlformats.org/drawingml/2006/main">
            <a:br/>
            <a:br/>
            <a:r>
              <a:t>Ejemplo para explicar: dos usuarios pueden tener un JWT válido, pero no deben poder consultar los pedidos del otro. Probaremos el acceso por propietario y los permisos exigidos por cada operación, incluidos los rechazos esperados.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Comprobaremos comportamientos del dominio y flujos completos de la API. Usaremos mocks donde aporten aislamiento, revisaremos cobertura y escribiremos regresiones para errores encontrados. Copilot puede proponer pruebas y refactorizaciones, pero debemos verificar que las pruebas detecten fallos reales.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https://github.com/ychavez/CursoNETIA/blob/main/instructor/clases/07-calidad.md</a:t>
            </a:r>
          </a:p>
          <a:p xmlns:a="http://schemas.openxmlformats.org/drawingml/2006/main">
            <a:br/>
            <a:br/>
            <a:r>
              <a:t>Ejemplo para explicar: una prueba de dominio comprueba que un pedido vacío se rechaza. Otra prueba atraviesa la API y verifica la respuesta HTTP. Antes de aceptar una refactorización de Copilot, ejecutamos las pruebas y revisamos qué comportamientos cubren.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 Adapter, Outbox, Retry, Circuit Breaker y Cache Aside a partir de fallos concretos. La outbox conserva notificaciones pendientes y permite reenviarlas. La entrega es al menos una vez y el receptor deduplica eventos. No promete entrega exactamente una vez. Veremos también las limitaciones de la caché local.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https://github.com/ychavez/CursoNETIA/blob/main/instructor/clases/08-resiliencia.md</a:t>
            </a:r>
          </a:p>
          <a:p xmlns:a="http://schemas.openxmlformats.org/drawingml/2006/main">
            <a:br/>
            <a:br/>
            <a:r>
              <a:t>Ejemplo para explicar: el pedido y su aviso pendiente se guardan juntos. Si el receptor no responde, el worker puede volver a enviar el aviso. Como puede haber reenvíos, el receptor reconoce el identificador del evento para evitar procesarlo dos veces.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Docker Compose levanta SQL Server, el proceso de migraciones, la API, el receptor de notificaciones y el dashboard de Aspire. Observaremos registros, métricas, trazas y comprobaciones de salud. La práctica se ejecuta localmente. El curso no exige una cuenta de Azure o AWS ni despliega servicios en la nube.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https://github.com/ychavez/CursoNETIA/blob/main/instructor/clases/09-operacion.md</a:t>
            </a:r>
          </a:p>
          <a:p xmlns:a="http://schemas.openxmlformats.org/drawingml/2006/main">
            <a:br/>
            <a:br/>
            <a:r>
              <a:t>Ejemplo para explicar: levantamos la API, la base y el receptor con Docker Compose en la computadora del alumno. Seguimos una petición con trazas y registros para localizar una demora. El laboratorio es local y no necesita Azure ni AWS.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alumno integra un cambio, ejecuta pruebas y presenta evidencia del funcionamiento. Revisaremos seguridad, documentación y bitácora de IA. Prepararemos un plan para producción con sus pendientes reales. La entrega demuestra aprendizaje dentro del alcance docente y no certifica una solución lista para producción.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https://github.com/ychavez/CursoNETIA/blob/main/instructor/clases/10-entrega.md</a:t>
            </a:r>
          </a:p>
          <a:p xmlns:a="http://schemas.openxmlformats.org/drawingml/2006/main">
            <a:br/>
            <a:br/>
            <a:r>
              <a:t>Ejemplo para explicar: el desafío final recorre el contrato de la API, el caso de uso, la persistencia y las pruebas. El participante demuestra el cambio, explica una decisión y distingue lo que ya verificó de lo que aún debe preparar para producción.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entrega incluye repositorio ejecutable, configuración de Copilot, pruebas, documentación y demostración. Cada participante explica una decisión de arquitectura y una propuesta de IA que revisó o rechazó con razones. El repositorio enlazado contiene la solución de referencia y los materiales del curso.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Ilustración conceptual generada con IA para este curso.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https://github.com/ychavez/CursoNETIA/blob/main/instructor/evaluacion.md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ab24e2d1934f1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a383acb5044d7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a7aa5322b54ad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bbaa3cd4ec4c6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707cd63b0847d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c42f998df444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FDCCE37-A8B5-4D9B-A2ED-B97263D2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50600FC-3480-490F-A98C-191D0CE8B7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62002FB-5C81-4213-B098-7DDF3C5058B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9FEE767-66DF-4991-B352-33727F9B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7A4DEE1-C177-45CF-BC48-F9A7B7130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9B32865-C68D-467E-A9BB-7D6FCD73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E5E2E0E-C50A-4C9A-9215-17D202F115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56BEC02-24B4-4389-A4A3-89F4881E60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5B69FF6-66E1-4CEC-972C-505AC569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4B8400A-B8BD-47B9-B452-C48A6DF835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7D83308-2DDB-4B8B-9F88-B473E64F8B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40D4A9C-812A-4BE8-AED4-AE236204110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ABBFEA1-8408-40A7-ABFB-A8F74A05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9A576E2-4053-40D6-A9D7-C7EAB8C2EA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7CAB85C-65C1-4900-8183-B5999A38E8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7d7980e73d49ed" /><Relationship Type="http://schemas.openxmlformats.org/officeDocument/2006/relationships/slideLayout" Target="/ppt/slideLayouts/slideLayout1.xml" Id="R256f94a42a124705" /><Relationship Type="http://schemas.openxmlformats.org/officeDocument/2006/relationships/slideLayout" Target="/ppt/slideLayouts/slideLayout2.xml" Id="R986c21bd6457487d" /><Relationship Type="http://schemas.openxmlformats.org/officeDocument/2006/relationships/slideLayout" Target="/ppt/slideLayouts/slideLayout3.xml" Id="Re98ed80dff254d64" /><Relationship Type="http://schemas.openxmlformats.org/officeDocument/2006/relationships/slideLayout" Target="/ppt/slideLayouts/slideLayout4.xml" Id="R38b2178ca3a74e77" /><Relationship Type="http://schemas.openxmlformats.org/officeDocument/2006/relationships/slideLayout" Target="/ppt/slideLayouts/slideLayout5.xml" Id="R29ed1c1b489c4a86" /><Relationship Type="http://schemas.openxmlformats.org/officeDocument/2006/relationships/slideLayout" Target="/ppt/slideLayouts/slideLayout6.xml" Id="Rd3eb627d8b1643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6f94a42a124705"/>
    <p:sldLayoutId xmlns:r="http://schemas.openxmlformats.org/officeDocument/2006/relationships" id="2147483650" r:id="R986c21bd6457487d"/>
    <p:sldLayoutId xmlns:r="http://schemas.openxmlformats.org/officeDocument/2006/relationships" id="2147483651" r:id="Re98ed80dff254d64"/>
    <p:sldLayoutId xmlns:r="http://schemas.openxmlformats.org/officeDocument/2006/relationships" id="2147483652" r:id="R38b2178ca3a74e77"/>
    <p:sldLayoutId xmlns:r="http://schemas.openxmlformats.org/officeDocument/2006/relationships" id="2147483653" r:id="R29ed1c1b489c4a86"/>
    <p:sldLayoutId xmlns:r="http://schemas.openxmlformats.org/officeDocument/2006/relationships" id="2147483654" r:id="Rd3eb627d8b1643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7cf2058bce4c37" /><Relationship Type="http://schemas.openxmlformats.org/officeDocument/2006/relationships/image" Target="/ppt/media/image.png" Id="Rea98c2d2b0b6443e" /><Relationship Type="http://schemas.openxmlformats.org/officeDocument/2006/relationships/notesSlide" Target="/ppt/notesSlides/notesSlide1.xml" Id="R9d918c556ce841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cbe8e4529d40b1" /><Relationship Type="http://schemas.openxmlformats.org/officeDocument/2006/relationships/notesSlide" Target="/ppt/notesSlides/notesSlide2.xml" Id="Ra6273d2e7aed48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d0f940d8c447a5" /><Relationship Type="http://schemas.openxmlformats.org/officeDocument/2006/relationships/notesSlide" Target="/ppt/notesSlides/notesSlide3.xml" Id="R8440566d8f914d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e05006cafc4b0f" /><Relationship Type="http://schemas.openxmlformats.org/officeDocument/2006/relationships/notesSlide" Target="/ppt/notesSlides/notesSlide4.xml" Id="Rb9693c379a8a45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1844f4032d4686" /><Relationship Type="http://schemas.openxmlformats.org/officeDocument/2006/relationships/notesSlide" Target="/ppt/notesSlides/notesSlide5.xml" Id="Rffc321b61d7340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e727c95a4748ff" /><Relationship Type="http://schemas.openxmlformats.org/officeDocument/2006/relationships/notesSlide" Target="/ppt/notesSlides/notesSlide6.xml" Id="Redebe56004364d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d6d33334184889" /><Relationship Type="http://schemas.openxmlformats.org/officeDocument/2006/relationships/notesSlide" Target="/ppt/notesSlides/notesSlide7.xml" Id="Re701473887a64a4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106cc740854e50" /><Relationship Type="http://schemas.openxmlformats.org/officeDocument/2006/relationships/notesSlide" Target="/ppt/notesSlides/notesSlide8.xml" Id="R50132f8b5e124a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7573a4b1a545e1" /><Relationship Type="http://schemas.openxmlformats.org/officeDocument/2006/relationships/notesSlide" Target="/ppt/notesSlides/notesSlide9.xml" Id="Rce69986b23184b7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ea63575a354de8" /><Relationship Type="http://schemas.openxmlformats.org/officeDocument/2006/relationships/notesSlide" Target="/ppt/notesSlides/notesSlide10.xml" Id="R1721ca618da44e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a4fdde3c3b41a7" /><Relationship Type="http://schemas.openxmlformats.org/officeDocument/2006/relationships/notesSlide" Target="/ppt/notesSlides/notesSlide11.xml" Id="R84a7d38cad1f49c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2c196225a64044" /><Relationship Type="http://schemas.openxmlformats.org/officeDocument/2006/relationships/notesSlide" Target="/ppt/notesSlides/notesSlide12.xml" Id="R0d3ceb6aec5c44e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cfbe3b7a3f4dac" /><Relationship Type="http://schemas.openxmlformats.org/officeDocument/2006/relationships/notesSlide" Target="/ppt/notesSlides/notesSlide13.xml" Id="Re5c58ec5afa1457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cf9abf78064761" /><Relationship Type="http://schemas.openxmlformats.org/officeDocument/2006/relationships/image" Target="/ppt/media/image2.png" Id="R495f4baf13ac4bd3" /><Relationship Type="http://schemas.openxmlformats.org/officeDocument/2006/relationships/hyperlink" Target="https://github.com/ychavez/CursoNETIA" TargetMode="External" Id="R43c96bf8eb614e99" /><Relationship Type="http://schemas.openxmlformats.org/officeDocument/2006/relationships/notesSlide" Target="/ppt/notesSlides/notesSlide14.xml" Id="Reb1840a81a4643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8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8c2d2b0b6443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urse title">
            <a:extLst xmlns:a="http://schemas.openxmlformats.org/drawingml/2006/main">
              <a:ext uri="{FF2B5EF4-FFF2-40B4-BE49-F238E27FC236}">
                <a16:creationId xmlns:a16="http://schemas.microsoft.com/office/drawing/2014/main" id="{43BA4371-724D-4942-B59E-EC7AEA31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6905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.NET con IA</a:t>
            </a:r>
          </a:p>
        </p:txBody>
      </p:sp>
      <p:sp>
        <p:nvSpPr>
          <p:cNvPr id="3" name="Course subtitle">
            <a:extLst xmlns:a="http://schemas.openxmlformats.org/drawingml/2006/main">
              <a:ext uri="{FF2B5EF4-FFF2-40B4-BE49-F238E27FC236}">
                <a16:creationId xmlns:a16="http://schemas.microsoft.com/office/drawing/2014/main" id="{2FA0FA8A-1BD2-4806-946D-9302BAF0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48000"/>
            <a:ext cx="6715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Desarrollo con GitHub Copilot</a:t>
            </a:r>
          </a:p>
        </p:txBody>
      </p:sp>
      <p:sp>
        <p:nvSpPr>
          <p:cNvPr id="4" name="Course duration">
            <a:extLst xmlns:a="http://schemas.openxmlformats.org/drawingml/2006/main">
              <a:ext uri="{FF2B5EF4-FFF2-40B4-BE49-F238E27FC236}">
                <a16:creationId xmlns:a16="http://schemas.microsoft.com/office/drawing/2014/main" id="{F892741F-47EA-4FC4-B664-C6B8CD0B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0125"/>
            <a:ext cx="619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A7E2D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A7E2D7"/>
                </a:solidFill>
                <a:latin typeface="Arial"/>
                <a:ea typeface="Arial"/>
                <a:cs typeface="Arial"/>
              </a:rPr>
              <a:t>40 horas</a:t>
            </a:r>
          </a:p>
          <a:p xmlns:a="http://schemas.openxmlformats.org/drawingml/2006/main">
            <a:pPr>
              <a:buNone/>
              <a:defRPr sz="2250" b="0">
                <a:solidFill>
                  <a:srgbClr val="A7E2D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A7E2D7"/>
                </a:solidFill>
                <a:latin typeface="Arial"/>
                <a:ea typeface="Arial"/>
                <a:cs typeface="Arial"/>
              </a:rPr>
              <a:t>10 clases prácticas</a:t>
            </a:r>
          </a:p>
        </p:txBody>
      </p:sp>
    </p:spTree>
    <p:extLst>
      <p:ext uri="{BB962C8B-B14F-4D97-AF65-F5344CB8AC3E}">
        <p14:creationId xmlns:p14="http://schemas.microsoft.com/office/powerpoint/2010/main" val="16231106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Project title">
            <a:extLst xmlns:a="http://schemas.openxmlformats.org/drawingml/2006/main">
              <a:ext uri="{FF2B5EF4-FFF2-40B4-BE49-F238E27FC236}">
                <a16:creationId xmlns:a16="http://schemas.microsoft.com/office/drawing/2014/main" id="{A67D5387-9063-4A25-9821-C71FC682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AulaPedidos</a:t>
            </a:r>
          </a:p>
        </p:txBody>
      </p:sp>
      <p:sp>
        <p:nvSpPr>
          <p:cNvPr id="2" name="Project description">
            <a:extLst xmlns:a="http://schemas.openxmlformats.org/drawingml/2006/main">
              <a:ext uri="{FF2B5EF4-FFF2-40B4-BE49-F238E27FC236}">
                <a16:creationId xmlns:a16="http://schemas.microsoft.com/office/drawing/2014/main" id="{CF497C1C-85CA-46FC-932B-A58D18AD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066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12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Una API para gestionar</a:t>
            </a:r>
          </a:p>
          <a:p xmlns:a="http://schemas.openxmlformats.org/drawingml/2006/main">
            <a:pPr>
              <a:buNone/>
              <a:defRPr sz="412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productos y pedidos.</a:t>
            </a:r>
          </a:p>
        </p:txBody>
      </p:sp>
      <p:sp>
        <p:nvSpPr>
          <p:cNvPr id="3" name="Project capabilities">
            <a:extLst xmlns:a="http://schemas.openxmlformats.org/drawingml/2006/main">
              <a:ext uri="{FF2B5EF4-FFF2-40B4-BE49-F238E27FC236}">
                <a16:creationId xmlns:a16="http://schemas.microsoft.com/office/drawing/2014/main" id="{810C7F32-23B7-4554-8F82-21F647F1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9585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Con permisos, datos persistentes</a:t>
            </a:r>
          </a:p>
          <a:p xmlns:a="http://schemas.openxmlformats.org/drawingml/2006/main">
            <a:pPr>
              <a:buNone/>
              <a:defRPr sz="2400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y notificaciones.</a:t>
            </a:r>
          </a:p>
        </p:txBody>
      </p:sp>
    </p:spTree>
    <p:extLst>
      <p:ext uri="{BB962C8B-B14F-4D97-AF65-F5344CB8AC3E}">
        <p14:creationId xmlns:p14="http://schemas.microsoft.com/office/powerpoint/2010/main" val="2877386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18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Learning title">
            <a:extLst xmlns:a="http://schemas.openxmlformats.org/drawingml/2006/main">
              <a:ext uri="{FF2B5EF4-FFF2-40B4-BE49-F238E27FC236}">
                <a16:creationId xmlns:a16="http://schemas.microsoft.com/office/drawing/2014/main" id="{FEA93AC5-2969-4FA8-B475-0E875D45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Cómo trabajaremos</a:t>
            </a:r>
          </a:p>
        </p:txBody>
      </p:sp>
      <p:sp>
        <p:nvSpPr>
          <p:cNvPr id="2" name="AI role">
            <a:extLst xmlns:a="http://schemas.openxmlformats.org/drawingml/2006/main">
              <a:ext uri="{FF2B5EF4-FFF2-40B4-BE49-F238E27FC236}">
                <a16:creationId xmlns:a16="http://schemas.microsoft.com/office/drawing/2014/main" id="{88F8262D-6D20-4E15-A221-9C01CE51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812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Copilot propone.</a:t>
            </a:r>
          </a:p>
        </p:txBody>
      </p:sp>
      <p:sp>
        <p:nvSpPr>
          <p:cNvPr id="3" name="Student role">
            <a:extLst xmlns:a="http://schemas.openxmlformats.org/drawingml/2006/main">
              <a:ext uri="{FF2B5EF4-FFF2-40B4-BE49-F238E27FC236}">
                <a16:creationId xmlns:a16="http://schemas.microsoft.com/office/drawing/2014/main" id="{6608528B-A5C3-4E38-A9C6-52B6F3F5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A7E2D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A7E2D7"/>
                </a:solidFill>
                <a:latin typeface="Arial"/>
                <a:ea typeface="Arial"/>
                <a:cs typeface="Arial"/>
              </a:rPr>
              <a:t>Tú revisas y decides.</a:t>
            </a:r>
          </a:p>
        </p:txBody>
      </p:sp>
      <p:sp>
        <p:nvSpPr>
          <p:cNvPr id="4" name="Practice method">
            <a:extLst xmlns:a="http://schemas.openxmlformats.org/drawingml/2006/main">
              <a:ext uri="{FF2B5EF4-FFF2-40B4-BE49-F238E27FC236}">
                <a16:creationId xmlns:a16="http://schemas.microsoft.com/office/drawing/2014/main" id="{6DC115E9-A120-4596-AF54-96BCDCB9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33975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Verás una demostración y practicarás en equipo.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Probarás tu solución y explicarás tus decisiones.</a:t>
            </a:r>
          </a:p>
        </p:txBody>
      </p:sp>
    </p:spTree>
    <p:extLst>
      <p:ext uri="{BB962C8B-B14F-4D97-AF65-F5344CB8AC3E}">
        <p14:creationId xmlns:p14="http://schemas.microsoft.com/office/powerpoint/2010/main" val="15816740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1634622E-9FE8-464E-ADBA-80F1392D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85E17A89-0CC8-4C69-8FE2-1B004133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4118A6EB-88B5-4E61-BDE4-E0BC55C1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Copilot y su contexto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DB71A511-F263-43D8-86C1-7341D80E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19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A6BC4726-A934-4119-8C10-2AD922D8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10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El harness: instrucciones y contexto</a:t>
            </a:r>
          </a:p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para guiar a la IA.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A3167BC9-ADA9-4B9F-897C-436F6E21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5143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A05EA7BE-AB96-45CC-9889-15108446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534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Configurar Copilot para el proyecto</a:t>
            </a:r>
          </a:p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comprobar sus propuestas.</a:t>
            </a:r>
          </a:p>
        </p:txBody>
      </p:sp>
      <p:sp>
        <p:nvSpPr>
          <p:cNvPr id="9" name="Module context">
            <a:extLst xmlns:a="http://schemas.openxmlformats.org/drawingml/2006/main">
              <a:ext uri="{FF2B5EF4-FFF2-40B4-BE49-F238E27FC236}">
                <a16:creationId xmlns:a16="http://schemas.microsoft.com/office/drawing/2014/main" id="{69799330-5E82-4C8B-A956-2338C955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90775"/>
            <a:ext cx="819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Copilot necesita conocer las reglas del proyecto.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Ese contexto ayuda a proponer cambios que podamos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revisar y comprobar.</a:t>
            </a:r>
          </a:p>
        </p:txBody>
      </p:sp>
    </p:spTree>
    <p:extLst>
      <p:ext uri="{BB962C8B-B14F-4D97-AF65-F5344CB8AC3E}">
        <p14:creationId xmlns:p14="http://schemas.microsoft.com/office/powerpoint/2010/main" val="10105251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DD29C8F4-D4F4-46DC-B770-B68986F9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CD38F558-5AA6-4311-9C57-EAB60FC8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797B655C-02C1-4FA7-9570-A7E5CC51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Arquitectura</a:t>
            </a:r>
          </a:p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por capas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838A77B3-9DBB-497C-A156-D80B5CE8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19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ED351AAF-C452-47FA-8A7A-44232C55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10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Clean Architecture y SOLID</a:t>
            </a:r>
          </a:p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para separar responsabilidades.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DED3C2AA-1A20-41DA-91AE-933ED073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5143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870FA262-B106-4237-8BD7-AA638421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534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Definir reglas de negocio</a:t>
            </a:r>
          </a:p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organizar las dependencias.</a:t>
            </a:r>
          </a:p>
        </p:txBody>
      </p:sp>
      <p:sp>
        <p:nvSpPr>
          <p:cNvPr id="9" name="Module context">
            <a:extLst xmlns:a="http://schemas.openxmlformats.org/drawingml/2006/main">
              <a:ext uri="{FF2B5EF4-FFF2-40B4-BE49-F238E27FC236}">
                <a16:creationId xmlns:a16="http://schemas.microsoft.com/office/drawing/2014/main" id="{F702F046-4E20-4413-AB42-B8E79BD0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90775"/>
            <a:ext cx="819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Cada capa tiene una responsabilidad. Cambiar la base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de datos no obliga a reescribir las reglas de pedidos.</a:t>
            </a:r>
          </a:p>
        </p:txBody>
      </p:sp>
    </p:spTree>
    <p:extLst>
      <p:ext uri="{BB962C8B-B14F-4D97-AF65-F5344CB8AC3E}">
        <p14:creationId xmlns:p14="http://schemas.microsoft.com/office/powerpoint/2010/main" val="15153875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6B5E4269-4AC6-4516-B88D-59315AEC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84374E56-A4AF-42A4-A56D-D24C1764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B0A38C35-1A67-42E7-9FAA-4DFA4FA7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Patrones</a:t>
            </a:r>
          </a:p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y repositorios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B4B0B9E3-D5C3-4B76-A647-83868434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19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801B3F05-114B-4BAE-89B8-C8171079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10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Cómo organizar consultas, cambios</a:t>
            </a:r>
          </a:p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acceso a datos.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11FB8215-06A0-4981-991A-C2BDE125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5143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388C8D6C-5317-4311-8F9E-7C29710A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534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Crear un repositorio reutilizable</a:t>
            </a:r>
          </a:p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con IRepository&lt;T&gt;.</a:t>
            </a:r>
          </a:p>
        </p:txBody>
      </p:sp>
      <p:sp>
        <p:nvSpPr>
          <p:cNvPr id="9" name="Module context">
            <a:extLst xmlns:a="http://schemas.openxmlformats.org/drawingml/2006/main">
              <a:ext uri="{FF2B5EF4-FFF2-40B4-BE49-F238E27FC236}">
                <a16:creationId xmlns:a16="http://schemas.microsoft.com/office/drawing/2014/main" id="{9B268182-1117-4128-B1FD-AA3C8606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90775"/>
            <a:ext cx="819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Los patrones resuelven problemas frecuentes.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Un repositorio permite trabajar con productos y pedidos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sin depender de cómo se guardan.</a:t>
            </a:r>
          </a:p>
        </p:txBody>
      </p:sp>
    </p:spTree>
    <p:extLst>
      <p:ext uri="{BB962C8B-B14F-4D97-AF65-F5344CB8AC3E}">
        <p14:creationId xmlns:p14="http://schemas.microsoft.com/office/powerpoint/2010/main" val="17466488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11475FDA-9604-47F5-8487-D569DB82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6AECE2BA-C9FB-4EBD-BD9D-3652EC3A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DBF0EBC2-9690-4C05-BD64-7FD4E356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API y contratos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28C032F3-CB01-458D-9BB3-C3B61A5E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19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8240C012-6631-479E-842D-0A4CC1CA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10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Peticiones y respuestas claras</a:t>
            </a:r>
          </a:p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entre aplicaciones.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ED8B7F65-8688-40F7-8A47-5A5F55C4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5143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737089ED-5143-40A7-BDB1-D7DD87BC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534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Crear rutas, validar entradas</a:t>
            </a:r>
          </a:p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documentar errores con OpenAPI.</a:t>
            </a:r>
          </a:p>
        </p:txBody>
      </p:sp>
      <p:sp>
        <p:nvSpPr>
          <p:cNvPr id="9" name="Module context">
            <a:extLst xmlns:a="http://schemas.openxmlformats.org/drawingml/2006/main">
              <a:ext uri="{FF2B5EF4-FFF2-40B4-BE49-F238E27FC236}">
                <a16:creationId xmlns:a16="http://schemas.microsoft.com/office/drawing/2014/main" id="{320223D1-B857-4632-B2C3-62984DA3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90775"/>
            <a:ext cx="819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La API es la puerta de entrada de la aplicación.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Define qué pueden solicitar otros sistemas y cómo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recibirán resultados o errores.</a:t>
            </a:r>
          </a:p>
        </p:txBody>
      </p:sp>
    </p:spTree>
    <p:extLst>
      <p:ext uri="{BB962C8B-B14F-4D97-AF65-F5344CB8AC3E}">
        <p14:creationId xmlns:p14="http://schemas.microsoft.com/office/powerpoint/2010/main" val="109067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099DEBAA-3FC9-4BC6-9F7D-003BBDC1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C6987BAA-2E72-4498-8C86-C0E6F812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96576AAE-DBCC-460D-86BE-A0200F41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Datos con EF Core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151439FE-A64C-47AD-846B-BB96243D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19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1B882379-1090-412A-BD58-E8ACD9D3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10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Cómo guardar datos y evolucionar</a:t>
            </a:r>
          </a:p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la base mediante migraciones.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2AE8AC63-71B8-48B5-9CEC-EC3937FC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5143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E21DA0C0-4399-4741-8659-670EED9F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534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Crear relaciones, optimizar consultas</a:t>
            </a:r>
          </a:p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registrar cambios.</a:t>
            </a:r>
          </a:p>
        </p:txBody>
      </p:sp>
      <p:sp>
        <p:nvSpPr>
          <p:cNvPr id="9" name="Module context">
            <a:extLst xmlns:a="http://schemas.openxmlformats.org/drawingml/2006/main">
              <a:ext uri="{FF2B5EF4-FFF2-40B4-BE49-F238E27FC236}">
                <a16:creationId xmlns:a16="http://schemas.microsoft.com/office/drawing/2014/main" id="{C7C1FA40-2050-4A2B-BAC7-A2513D23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90775"/>
            <a:ext cx="819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EF Core conecta el código con la base de datos.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Las migraciones permiten cambiar su estructura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de forma controlada.</a:t>
            </a:r>
          </a:p>
        </p:txBody>
      </p:sp>
    </p:spTree>
    <p:extLst>
      <p:ext uri="{BB962C8B-B14F-4D97-AF65-F5344CB8AC3E}">
        <p14:creationId xmlns:p14="http://schemas.microsoft.com/office/powerpoint/2010/main" val="2490549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41580874-D747-4C55-AFD8-FDEAF31A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88DF5405-B46E-4AE0-8554-E89F65C4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BE80DB4A-6237-452D-AA4B-CD2EA89D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Seguridad</a:t>
            </a:r>
          </a:p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y permisos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944D773D-DF45-4B07-A429-178679A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19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AA67A093-ED6F-4CFB-B7CD-46926AA1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10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Tokens JWT y reglas</a:t>
            </a:r>
          </a:p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para proteger el acceso.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CB579CF3-B3A4-45D2-8C06-7534F57C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5143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786E7889-3892-400D-8AE8-BB13D7F0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534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Controlar quién puede consultar</a:t>
            </a:r>
          </a:p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o modificar cada pedido.</a:t>
            </a:r>
          </a:p>
        </p:txBody>
      </p:sp>
      <p:sp>
        <p:nvSpPr>
          <p:cNvPr id="9" name="Module context">
            <a:extLst xmlns:a="http://schemas.openxmlformats.org/drawingml/2006/main">
              <a:ext uri="{FF2B5EF4-FFF2-40B4-BE49-F238E27FC236}">
                <a16:creationId xmlns:a16="http://schemas.microsoft.com/office/drawing/2014/main" id="{16A341A1-90D9-48A4-B3AA-6BE5443C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90775"/>
            <a:ext cx="819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La autenticación identifica al usuario. Los permisos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definen qué puede hacer. En AulaPedidos también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comprobamos a quién pertenece cada pedido.</a:t>
            </a:r>
          </a:p>
        </p:txBody>
      </p:sp>
    </p:spTree>
    <p:extLst>
      <p:ext uri="{BB962C8B-B14F-4D97-AF65-F5344CB8AC3E}">
        <p14:creationId xmlns:p14="http://schemas.microsoft.com/office/powerpoint/2010/main" val="18898252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8A6F5F96-85DC-49CC-A0F4-77EDF1AD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7F3518BC-EDD3-4DBD-B1C5-389F98DA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5569EB11-8F95-46E0-8954-82D1917B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Calidad y pruebas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097A2047-AED9-462B-85F5-8EDBB38C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19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156C5A05-814C-4C5B-A00B-63FA619F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10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Pruebas unitarias y de integración</a:t>
            </a:r>
          </a:p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para detectar errores.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2E4A0CF8-B1F9-4408-8CB9-7B62E6DD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5143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A396771D-6544-4E4D-BF75-54545929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534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Verificar reglas y API.</a:t>
            </a:r>
          </a:p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Mejorar código con pruebas que lo respalden.</a:t>
            </a:r>
          </a:p>
        </p:txBody>
      </p:sp>
      <p:sp>
        <p:nvSpPr>
          <p:cNvPr id="9" name="Module context">
            <a:extLst xmlns:a="http://schemas.openxmlformats.org/drawingml/2006/main">
              <a:ext uri="{FF2B5EF4-FFF2-40B4-BE49-F238E27FC236}">
                <a16:creationId xmlns:a16="http://schemas.microsoft.com/office/drawing/2014/main" id="{2ED2A792-6946-498C-B877-86F299CD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90775"/>
            <a:ext cx="819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Las pruebas comprueban el comportamiento esperado.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Al modificar código, ayudan a detectar si dañamos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una función que ya trabajaba correctamente.</a:t>
            </a:r>
          </a:p>
        </p:txBody>
      </p:sp>
    </p:spTree>
    <p:extLst>
      <p:ext uri="{BB962C8B-B14F-4D97-AF65-F5344CB8AC3E}">
        <p14:creationId xmlns:p14="http://schemas.microsoft.com/office/powerpoint/2010/main" val="11371068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DDAB6192-F167-444B-9045-9CD8A2C0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2CFDA9E2-954E-43C4-8D60-718D1E4C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52A92DF0-A0CF-4603-8366-BF9F8C1F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Respuesta</a:t>
            </a:r>
          </a:p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ante fallos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24866873-9C86-4F33-B021-63C12E0C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19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26E01DBE-778E-4FE2-A36A-1B52960A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10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Notificaciones pendientes con Outbox,</a:t>
            </a:r>
          </a:p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reintentos y caché.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4BA663B4-5439-4AAB-945F-B55BEC8C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5143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B11864E0-50BA-4B7B-B693-0AF95843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534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Simular fallos y comprobar</a:t>
            </a:r>
          </a:p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la recuperación del sistema.</a:t>
            </a:r>
          </a:p>
        </p:txBody>
      </p:sp>
      <p:sp>
        <p:nvSpPr>
          <p:cNvPr id="9" name="Module context">
            <a:extLst xmlns:a="http://schemas.openxmlformats.org/drawingml/2006/main">
              <a:ext uri="{FF2B5EF4-FFF2-40B4-BE49-F238E27FC236}">
                <a16:creationId xmlns:a16="http://schemas.microsoft.com/office/drawing/2014/main" id="{66439BBC-AB78-4B23-90E9-B0A87367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90775"/>
            <a:ext cx="819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Un servicio externo puede fallar. Guardar los avisos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pendientes permite reintentar una notificación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sin volver a crear el pedido.</a:t>
            </a:r>
          </a:p>
        </p:txBody>
      </p:sp>
    </p:spTree>
    <p:extLst>
      <p:ext uri="{BB962C8B-B14F-4D97-AF65-F5344CB8AC3E}">
        <p14:creationId xmlns:p14="http://schemas.microsoft.com/office/powerpoint/2010/main" val="9744665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2EB43BB5-5E01-46C8-8A17-23B4CAC7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0AE636C9-A8F3-4807-9493-CF4DE753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1DE34637-783D-4F67-AD50-9EFAFD5C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Docker</a:t>
            </a:r>
          </a:p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y diagnóstico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E6F4B20F-DB27-4901-B7DA-E2638CD0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19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D2ED3284-BA2B-4BF2-AC70-7B7F18AD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10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Docker para ejecutar servicios.</a:t>
            </a:r>
          </a:p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OpenTelemetry para observarlos.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E2969768-4316-447A-B242-F364DF5D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5143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66C0B28E-C69B-4B08-AC62-A753D55B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534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Levantar el sistema local y detectar</a:t>
            </a:r>
          </a:p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problemas con métricas y trazas.</a:t>
            </a:r>
          </a:p>
        </p:txBody>
      </p:sp>
      <p:sp>
        <p:nvSpPr>
          <p:cNvPr id="9" name="Module context">
            <a:extLst xmlns:a="http://schemas.openxmlformats.org/drawingml/2006/main">
              <a:ext uri="{FF2B5EF4-FFF2-40B4-BE49-F238E27FC236}">
                <a16:creationId xmlns:a16="http://schemas.microsoft.com/office/drawing/2014/main" id="{65E0378C-E562-45DA-B568-FA47CCE1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90775"/>
            <a:ext cx="819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Docker ayuda a ejecutar el mismo entorno en el equipo.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La telemetría muestra qué sucede en cada petición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para encontrar errores y demoras.</a:t>
            </a:r>
          </a:p>
        </p:txBody>
      </p:sp>
    </p:spTree>
    <p:extLst>
      <p:ext uri="{BB962C8B-B14F-4D97-AF65-F5344CB8AC3E}">
        <p14:creationId xmlns:p14="http://schemas.microsoft.com/office/powerpoint/2010/main" val="77922449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B5E2F4E8-EF29-4027-9FE8-AA119D64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4889EF75-BB5D-46F3-A9FA-49B7AFC2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buNone/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B824E76C-F928-45D9-B40B-3B78F049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Integración</a:t>
            </a:r>
          </a:p>
          <a:p xmlns:a="http://schemas.openxmlformats.org/drawingml/2006/main">
            <a:pPr>
              <a:buNone/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y entrega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F89574B7-B855-4B43-835C-8E454D3CF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19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FA7D994D-EE34-463A-A8E6-BC278593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10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Cómo revisar la solución completa</a:t>
            </a:r>
          </a:p>
          <a:p xmlns:a="http://schemas.openxmlformats.org/drawingml/2006/main">
            <a:pPr>
              <a:buNone/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preparar su siguiente etapa.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C5AC8392-52F4-4576-9B6F-DF523102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514350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88B4F69C-8D22-4185-A92F-016361B2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534025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Resolver el desafío final</a:t>
            </a:r>
          </a:p>
          <a:p xmlns:a="http://schemas.openxmlformats.org/drawingml/2006/main">
            <a:pPr>
              <a:buNone/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justificar tus decisiones.</a:t>
            </a:r>
          </a:p>
        </p:txBody>
      </p:sp>
      <p:sp>
        <p:nvSpPr>
          <p:cNvPr id="9" name="Module context">
            <a:extLst xmlns:a="http://schemas.openxmlformats.org/drawingml/2006/main">
              <a:ext uri="{FF2B5EF4-FFF2-40B4-BE49-F238E27FC236}">
                <a16:creationId xmlns:a16="http://schemas.microsoft.com/office/drawing/2014/main" id="{F932CE8D-F249-418E-B979-704F680B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90775"/>
            <a:ext cx="819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La entrega reúne lo aprendido en un cambio completo.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Demostrarás cómo funciona y explicarás sus decisiones,</a:t>
            </a:r>
          </a:p>
          <a:p xmlns:a="http://schemas.openxmlformats.org/drawingml/2006/main">
            <a:pPr>
              <a:defRPr sz="210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45516A"/>
                </a:solidFill>
                <a:latin typeface="Arial"/>
                <a:ea typeface="Arial"/>
                <a:cs typeface="Arial"/>
              </a:rPr>
              <a:t>la evidencia y los pendientes para producción.</a:t>
            </a:r>
          </a:p>
        </p:txBody>
      </p:sp>
    </p:spTree>
    <p:extLst>
      <p:ext uri="{BB962C8B-B14F-4D97-AF65-F5344CB8AC3E}">
        <p14:creationId xmlns:p14="http://schemas.microsoft.com/office/powerpoint/2010/main" val="84305953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18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5f4baf13ac4bd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Delivery title">
            <a:extLst xmlns:a="http://schemas.openxmlformats.org/drawingml/2006/main">
              <a:ext uri="{FF2B5EF4-FFF2-40B4-BE49-F238E27FC236}">
                <a16:creationId xmlns:a16="http://schemas.microsoft.com/office/drawing/2014/main" id="{C0F37B35-045C-4F90-AA5B-CB280D6C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52500"/>
            <a:ext cx="6905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 entrega final</a:t>
            </a:r>
          </a:p>
        </p:txBody>
      </p:sp>
      <p:sp>
        <p:nvSpPr>
          <p:cNvPr id="3" name="Delivery application">
            <a:extLst xmlns:a="http://schemas.openxmlformats.org/drawingml/2006/main">
              <a:ext uri="{FF2B5EF4-FFF2-40B4-BE49-F238E27FC236}">
                <a16:creationId xmlns:a16="http://schemas.microsoft.com/office/drawing/2014/main" id="{AC0F568E-6545-452D-A225-856D3F65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Aplicación funcionando.</a:t>
            </a:r>
          </a:p>
        </p:txBody>
      </p:sp>
      <p:sp>
        <p:nvSpPr>
          <p:cNvPr id="4" name="Delivery evidence">
            <a:extLst xmlns:a="http://schemas.openxmlformats.org/drawingml/2006/main">
              <a:ext uri="{FF2B5EF4-FFF2-40B4-BE49-F238E27FC236}">
                <a16:creationId xmlns:a16="http://schemas.microsoft.com/office/drawing/2014/main" id="{017A3F5D-E514-41F9-A5C5-A66BDF95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57575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Pruebas y documentación.</a:t>
            </a:r>
          </a:p>
        </p:txBody>
      </p:sp>
      <p:sp>
        <p:nvSpPr>
          <p:cNvPr id="5" name="Delivery understanding">
            <a:extLst xmlns:a="http://schemas.openxmlformats.org/drawingml/2006/main">
              <a:ext uri="{FF2B5EF4-FFF2-40B4-BE49-F238E27FC236}">
                <a16:creationId xmlns:a16="http://schemas.microsoft.com/office/drawing/2014/main" id="{7FA8C5BE-FB39-4E9F-A78C-5963A145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685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Decisiones que puedes explicar.</a:t>
            </a:r>
          </a:p>
        </p:txBody>
      </p:sp>
      <p:sp>
        <p:nvSpPr>
          <p:cNvPr id="6" name="Course repository">
            <a:extLst xmlns:a="http://schemas.openxmlformats.org/drawingml/2006/main">
              <a:ext uri="{FF2B5EF4-FFF2-40B4-BE49-F238E27FC236}">
                <a16:creationId xmlns:a16="http://schemas.microsoft.com/office/drawing/2014/main" id="{2F8774B0-8396-446E-AF31-1F4BE824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48350"/>
            <a:ext cx="681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7E2D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7E2D7"/>
                </a:solidFill>
                <a:latin typeface="Arial"/>
                <a:ea typeface="Arial"/>
                <a:cs typeface="Arial"/>
                <a:hlinkClick xmlns:r="http://schemas.openxmlformats.org/officeDocument/2006/relationships" r:id="R43c96bf8eb614e99"/>
              </a:rPr>
              <a:t>github.com/ychavez/CursoNETIA</a:t>
            </a:r>
          </a:p>
        </p:txBody>
      </p:sp>
    </p:spTree>
    <p:extLst>
      <p:ext uri="{BB962C8B-B14F-4D97-AF65-F5344CB8AC3E}">
        <p14:creationId xmlns:p14="http://schemas.microsoft.com/office/powerpoint/2010/main" val="14348117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2026-09-29T15:29:14.2430000Z</dcterms:created>
  <dcterms:modified xsi:type="dcterms:W3CDTF">2026-09-29T15:29:14.2430000Z</dcterms:modified>
</coreProperties>
</file>
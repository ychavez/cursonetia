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b9491e29654791" /><Relationship Type="http://schemas.openxmlformats.org/officeDocument/2006/relationships/extended-properties" Target="/docProps/app.xml" Id="Re8f7268c6f60458b" /><Relationship Type="http://schemas.openxmlformats.org/officeDocument/2006/relationships/officeDocument" Target="/ppt/presentation.xml" Id="R347431a9421b4b36" /></Relationships>
</file>

<file path=ppt/presentation.xml><?xml version="1.0" encoding="utf-8"?>
<p:presentation xmlns:p="http://schemas.openxmlformats.org/presentationml/2006/main">
  <p:sldMasterIdLst>
    <p:sldMasterId xmlns:r="http://schemas.openxmlformats.org/officeDocument/2006/relationships" id="2147483648" r:id="R66159b1996f644b6"/>
  </p:sldMasterIdLst>
  <p:notesMasterIdLst>
    <p:notesMasterId xmlns:r="http://schemas.openxmlformats.org/officeDocument/2006/relationships" r:id="R76a2bea97f714637"/>
  </p:notesMasterIdLst>
  <p:sldIdLst>
    <p:sldId xmlns:r="http://schemas.openxmlformats.org/officeDocument/2006/relationships" id="256" r:id="R51c9ff6597f24c9f"/>
    <p:sldId xmlns:r="http://schemas.openxmlformats.org/officeDocument/2006/relationships" id="257" r:id="R082d30a913074626"/>
    <p:sldId xmlns:r="http://schemas.openxmlformats.org/officeDocument/2006/relationships" id="258" r:id="R19cbdd2cdb14456f"/>
    <p:sldId xmlns:r="http://schemas.openxmlformats.org/officeDocument/2006/relationships" id="259" r:id="Re25dddf27c284425"/>
    <p:sldId xmlns:r="http://schemas.openxmlformats.org/officeDocument/2006/relationships" id="260" r:id="R0b5b29a604a7464d"/>
    <p:sldId xmlns:r="http://schemas.openxmlformats.org/officeDocument/2006/relationships" id="261" r:id="R9281f1e7125645ff"/>
    <p:sldId xmlns:r="http://schemas.openxmlformats.org/officeDocument/2006/relationships" id="262" r:id="R757724b7db954357"/>
    <p:sldId xmlns:r="http://schemas.openxmlformats.org/officeDocument/2006/relationships" id="263" r:id="R58948ab3dd274d23"/>
    <p:sldId xmlns:r="http://schemas.openxmlformats.org/officeDocument/2006/relationships" id="264" r:id="R370833e85b004157"/>
    <p:sldId xmlns:r="http://schemas.openxmlformats.org/officeDocument/2006/relationships" id="265" r:id="R285b185d19674d42"/>
    <p:sldId xmlns:r="http://schemas.openxmlformats.org/officeDocument/2006/relationships" id="266" r:id="R616f08a9e54d43df"/>
    <p:sldId xmlns:r="http://schemas.openxmlformats.org/officeDocument/2006/relationships" id="267" r:id="Re93ae8679caa43d0"/>
    <p:sldId xmlns:r="http://schemas.openxmlformats.org/officeDocument/2006/relationships" id="268" r:id="R4e275b7a7d2c4d82"/>
    <p:sldId xmlns:r="http://schemas.openxmlformats.org/officeDocument/2006/relationships" id="269" r:id="Rd75e070ec7c541c8"/>
    <p:sldId xmlns:r="http://schemas.openxmlformats.org/officeDocument/2006/relationships" id="270" r:id="Rd82fbc5e08774df3"/>
    <p:sldId xmlns:r="http://schemas.openxmlformats.org/officeDocument/2006/relationships" id="271" r:id="R07de7b1f4d5b45b0"/>
    <p:sldId xmlns:r="http://schemas.openxmlformats.org/officeDocument/2006/relationships" id="272" r:id="R4cdc282aaa384584"/>
    <p:sldId xmlns:r="http://schemas.openxmlformats.org/officeDocument/2006/relationships" id="273" r:id="R79c0e7b087a644aa"/>
    <p:sldId xmlns:r="http://schemas.openxmlformats.org/officeDocument/2006/relationships" id="274" r:id="R3473b777f24b4458"/>
    <p:sldId xmlns:r="http://schemas.openxmlformats.org/officeDocument/2006/relationships" id="275" r:id="R7238d1ca8efc4be0"/>
    <p:sldId xmlns:r="http://schemas.openxmlformats.org/officeDocument/2006/relationships" id="276" r:id="Rd370521cb16942a1"/>
    <p:sldId xmlns:r="http://schemas.openxmlformats.org/officeDocument/2006/relationships" id="277" r:id="R06364481b0544a32"/>
    <p:sldId xmlns:r="http://schemas.openxmlformats.org/officeDocument/2006/relationships" id="278" r:id="Rdf58047736484ae7"/>
    <p:sldId xmlns:r="http://schemas.openxmlformats.org/officeDocument/2006/relationships" id="279" r:id="R231b8b3508df4c9d"/>
    <p:sldId xmlns:r="http://schemas.openxmlformats.org/officeDocument/2006/relationships" id="280" r:id="R113bbdb28c964246"/>
    <p:sldId xmlns:r="http://schemas.openxmlformats.org/officeDocument/2006/relationships" id="281" r:id="R15d0b28a5b8d4826"/>
    <p:sldId xmlns:r="http://schemas.openxmlformats.org/officeDocument/2006/relationships" id="282" r:id="R3ecfe676ca6d4beb"/>
    <p:sldId xmlns:r="http://schemas.openxmlformats.org/officeDocument/2006/relationships" id="283" r:id="R745bb194afc14227"/>
    <p:sldId xmlns:r="http://schemas.openxmlformats.org/officeDocument/2006/relationships" id="284" r:id="R7c6ca63048634c43"/>
    <p:sldId xmlns:r="http://schemas.openxmlformats.org/officeDocument/2006/relationships" id="285" r:id="Rcdca1bf4983f4bde"/>
    <p:sldId xmlns:r="http://schemas.openxmlformats.org/officeDocument/2006/relationships" id="286" r:id="R8b6e05fc55c44d1c"/>
    <p:sldId xmlns:r="http://schemas.openxmlformats.org/officeDocument/2006/relationships" id="287" r:id="R28d0e669bf7b4cf7"/>
    <p:sldId xmlns:r="http://schemas.openxmlformats.org/officeDocument/2006/relationships" id="288" r:id="R4bda1d71eccc4d3c"/>
    <p:sldId xmlns:r="http://schemas.openxmlformats.org/officeDocument/2006/relationships" id="289" r:id="R27b6e63d00c947e3"/>
    <p:sldId xmlns:r="http://schemas.openxmlformats.org/officeDocument/2006/relationships" id="290" r:id="R90a2676a23b9490c"/>
    <p:sldId xmlns:r="http://schemas.openxmlformats.org/officeDocument/2006/relationships" id="291" r:id="R3274f85c241d42c5"/>
    <p:sldId xmlns:r="http://schemas.openxmlformats.org/officeDocument/2006/relationships" id="292" r:id="R5737a964f2cd422c"/>
    <p:sldId xmlns:r="http://schemas.openxmlformats.org/officeDocument/2006/relationships" id="293" r:id="R1f03e28e54014162"/>
    <p:sldId xmlns:r="http://schemas.openxmlformats.org/officeDocument/2006/relationships" id="294" r:id="R62992419f314469b"/>
    <p:sldId xmlns:r="http://schemas.openxmlformats.org/officeDocument/2006/relationships" id="295" r:id="R2fe503f3cf76469d"/>
    <p:sldId xmlns:r="http://schemas.openxmlformats.org/officeDocument/2006/relationships" id="296" r:id="R6d8ac2ffa4684bcd"/>
    <p:sldId xmlns:r="http://schemas.openxmlformats.org/officeDocument/2006/relationships" id="297" r:id="Rfed4110d3f1542ed"/>
    <p:sldId xmlns:r="http://schemas.openxmlformats.org/officeDocument/2006/relationships" id="298" r:id="R127ac8b2d68a4a37"/>
    <p:sldId xmlns:r="http://schemas.openxmlformats.org/officeDocument/2006/relationships" id="299" r:id="Reda46d5625f14b7a"/>
    <p:sldId xmlns:r="http://schemas.openxmlformats.org/officeDocument/2006/relationships" id="300" r:id="R5c641ee2a61b45ba"/>
    <p:sldId xmlns:r="http://schemas.openxmlformats.org/officeDocument/2006/relationships" id="301" r:id="R08c919806f994766"/>
    <p:sldId xmlns:r="http://schemas.openxmlformats.org/officeDocument/2006/relationships" id="302" r:id="R2c155d2f699a4999"/>
    <p:sldId xmlns:r="http://schemas.openxmlformats.org/officeDocument/2006/relationships" id="303" r:id="R33ce6b4550764ebe"/>
    <p:sldId xmlns:r="http://schemas.openxmlformats.org/officeDocument/2006/relationships" id="304" r:id="Ra49c653bca26489b"/>
    <p:sldId xmlns:r="http://schemas.openxmlformats.org/officeDocument/2006/relationships" id="305" r:id="R7ec9886576c54226"/>
    <p:sldId xmlns:r="http://schemas.openxmlformats.org/officeDocument/2006/relationships" id="306" r:id="R7f4b77ed41ca4a16"/>
    <p:sldId xmlns:r="http://schemas.openxmlformats.org/officeDocument/2006/relationships" id="307" r:id="R5b205f4172b848ef"/>
    <p:sldId xmlns:r="http://schemas.openxmlformats.org/officeDocument/2006/relationships" id="308" r:id="Rb11f14f822d84068"/>
    <p:sldId xmlns:r="http://schemas.openxmlformats.org/officeDocument/2006/relationships" id="309" r:id="Rb12f1ff39c6e44d4"/>
    <p:sldId xmlns:r="http://schemas.openxmlformats.org/officeDocument/2006/relationships" id="310" r:id="R1ac04977a8474d69"/>
    <p:sldId xmlns:r="http://schemas.openxmlformats.org/officeDocument/2006/relationships" id="311" r:id="Rccae200d20674635"/>
    <p:sldId xmlns:r="http://schemas.openxmlformats.org/officeDocument/2006/relationships" id="312" r:id="Ra75825b0c6ea4565"/>
    <p:sldId xmlns:r="http://schemas.openxmlformats.org/officeDocument/2006/relationships" id="313" r:id="R359a9dc5fcf445b1"/>
    <p:sldId xmlns:r="http://schemas.openxmlformats.org/officeDocument/2006/relationships" id="314" r:id="R50b6f5bdc491477b"/>
    <p:sldId xmlns:r="http://schemas.openxmlformats.org/officeDocument/2006/relationships" id="315" r:id="Rb4310ac2e18f4d22"/>
    <p:sldId xmlns:r="http://schemas.openxmlformats.org/officeDocument/2006/relationships" id="316" r:id="Rb80eb0b23ec14dd5"/>
    <p:sldId xmlns:r="http://schemas.openxmlformats.org/officeDocument/2006/relationships" id="317" r:id="R3fa509f0125640cd"/>
    <p:sldId xmlns:r="http://schemas.openxmlformats.org/officeDocument/2006/relationships" id="318" r:id="R45ee119ff72e424d"/>
    <p:sldId xmlns:r="http://schemas.openxmlformats.org/officeDocument/2006/relationships" id="319" r:id="R3c3f3486644642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4d59e1390f45b0" /><Relationship Type="http://schemas.openxmlformats.org/officeDocument/2006/relationships/slideMaster" Target="/ppt/slideMasters/slideMaster1.xml" Id="R66159b1996f644b6" /><Relationship Type="http://schemas.openxmlformats.org/officeDocument/2006/relationships/notesMaster" Target="/ppt/notesMasters/notesMaster1.xml" Id="R76a2bea97f714637" /><Relationship Type="http://schemas.openxmlformats.org/officeDocument/2006/relationships/presProps" Target="/ppt/presProps.xml" Id="R3ddb307a4e364396" /><Relationship Type="http://schemas.openxmlformats.org/officeDocument/2006/relationships/tableStyles" Target="/ppt/tableStyles.xml" Id="Re1d231a8dcb648ed" /><Relationship Type="http://schemas.openxmlformats.org/officeDocument/2006/relationships/slide" Target="/ppt/slides/slide1.xml" Id="R51c9ff6597f24c9f" /><Relationship Type="http://schemas.openxmlformats.org/officeDocument/2006/relationships/slide" Target="/ppt/slides/slide2.xml" Id="R082d30a913074626" /><Relationship Type="http://schemas.openxmlformats.org/officeDocument/2006/relationships/slide" Target="/ppt/slides/slide3.xml" Id="R19cbdd2cdb14456f" /><Relationship Type="http://schemas.openxmlformats.org/officeDocument/2006/relationships/slide" Target="/ppt/slides/slide4.xml" Id="Re25dddf27c284425" /><Relationship Type="http://schemas.openxmlformats.org/officeDocument/2006/relationships/slide" Target="/ppt/slides/slide5.xml" Id="R0b5b29a604a7464d" /><Relationship Type="http://schemas.openxmlformats.org/officeDocument/2006/relationships/slide" Target="/ppt/slides/slide6.xml" Id="R9281f1e7125645ff" /><Relationship Type="http://schemas.openxmlformats.org/officeDocument/2006/relationships/slide" Target="/ppt/slides/slide7.xml" Id="R757724b7db954357" /><Relationship Type="http://schemas.openxmlformats.org/officeDocument/2006/relationships/slide" Target="/ppt/slides/slide8.xml" Id="R58948ab3dd274d23" /><Relationship Type="http://schemas.openxmlformats.org/officeDocument/2006/relationships/slide" Target="/ppt/slides/slide9.xml" Id="R370833e85b004157" /><Relationship Type="http://schemas.openxmlformats.org/officeDocument/2006/relationships/slide" Target="/ppt/slides/slide10.xml" Id="R285b185d19674d42" /><Relationship Type="http://schemas.openxmlformats.org/officeDocument/2006/relationships/slide" Target="/ppt/slides/slide11.xml" Id="R616f08a9e54d43df" /><Relationship Type="http://schemas.openxmlformats.org/officeDocument/2006/relationships/slide" Target="/ppt/slides/slide12.xml" Id="Re93ae8679caa43d0" /><Relationship Type="http://schemas.openxmlformats.org/officeDocument/2006/relationships/slide" Target="/ppt/slides/slide13.xml" Id="R4e275b7a7d2c4d82" /><Relationship Type="http://schemas.openxmlformats.org/officeDocument/2006/relationships/slide" Target="/ppt/slides/slide14.xml" Id="Rd75e070ec7c541c8" /><Relationship Type="http://schemas.openxmlformats.org/officeDocument/2006/relationships/slide" Target="/ppt/slides/slide15.xml" Id="Rd82fbc5e08774df3" /><Relationship Type="http://schemas.openxmlformats.org/officeDocument/2006/relationships/slide" Target="/ppt/slides/slide16.xml" Id="R07de7b1f4d5b45b0" /><Relationship Type="http://schemas.openxmlformats.org/officeDocument/2006/relationships/slide" Target="/ppt/slides/slide17.xml" Id="R4cdc282aaa384584" /><Relationship Type="http://schemas.openxmlformats.org/officeDocument/2006/relationships/slide" Target="/ppt/slides/slide18.xml" Id="R79c0e7b087a644aa" /><Relationship Type="http://schemas.openxmlformats.org/officeDocument/2006/relationships/slide" Target="/ppt/slides/slide19.xml" Id="R3473b777f24b4458" /><Relationship Type="http://schemas.openxmlformats.org/officeDocument/2006/relationships/slide" Target="/ppt/slides/slide20.xml" Id="R7238d1ca8efc4be0" /><Relationship Type="http://schemas.openxmlformats.org/officeDocument/2006/relationships/slide" Target="/ppt/slides/slide21.xml" Id="Rd370521cb16942a1" /><Relationship Type="http://schemas.openxmlformats.org/officeDocument/2006/relationships/slide" Target="/ppt/slides/slide22.xml" Id="R06364481b0544a32" /><Relationship Type="http://schemas.openxmlformats.org/officeDocument/2006/relationships/slide" Target="/ppt/slides/slide23.xml" Id="Rdf58047736484ae7" /><Relationship Type="http://schemas.openxmlformats.org/officeDocument/2006/relationships/slide" Target="/ppt/slides/slide24.xml" Id="R231b8b3508df4c9d" /><Relationship Type="http://schemas.openxmlformats.org/officeDocument/2006/relationships/slide" Target="/ppt/slides/slide25.xml" Id="R113bbdb28c964246" /><Relationship Type="http://schemas.openxmlformats.org/officeDocument/2006/relationships/slide" Target="/ppt/slides/slide26.xml" Id="R15d0b28a5b8d4826" /><Relationship Type="http://schemas.openxmlformats.org/officeDocument/2006/relationships/slide" Target="/ppt/slides/slide27.xml" Id="R3ecfe676ca6d4beb" /><Relationship Type="http://schemas.openxmlformats.org/officeDocument/2006/relationships/slide" Target="/ppt/slides/slide28.xml" Id="R745bb194afc14227" /><Relationship Type="http://schemas.openxmlformats.org/officeDocument/2006/relationships/slide" Target="/ppt/slides/slide29.xml" Id="R7c6ca63048634c43" /><Relationship Type="http://schemas.openxmlformats.org/officeDocument/2006/relationships/slide" Target="/ppt/slides/slide30.xml" Id="Rcdca1bf4983f4bde" /><Relationship Type="http://schemas.openxmlformats.org/officeDocument/2006/relationships/slide" Target="/ppt/slides/slide31.xml" Id="R8b6e05fc55c44d1c" /><Relationship Type="http://schemas.openxmlformats.org/officeDocument/2006/relationships/slide" Target="/ppt/slides/slide32.xml" Id="R28d0e669bf7b4cf7" /><Relationship Type="http://schemas.openxmlformats.org/officeDocument/2006/relationships/slide" Target="/ppt/slides/slide33.xml" Id="R4bda1d71eccc4d3c" /><Relationship Type="http://schemas.openxmlformats.org/officeDocument/2006/relationships/slide" Target="/ppt/slides/slide34.xml" Id="R27b6e63d00c947e3" /><Relationship Type="http://schemas.openxmlformats.org/officeDocument/2006/relationships/slide" Target="/ppt/slides/slide35.xml" Id="R90a2676a23b9490c" /><Relationship Type="http://schemas.openxmlformats.org/officeDocument/2006/relationships/slide" Target="/ppt/slides/slide36.xml" Id="R3274f85c241d42c5" /><Relationship Type="http://schemas.openxmlformats.org/officeDocument/2006/relationships/slide" Target="/ppt/slides/slide37.xml" Id="R5737a964f2cd422c" /><Relationship Type="http://schemas.openxmlformats.org/officeDocument/2006/relationships/slide" Target="/ppt/slides/slide38.xml" Id="R1f03e28e54014162" /><Relationship Type="http://schemas.openxmlformats.org/officeDocument/2006/relationships/slide" Target="/ppt/slides/slide39.xml" Id="R62992419f314469b" /><Relationship Type="http://schemas.openxmlformats.org/officeDocument/2006/relationships/slide" Target="/ppt/slides/slide40.xml" Id="R2fe503f3cf76469d" /><Relationship Type="http://schemas.openxmlformats.org/officeDocument/2006/relationships/slide" Target="/ppt/slides/slide41.xml" Id="R6d8ac2ffa4684bcd" /><Relationship Type="http://schemas.openxmlformats.org/officeDocument/2006/relationships/slide" Target="/ppt/slides/slide42.xml" Id="Rfed4110d3f1542ed" /><Relationship Type="http://schemas.openxmlformats.org/officeDocument/2006/relationships/slide" Target="/ppt/slides/slide43.xml" Id="R127ac8b2d68a4a37" /><Relationship Type="http://schemas.openxmlformats.org/officeDocument/2006/relationships/slide" Target="/ppt/slides/slide44.xml" Id="Reda46d5625f14b7a" /><Relationship Type="http://schemas.openxmlformats.org/officeDocument/2006/relationships/slide" Target="/ppt/slides/slide45.xml" Id="R5c641ee2a61b45ba" /><Relationship Type="http://schemas.openxmlformats.org/officeDocument/2006/relationships/slide" Target="/ppt/slides/slide46.xml" Id="R08c919806f994766" /><Relationship Type="http://schemas.openxmlformats.org/officeDocument/2006/relationships/slide" Target="/ppt/slides/slide47.xml" Id="R2c155d2f699a4999" /><Relationship Type="http://schemas.openxmlformats.org/officeDocument/2006/relationships/slide" Target="/ppt/slides/slide48.xml" Id="R33ce6b4550764ebe" /><Relationship Type="http://schemas.openxmlformats.org/officeDocument/2006/relationships/slide" Target="/ppt/slides/slide49.xml" Id="Ra49c653bca26489b" /><Relationship Type="http://schemas.openxmlformats.org/officeDocument/2006/relationships/slide" Target="/ppt/slides/slide50.xml" Id="R7ec9886576c54226" /><Relationship Type="http://schemas.openxmlformats.org/officeDocument/2006/relationships/slide" Target="/ppt/slides/slide51.xml" Id="R7f4b77ed41ca4a16" /><Relationship Type="http://schemas.openxmlformats.org/officeDocument/2006/relationships/slide" Target="/ppt/slides/slide52.xml" Id="R5b205f4172b848ef" /><Relationship Type="http://schemas.openxmlformats.org/officeDocument/2006/relationships/slide" Target="/ppt/slides/slide53.xml" Id="Rb11f14f822d84068" /><Relationship Type="http://schemas.openxmlformats.org/officeDocument/2006/relationships/slide" Target="/ppt/slides/slide54.xml" Id="Rb12f1ff39c6e44d4" /><Relationship Type="http://schemas.openxmlformats.org/officeDocument/2006/relationships/slide" Target="/ppt/slides/slide55.xml" Id="R1ac04977a8474d69" /><Relationship Type="http://schemas.openxmlformats.org/officeDocument/2006/relationships/slide" Target="/ppt/slides/slide56.xml" Id="Rccae200d20674635" /><Relationship Type="http://schemas.openxmlformats.org/officeDocument/2006/relationships/slide" Target="/ppt/slides/slide57.xml" Id="Ra75825b0c6ea4565" /><Relationship Type="http://schemas.openxmlformats.org/officeDocument/2006/relationships/slide" Target="/ppt/slides/slide58.xml" Id="R359a9dc5fcf445b1" /><Relationship Type="http://schemas.openxmlformats.org/officeDocument/2006/relationships/slide" Target="/ppt/slides/slide59.xml" Id="R50b6f5bdc491477b" /><Relationship Type="http://schemas.openxmlformats.org/officeDocument/2006/relationships/slide" Target="/ppt/slides/slide60.xml" Id="Rb4310ac2e18f4d22" /><Relationship Type="http://schemas.openxmlformats.org/officeDocument/2006/relationships/slide" Target="/ppt/slides/slide61.xml" Id="Rb80eb0b23ec14dd5" /><Relationship Type="http://schemas.openxmlformats.org/officeDocument/2006/relationships/slide" Target="/ppt/slides/slide62.xml" Id="R3fa509f0125640cd" /><Relationship Type="http://schemas.openxmlformats.org/officeDocument/2006/relationships/slide" Target="/ppt/slides/slide63.xml" Id="R45ee119ff72e424d" /><Relationship Type="http://schemas.openxmlformats.org/officeDocument/2006/relationships/slide" Target="/ppt/slides/slide64.xml" Id="R3c3f3486644642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ed4c7b888641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291452db8461b" /><Relationship Type="http://schemas.openxmlformats.org/officeDocument/2006/relationships/notesMaster" Target="/ppt/notesMasters/notesMaster1.xml" Id="R40cf74d56bbe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045099f7034f74" /><Relationship Type="http://schemas.openxmlformats.org/officeDocument/2006/relationships/notesMaster" Target="/ppt/notesMasters/notesMaster1.xml" Id="R3b82a367873342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9a6347e3c6450e" /><Relationship Type="http://schemas.openxmlformats.org/officeDocument/2006/relationships/notesMaster" Target="/ppt/notesMasters/notesMaster1.xml" Id="R79eb595aa9c542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5ac7d68e484f9f" /><Relationship Type="http://schemas.openxmlformats.org/officeDocument/2006/relationships/notesMaster" Target="/ppt/notesMasters/notesMaster1.xml" Id="R4e2dc7e4d91e47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47c99e63d347f0" /><Relationship Type="http://schemas.openxmlformats.org/officeDocument/2006/relationships/notesMaster" Target="/ppt/notesMasters/notesMaster1.xml" Id="R361e39fcd8544a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91af6a8a9b4063" /><Relationship Type="http://schemas.openxmlformats.org/officeDocument/2006/relationships/notesMaster" Target="/ppt/notesMasters/notesMaster1.xml" Id="R5adebf7be55444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3cc55db9334dd6" /><Relationship Type="http://schemas.openxmlformats.org/officeDocument/2006/relationships/notesMaster" Target="/ppt/notesMasters/notesMaster1.xml" Id="R236d1c151d0147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567fefa94e4237" /><Relationship Type="http://schemas.openxmlformats.org/officeDocument/2006/relationships/notesMaster" Target="/ppt/notesMasters/notesMaster1.xml" Id="R1fdfca0452f842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78e4bf5fac4675" /><Relationship Type="http://schemas.openxmlformats.org/officeDocument/2006/relationships/notesMaster" Target="/ppt/notesMasters/notesMaster1.xml" Id="Ra157ea42d19f4d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33f278e5d44f77" /><Relationship Type="http://schemas.openxmlformats.org/officeDocument/2006/relationships/notesMaster" Target="/ppt/notesMasters/notesMaster1.xml" Id="R6ca003127fd84f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cbb43cf7b44b38" /><Relationship Type="http://schemas.openxmlformats.org/officeDocument/2006/relationships/notesMaster" Target="/ppt/notesMasters/notesMaster1.xml" Id="Ref1763e3a53240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957cd13cc742f2" /><Relationship Type="http://schemas.openxmlformats.org/officeDocument/2006/relationships/notesMaster" Target="/ppt/notesMasters/notesMaster1.xml" Id="Rc4b09c94c0034b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0523b32dda4e5a" /><Relationship Type="http://schemas.openxmlformats.org/officeDocument/2006/relationships/notesMaster" Target="/ppt/notesMasters/notesMaster1.xml" Id="R84ced66ffb514e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2cc76a6f6d4b3c" /><Relationship Type="http://schemas.openxmlformats.org/officeDocument/2006/relationships/notesMaster" Target="/ppt/notesMasters/notesMaster1.xml" Id="Rea9f4850a3ec4e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0743b209fc4d52" /><Relationship Type="http://schemas.openxmlformats.org/officeDocument/2006/relationships/notesMaster" Target="/ppt/notesMasters/notesMaster1.xml" Id="Rdb871550d9064f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89b0d709894645" /><Relationship Type="http://schemas.openxmlformats.org/officeDocument/2006/relationships/notesMaster" Target="/ppt/notesMasters/notesMaster1.xml" Id="Rd4145dc3425c45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eb03e7fdd7485e" /><Relationship Type="http://schemas.openxmlformats.org/officeDocument/2006/relationships/notesMaster" Target="/ppt/notesMasters/notesMaster1.xml" Id="R140ce5f0afbd4a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dcc560619e41fe" /><Relationship Type="http://schemas.openxmlformats.org/officeDocument/2006/relationships/notesMaster" Target="/ppt/notesMasters/notesMaster1.xml" Id="R1c6063bf606e49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6d23194b814bee" /><Relationship Type="http://schemas.openxmlformats.org/officeDocument/2006/relationships/notesMaster" Target="/ppt/notesMasters/notesMaster1.xml" Id="Rdb72c406e2e940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e19214f419497b" /><Relationship Type="http://schemas.openxmlformats.org/officeDocument/2006/relationships/notesMaster" Target="/ppt/notesMasters/notesMaster1.xml" Id="R8af8dedb513140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742473a9d54954" /><Relationship Type="http://schemas.openxmlformats.org/officeDocument/2006/relationships/notesMaster" Target="/ppt/notesMasters/notesMaster1.xml" Id="Rc62dbca2f28145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1eaf0866ca40ea" /><Relationship Type="http://schemas.openxmlformats.org/officeDocument/2006/relationships/notesMaster" Target="/ppt/notesMasters/notesMaster1.xml" Id="Ra6d47be4af8a4d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2b7ee3cd7a43b7" /><Relationship Type="http://schemas.openxmlformats.org/officeDocument/2006/relationships/notesMaster" Target="/ppt/notesMasters/notesMaster1.xml" Id="Rf19ab019a69442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b4ef6ffd374e7c" /><Relationship Type="http://schemas.openxmlformats.org/officeDocument/2006/relationships/notesMaster" Target="/ppt/notesMasters/notesMaster1.xml" Id="R4b25fbb2bc324f6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d1d90ce45c45cf" /><Relationship Type="http://schemas.openxmlformats.org/officeDocument/2006/relationships/notesMaster" Target="/ppt/notesMasters/notesMaster1.xml" Id="R52748ede8ab349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21f5eb5da645b8" /><Relationship Type="http://schemas.openxmlformats.org/officeDocument/2006/relationships/notesMaster" Target="/ppt/notesMasters/notesMaster1.xml" Id="Rdf2cd6d99ad444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ba0085502f4e03" /><Relationship Type="http://schemas.openxmlformats.org/officeDocument/2006/relationships/notesMaster" Target="/ppt/notesMasters/notesMaster1.xml" Id="Ra231a7e6c70c4fe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7ea0cfee3bd4dba" /><Relationship Type="http://schemas.openxmlformats.org/officeDocument/2006/relationships/notesMaster" Target="/ppt/notesMasters/notesMaster1.xml" Id="R58aac88243a1491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e738934d514a66" /><Relationship Type="http://schemas.openxmlformats.org/officeDocument/2006/relationships/notesMaster" Target="/ppt/notesMasters/notesMaster1.xml" Id="Rb362897a863b45f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76c01dd7b144c84" /><Relationship Type="http://schemas.openxmlformats.org/officeDocument/2006/relationships/notesMaster" Target="/ppt/notesMasters/notesMaster1.xml" Id="R31463ae0dcdb46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b510e031954c5a" /><Relationship Type="http://schemas.openxmlformats.org/officeDocument/2006/relationships/notesMaster" Target="/ppt/notesMasters/notesMaster1.xml" Id="R4d298694eeab4ac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52f867258d7428c" /><Relationship Type="http://schemas.openxmlformats.org/officeDocument/2006/relationships/notesMaster" Target="/ppt/notesMasters/notesMaster1.xml" Id="Rf93b47defed14af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560f276ce474cc2" /><Relationship Type="http://schemas.openxmlformats.org/officeDocument/2006/relationships/notesMaster" Target="/ppt/notesMasters/notesMaster1.xml" Id="Rf7dde9f47347463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1f40f0d7284f8f" /><Relationship Type="http://schemas.openxmlformats.org/officeDocument/2006/relationships/notesMaster" Target="/ppt/notesMasters/notesMaster1.xml" Id="R7879b36e16ae49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3c28b93ef9a4a16" /><Relationship Type="http://schemas.openxmlformats.org/officeDocument/2006/relationships/notesMaster" Target="/ppt/notesMasters/notesMaster1.xml" Id="Rf7ab1f8f1faf4d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b52d6ed6c83498e" /><Relationship Type="http://schemas.openxmlformats.org/officeDocument/2006/relationships/notesMaster" Target="/ppt/notesMasters/notesMaster1.xml" Id="Ra579f56fbcb74e6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f75722e1b144255" /><Relationship Type="http://schemas.openxmlformats.org/officeDocument/2006/relationships/notesMaster" Target="/ppt/notesMasters/notesMaster1.xml" Id="Raed38008bf77488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b89f02f2684719" /><Relationship Type="http://schemas.openxmlformats.org/officeDocument/2006/relationships/notesMaster" Target="/ppt/notesMasters/notesMaster1.xml" Id="R1515f7e6526047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e43440a9a6b41d0" /><Relationship Type="http://schemas.openxmlformats.org/officeDocument/2006/relationships/notesMaster" Target="/ppt/notesMasters/notesMaster1.xml" Id="Ra0ca46785aed40d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76d2dc818034089" /><Relationship Type="http://schemas.openxmlformats.org/officeDocument/2006/relationships/notesMaster" Target="/ppt/notesMasters/notesMaster1.xml" Id="R370e9888b26f41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d7295522c57496c" /><Relationship Type="http://schemas.openxmlformats.org/officeDocument/2006/relationships/notesMaster" Target="/ppt/notesMasters/notesMaster1.xml" Id="Rc93f34af84c9461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7b1676562c34fd5" /><Relationship Type="http://schemas.openxmlformats.org/officeDocument/2006/relationships/notesMaster" Target="/ppt/notesMasters/notesMaster1.xml" Id="R017a269c950e413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1580b44e0c24356" /><Relationship Type="http://schemas.openxmlformats.org/officeDocument/2006/relationships/notesMaster" Target="/ppt/notesMasters/notesMaster1.xml" Id="R3ad4fdbbc2144c0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68addeac8a64354" /><Relationship Type="http://schemas.openxmlformats.org/officeDocument/2006/relationships/notesMaster" Target="/ppt/notesMasters/notesMaster1.xml" Id="Rd283ddf26c7443e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fcacb4aeae44bd6" /><Relationship Type="http://schemas.openxmlformats.org/officeDocument/2006/relationships/notesMaster" Target="/ppt/notesMasters/notesMaster1.xml" Id="R2096bef68c404c9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70a759b26f2491b" /><Relationship Type="http://schemas.openxmlformats.org/officeDocument/2006/relationships/notesMaster" Target="/ppt/notesMasters/notesMaster1.xml" Id="Rae10c2dddcf4493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c4eac2557a64a55" /><Relationship Type="http://schemas.openxmlformats.org/officeDocument/2006/relationships/notesMaster" Target="/ppt/notesMasters/notesMaster1.xml" Id="R46b2108777a246e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b1061eda1b94772" /><Relationship Type="http://schemas.openxmlformats.org/officeDocument/2006/relationships/notesMaster" Target="/ppt/notesMasters/notesMaster1.xml" Id="R840d988822f541f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ca1679d4d75421a" /><Relationship Type="http://schemas.openxmlformats.org/officeDocument/2006/relationships/notesMaster" Target="/ppt/notesMasters/notesMaster1.xml" Id="R418c0432a8fa4b1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753d25771264654" /><Relationship Type="http://schemas.openxmlformats.org/officeDocument/2006/relationships/notesMaster" Target="/ppt/notesMasters/notesMaster1.xml" Id="Re56a0ab4a6c84ad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78dec1d87284a86" /><Relationship Type="http://schemas.openxmlformats.org/officeDocument/2006/relationships/notesMaster" Target="/ppt/notesMasters/notesMaster1.xml" Id="R8ad775e37543459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a87b8db78134ffa" /><Relationship Type="http://schemas.openxmlformats.org/officeDocument/2006/relationships/notesMaster" Target="/ppt/notesMasters/notesMaster1.xml" Id="Rf46d5c5d36604e0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112371ce8394a22" /><Relationship Type="http://schemas.openxmlformats.org/officeDocument/2006/relationships/notesMaster" Target="/ppt/notesMasters/notesMaster1.xml" Id="Rcf13a7193597419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d464d6ed61441b4" /><Relationship Type="http://schemas.openxmlformats.org/officeDocument/2006/relationships/notesMaster" Target="/ppt/notesMasters/notesMaster1.xml" Id="R1e96d88362114b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8fbe091bcf7441d" /><Relationship Type="http://schemas.openxmlformats.org/officeDocument/2006/relationships/notesMaster" Target="/ppt/notesMasters/notesMaster1.xml" Id="Rd3ce51d117c4471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9bbfdd4c88b4bb0" /><Relationship Type="http://schemas.openxmlformats.org/officeDocument/2006/relationships/notesMaster" Target="/ppt/notesMasters/notesMaster1.xml" Id="R415c205b5f9f48e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3a3efd4a6494be0" /><Relationship Type="http://schemas.openxmlformats.org/officeDocument/2006/relationships/notesMaster" Target="/ppt/notesMasters/notesMaster1.xml" Id="Rae1790b9607d4a6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83b75b9a79a4057" /><Relationship Type="http://schemas.openxmlformats.org/officeDocument/2006/relationships/notesMaster" Target="/ppt/notesMasters/notesMaster1.xml" Id="Rb979382445fb40c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a6e5a4b0ca34fb7" /><Relationship Type="http://schemas.openxmlformats.org/officeDocument/2006/relationships/notesMaster" Target="/ppt/notesMasters/notesMaster1.xml" Id="R0f2deb1ed6ed46e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1c180803d354811" /><Relationship Type="http://schemas.openxmlformats.org/officeDocument/2006/relationships/notesMaster" Target="/ppt/notesMasters/notesMaster1.xml" Id="R89e5f96bbae448d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3e7dcd411eb4eec" /><Relationship Type="http://schemas.openxmlformats.org/officeDocument/2006/relationships/notesMaster" Target="/ppt/notesMasters/notesMaster1.xml" Id="R9d170a06ffa2455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23cb05d10954e9a" /><Relationship Type="http://schemas.openxmlformats.org/officeDocument/2006/relationships/notesMaster" Target="/ppt/notesMasters/notesMaster1.xml" Id="Rc0c1f1b6ecd14c3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92b3d02a28b4bef" /><Relationship Type="http://schemas.openxmlformats.org/officeDocument/2006/relationships/notesMaster" Target="/ppt/notesMasters/notesMaster1.xml" Id="R50feb5ddb5554e5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87b18cf78f974af4" /><Relationship Type="http://schemas.openxmlformats.org/officeDocument/2006/relationships/notesMaster" Target="/ppt/notesMasters/notesMaster1.xml" Id="R7498573b94984a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Construiremos AulaPedidos paso a paso. El objetivo es desarrollar con ayuda de Copilot y conservar el criterio para revisar lo que propone. Son 40 horas efectivas, en diez clases de cuatro horas. Los descansos quedan fuera de esas horas.</a:t>
            </a:r>
          </a:p>
          <a:p xmlns:a="http://schemas.openxmlformats.org/drawingml/2006/main">
            <a:r>
              <a:t/>
            </a:r>
          </a:p>
          <a:p xmlns:a="http://schemas.openxmlformats.org/drawingml/2006/main">
            <a:r>
              <a:t>Ilustración conceptual generada con IA para este curso.</a:t>
            </a:r>
          </a:p>
          <a:p xmlns:a="http://schemas.openxmlformats.org/drawingml/2006/main">
            <a:r>
              <a:t/>
            </a:r>
          </a:p>
          <a:p xmlns:a="http://schemas.openxmlformats.org/drawingml/2006/main">
            <a:r>
              <a:t>Material del curso: https://github.com/ychavez/CursoNETIA/blob/main/instructor/README.md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API permite que otros programas pidan información o realicen operaciones. AulaPedidos ofrece un catálogo de productos y permite crear, consultar o cancelar pedidos según los permisos. La aplicación es el ejemplo común de todo el curso. La IA ayuda a desarrollar el proyecto. El proyecto no incluye un chatbot ni una función de IA para el usuario final.</a:t>
            </a:r>
          </a:p>
          <a:p xmlns:a="http://schemas.openxmlformats.org/drawingml/2006/main">
            <a:r>
              <a:t/>
            </a:r>
          </a:p>
          <a:p xmlns:a="http://schemas.openxmlformats.org/drawingml/2006/main">
            <a:r>
              <a:t>Material del curso: https://github.com/ychavez/CursoNETIA/blob/main/README.md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clase combina una demostración corta con práctica. Trabajaremos en parejas, alternando quién conduce y quién revisa. Pediremos a Copilot cambios pequeños, leeremos el resultado y lo comprobaremos con pruebas. Las decisiones quedan en una bitácora. Usamos datos sintéticos y evitamos compartir secretos.</a:t>
            </a:r>
          </a:p>
          <a:p xmlns:a="http://schemas.openxmlformats.org/drawingml/2006/main">
            <a:r>
              <a:t/>
            </a:r>
          </a:p>
          <a:p xmlns:a="http://schemas.openxmlformats.org/drawingml/2006/main">
            <a:r>
              <a:t>Material del curso: https://github.com/ychavez/CursoNETIA/blob/main/instructor/README.md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 harness como el conjunto de instrucciones, contexto, herramientas y verificaciones que orienta al asistente. Configuraremos instrucciones del repositorio, prompts y agentes. El alumno debe entender qué acepta y por qué. Incluye uso responsable de datos y revisión humana.</a:t>
            </a:r>
          </a:p>
          <a:p xmlns:a="http://schemas.openxmlformats.org/drawingml/2006/main">
            <a:r>
              <a:t/>
            </a:r>
          </a:p>
          <a:p xmlns:a="http://schemas.openxmlformats.org/drawingml/2006/main">
            <a:r>
              <a:t>Material del curso: https://github.com/ychavez/CursoNETIA/blob/main/instructor/clases/01-ia-harness.md</a:t>
            </a:r>
          </a:p>
          <a:p xmlns:a="http://schemas.openxmlformats.org/drawingml/2006/main">
            <a:br/>
            <a:br/>
            <a:r>
              <a:t>Ejemplo para explicar: si pedimos crear un endpoint sin indicar las capas, Copilot puede mezclar reglas del negocio con HTTP. Las instrucciones del repositorio orientan dónde colocar cada parte y las pruebas ayudan a comprobar el resultado.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Harness es el nombre que usamos en el curso para este conjunto de apoyos y controles. No es una función única de Copilot ni una sigla. Una instrucción fija una regla recurrente. Un prompt pide una tarea concreta. Mostrar una regla del repositorio y un prompt del curso. Comprobar qué referencias usa Copilot. La revisión humana conserva la decisión final y las pruebas comprueban los comportamientos que realmente cubren. Ejemplo hablado: le damos la regla de precio, el archivo correcto y cómo reconocer una solución válida. Después revisamos y probamos.</a:t>
            </a:r>
          </a:p>
          <a:p xmlns:a="http://schemas.openxmlformats.org/drawingml/2006/main">
            <a:r>
              <a:t/>
            </a:r>
          </a:p>
          <a:p xmlns:a="http://schemas.openxmlformats.org/drawingml/2006/main">
            <a:r>
              <a:t>Fuentes:</a:t>
            </a:r>
          </a:p>
          <a:p xmlns:a="http://schemas.openxmlformats.org/drawingml/2006/main">
            <a:r>
              <a:t>https://docs.github.com/en/copilot/reference/customization-cheat-sheet</a:t>
            </a:r>
          </a:p>
          <a:p xmlns:a="http://schemas.openxmlformats.org/drawingml/2006/main">
            <a:r>
              <a:t>https://docs.github.com/en/copilot/how-tos/copilot-on-github/customize-copilot/add-custom-instructions/add-repository-instructions</a:t>
            </a:r>
          </a:p>
          <a:p xmlns:a="http://schemas.openxmlformats.org/drawingml/2006/main">
            <a:r>
              <a:t>https://github.com/ychavez/CursoNETIA/blob/main/instructor/clases/01-ia-harness.md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 las flechas de izquierda a derecha: la regla permite seleccionar los archivos; esos archivos orientan la propuesta; la propuesta pasa a revisión y pruebas. No representan dependencias entre proyectos, sino el orden del trabajo. En AulaPedidos, pedir «mejora el precio» deja abiertas decisiones importantes. El requisito real utiliza decimal, redondea a dos decimales y rechaza un precio efectivo inferior a 0.01. Abrimos Product.cs y ProductTests.cs para comprobar la implementación y los casos existentes. Después pedimos una modificación pequeña con aceptación explícita: una actualización inválida conserva el producto anterior. Un error habitual es adjuntar todo el repositorio sin señalar qué decisión debe resolverse. Otro es creer que una referencia citada demuestra que se cumplió la regla. Pregunta al grupo: ¿qué prueba distinguiría una solución correcta de una que sólo parece razonable?</a:t>
            </a:r>
          </a:p>
          <a:p xmlns:a="http://schemas.openxmlformats.org/drawingml/2006/main">
            <a:r>
              <a:t/>
            </a:r>
          </a:p>
          <a:p xmlns:a="http://schemas.openxmlformats.org/drawingml/2006/main">
            <a:r>
              <a:t>Fuentes:</a:t>
            </a:r>
          </a:p>
          <a:p xmlns:a="http://schemas.openxmlformats.org/drawingml/2006/main">
            <a:r>
              <a:t>https://github.com/ychavez/CursoNETIA/blob/6a4141e/instructor/clases/01-ia-harness.md</a:t>
            </a:r>
          </a:p>
          <a:p xmlns:a="http://schemas.openxmlformats.org/drawingml/2006/main">
            <a:r>
              <a:t>https://github.com/ychavez/CursoNETIA/blob/6a4141e/src/AulaPedidos.Domain/Entities/Product.cs</a:t>
            </a:r>
          </a:p>
          <a:p xmlns:a="http://schemas.openxmlformats.org/drawingml/2006/main">
            <a:r>
              <a:t>https://github.com/ychavez/CursoNETIA/blob/6a4141e/tests/AulaPedidos.UnitTests/Domain/ProductTests.cs</a:t>
            </a:r>
          </a:p>
          <a:p xmlns:a="http://schemas.openxmlformats.org/drawingml/2006/main">
            <a:r>
              <a:t>https://github.com/ychavez/CursoNETIA/blob/6a4141e/.github/instructions/domain.instructions.md</a:t>
            </a:r>
          </a:p>
          <a:p xmlns:a="http://schemas.openxmlformats.org/drawingml/2006/main">
            <a:r>
              <a:t>https://docs.github.com/en/copilot/reference/customization-cheat-sheet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 los tres bloques como una petición de ejemplo creada para la clase, no como una copia literal de un archivo de prompts. El alcance acota la búsqueda a una entidad y sus pruebas. Las restricciones preservan decisiones del proyecto. La aceptación permite revisar el resultado sin confiar en el tono de la respuesta. Para demostrarlo, pregunta a Copilot qué ocurre con 0.001: aunque sea positivo, el redondeo produce cero y el dominio debe rechazarlo. Con 0.01 debe ser posible crear un producto válido si los demás datos también cumplen. El archivo feature.prompt.md del repositorio exige localizar la implementación, proponer el menor cambio y reportar resultados reales. Un error habitual es aceptar una prueba que repite la implementación sin intentar romperla. Otro es permitir que el agente cambie los requisitos para conseguir verde. Pregunta: ¿cuál de estos criterios seguiría siendo válido si reescribiéramos Product.Update?</a:t>
            </a:r>
          </a:p>
          <a:p xmlns:a="http://schemas.openxmlformats.org/drawingml/2006/main">
            <a:r>
              <a:t/>
            </a:r>
          </a:p>
          <a:p xmlns:a="http://schemas.openxmlformats.org/drawingml/2006/main">
            <a:r>
              <a:t>Fuentes:</a:t>
            </a:r>
          </a:p>
          <a:p xmlns:a="http://schemas.openxmlformats.org/drawingml/2006/main">
            <a:r>
              <a:t>https://github.com/ychavez/CursoNETIA/blob/6a4141e/.github/prompts/feature.prompt.md</a:t>
            </a:r>
          </a:p>
          <a:p xmlns:a="http://schemas.openxmlformats.org/drawingml/2006/main">
            <a:r>
              <a:t>https://github.com/ychavez/CursoNETIA/blob/6a4141e/.github/copilot-instructions.md</a:t>
            </a:r>
          </a:p>
          <a:p xmlns:a="http://schemas.openxmlformats.org/drawingml/2006/main">
            <a:r>
              <a:t>https://github.com/ychavez/CursoNETIA/blob/6a4141e/src/AulaPedidos.Domain/Entities/Product.cs</a:t>
            </a:r>
          </a:p>
          <a:p xmlns:a="http://schemas.openxmlformats.org/drawingml/2006/main">
            <a:r>
              <a:t>https://github.com/ychavez/CursoNETIA/blob/6a4141e/instructor/clases/01-ia-harness.md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esquema reproduce los valores del encabezado de arquitecto.agent.md, pero distribuye la descripción y la lista de herramientas en varias líneas para leerlos. El cuerpo del archivo se omite: allí se exige leer la arquitectura, justificar costes y revisar sin editar ni ejecutar comandos. Compara su papel con el del agente revisor, que busca defectos concretos de negocio, seguridad y pruebas. La decisión no consiste en multiplicar agentes, sino en separar una revisión de diseño de la implementación. Las funciones y herramientas disponibles dependen del entorno; comprueba el agente efectivo antes de la demostración. Si la interfaz no lo admite, adjunta su contenido como contexto de lectura según la guía. Un error habitual es asumir que una instrucción escrita equivale a un bloqueo técnico. Pregunta al grupo: ¿qué acción del agente arquitecto debería detener la revisión y exigir comprobar su configuración?</a:t>
            </a:r>
          </a:p>
          <a:p xmlns:a="http://schemas.openxmlformats.org/drawingml/2006/main">
            <a:r>
              <a:t/>
            </a:r>
          </a:p>
          <a:p xmlns:a="http://schemas.openxmlformats.org/drawingml/2006/main">
            <a:r>
              <a:t>Fuentes:</a:t>
            </a:r>
          </a:p>
          <a:p xmlns:a="http://schemas.openxmlformats.org/drawingml/2006/main">
            <a:r>
              <a:t>https://github.com/ychavez/CursoNETIA/blob/6a4141e/.github/agents/arquitecto.agent.md</a:t>
            </a:r>
          </a:p>
          <a:p xmlns:a="http://schemas.openxmlformats.org/drawingml/2006/main">
            <a:r>
              <a:t>https://github.com/ychavez/CursoNETIA/blob/6a4141e/.github/agents/revisor.agent.md</a:t>
            </a:r>
          </a:p>
          <a:p xmlns:a="http://schemas.openxmlformats.org/drawingml/2006/main">
            <a:r>
              <a:t>https://github.com/ychavez/CursoNETIA/blob/6a4141e/instructor/clases/01-ia-harness.md</a:t>
            </a:r>
          </a:p>
          <a:p xmlns:a="http://schemas.openxmlformats.org/drawingml/2006/main">
            <a:r>
              <a:t>https://docs.github.com/en/copilot/reference/customization-cheat-sheet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línea es un comando de la CLI de .NET, ejecutado desde la raíz de la solución. Primero restauramos las herramientas locales, luego las dependencias bloqueadas. Después compilamos en Release y ejecutamos las pruebas de esa compilación. En una terminal, revisamos el código de salida y el resultado antes de continuar con el siguiente comando. Pegar todas las líneas no garantiza que una terminal se detenga al primer error. En CI, los pasos separados del workflow interrumpen el flujo cuando un comando falla. CourseTools verify automatiza esta secuencia y también comprueba cambios de modelo pendientes en SQLite y SQL Server. Compilar demuestra que el código es válido para el compilador, pero no acredita las reglas del negocio. La evidencia debe corresponder al estado actual del código. Pregunta al grupo: ¿qué prueba detectaría que un usuario puede consultar un pedido ajeno?</a:t>
            </a:r>
          </a:p>
          <a:p xmlns:a="http://schemas.openxmlformats.org/drawingml/2006/main">
            <a:r>
              <a:t/>
            </a:r>
          </a:p>
          <a:p xmlns:a="http://schemas.openxmlformats.org/drawingml/2006/main">
            <a:r>
              <a:t>Fuentes:</a:t>
            </a:r>
          </a:p>
          <a:p xmlns:a="http://schemas.openxmlformats.org/drawingml/2006/main">
            <a:r>
              <a:t>https://github.com/ychavez/CursoNETIA/blob/main/tools/AulaPedidos.CourseTools/CourseCommands.cs</a:t>
            </a:r>
          </a:p>
          <a:p xmlns:a="http://schemas.openxmlformats.org/drawingml/2006/main">
            <a:r>
              <a:t>https://github.com/ychavez/CursoNETIA/blob/main/.github/workflows/ci.yml</a:t>
            </a:r>
          </a:p>
          <a:p xmlns:a="http://schemas.openxmlformats.org/drawingml/2006/main">
            <a:r>
              <a:t>https://learn.microsoft.com/en-us/dotnet/core/tools/dotnet-restore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las cuatro capas: Domain, Application, Infrastructure y Api. El dominio contiene reglas del negocio y conserva su independencia de HTTP y de la base de datos. Usaremos inyección de dependencias y aplicaremos SOLID con ejemplos concretos. El alumno documentará una decisión de arquitectura.</a:t>
            </a:r>
          </a:p>
          <a:p xmlns:a="http://schemas.openxmlformats.org/drawingml/2006/main">
            <a:r>
              <a:t/>
            </a:r>
          </a:p>
          <a:p xmlns:a="http://schemas.openxmlformats.org/drawingml/2006/main">
            <a:r>
              <a:t>Material del curso: https://github.com/ychavez/CursoNETIA/blob/main/instructor/clases/02-arquitectura.md</a:t>
            </a:r>
          </a:p>
          <a:p xmlns:a="http://schemas.openxmlformats.org/drawingml/2006/main">
            <a:br/>
            <a:br/>
            <a:r>
              <a:t>Ejemplo para explicar: la regla que impide crear un pedido vacío pertenece al dominio. Conservamos esa regla al usar SQLite o SQL Server. La infraestructura implementa el acceso a cada motor.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Ubicar las cuatro capas del proyecto: Domain protege reglas, Application coordina casos de uso, Infrastructure implementa persistencia y Api recibe solicitudes y registra dependencias. Expandir SOLID: S, Single Responsibility, una responsabilidad y una razón para cambiar. O, Open/Closed, permitir extensiones sin modificar innecesariamente código existente. L, Liskov Substitution, las implementaciones sustitutas respetan el contrato. I, Interface Segregation, interfaces específicas para lo que necesita cada consumidor. D, Dependency Inversion, depender de abstracciones y no de detalles concretos. DI es un mecanismo para proporcionar colaboradores y no otro nombre para inversión de dependencias. Cambiar de proveedor requiere adaptar persistencia y probarla, aunque se conserven las reglas del dominio.</a:t>
            </a:r>
          </a:p>
          <a:p xmlns:a="http://schemas.openxmlformats.org/drawingml/2006/main">
            <a:r>
              <a:t/>
            </a:r>
          </a:p>
          <a:p xmlns:a="http://schemas.openxmlformats.org/drawingml/2006/main">
            <a:r>
              <a:t>Fuentes:</a:t>
            </a:r>
          </a:p>
          <a:p xmlns:a="http://schemas.openxmlformats.org/drawingml/2006/main">
            <a:r>
              <a:t>https://learn.microsoft.com/en-us/dotnet/architecture/modern-web-apps-azure/common-web-application-architectures</a:t>
            </a:r>
          </a:p>
          <a:p xmlns:a="http://schemas.openxmlformats.org/drawingml/2006/main">
            <a:r>
              <a:t>https://learn.microsoft.com/en-us/dotnet/architecture/microservices/microservice-ddd-cqrs-patterns/microservice-application-layer-web-api-design</a:t>
            </a:r>
          </a:p>
          <a:p xmlns:a="http://schemas.openxmlformats.org/drawingml/2006/main">
            <a:r>
              <a:t>https://learn.microsoft.com/en-us/dotnet/core/extensions/dependency-injection/overview</a:t>
            </a:r>
          </a:p>
          <a:p xmlns:a="http://schemas.openxmlformats.org/drawingml/2006/main">
            <a:r>
              <a:t>https://github.com/ychavez/CursoNETIA/blob/main/instructor/clases/02-arquitectura.md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Aclara antes de recorrer el diagrama que cada flecha sale del proyecto que declara una referencia y llega al proyecto referenciado. Son referencias directas de los archivos csproj, no una secuencia de llamadas HTTP. Api referencia Application e Infrastructure; Infrastructure referencia Application; Application referencia Domain. Infrastructure también utiliza entidades de Domain, disponibles mediante la referencia transitiva de Application. Domain no referencia otros proyectos de la solución. La llamada real puede pasar del handler a un repositorio concreto mediante una interfaz sin añadir una referencia de Application a Infrastructure. Api conoce implementaciones para conectarlas en el arranque. Un error habitual es dibujar flechas de ejecución y tratarlas como referencias del compilador. Otro es crear carpetas llamadas Domain y suponer que impiden usar HttpContext. Abre los csproj y las pruebas de arquitectura para verificar la frontera. Pregunta: ¿qué dependencia introduciría Product si recibiera AulaPedidosDbContext?</a:t>
            </a:r>
          </a:p>
          <a:p xmlns:a="http://schemas.openxmlformats.org/drawingml/2006/main">
            <a:r>
              <a:t/>
            </a:r>
          </a:p>
          <a:p xmlns:a="http://schemas.openxmlformats.org/drawingml/2006/main">
            <a:r>
              <a:t>Fuentes:</a:t>
            </a:r>
          </a:p>
          <a:p xmlns:a="http://schemas.openxmlformats.org/drawingml/2006/main">
            <a:r>
              <a:t>https://github.com/ychavez/CursoNETIA/blob/6a4141e/docs/arquitectura.md</a:t>
            </a:r>
          </a:p>
          <a:p xmlns:a="http://schemas.openxmlformats.org/drawingml/2006/main">
            <a:r>
              <a:t>https://github.com/ychavez/CursoNETIA/blob/6a4141e/src/AulaPedidos.Domain/AulaPedidos.Domain.csproj</a:t>
            </a:r>
          </a:p>
          <a:p xmlns:a="http://schemas.openxmlformats.org/drawingml/2006/main">
            <a:r>
              <a:t>https://github.com/ychavez/CursoNETIA/blob/6a4141e/src/AulaPedidos.Application/AulaPedidos.Application.csproj</a:t>
            </a:r>
          </a:p>
          <a:p xmlns:a="http://schemas.openxmlformats.org/drawingml/2006/main">
            <a:r>
              <a:t>https://github.com/ychavez/CursoNETIA/blob/6a4141e/src/AulaPedidos.Infrastructure/AulaPedidos.Infrastructure.csproj</a:t>
            </a:r>
          </a:p>
          <a:p xmlns:a="http://schemas.openxmlformats.org/drawingml/2006/main">
            <a:r>
              <a:t>https://github.com/ychavez/CursoNETIA/blob/6a4141e/src/AulaPedidos.Api/AulaPedidos.Api.csproj</a:t>
            </a:r>
          </a:p>
          <a:p xmlns:a="http://schemas.openxmlformats.org/drawingml/2006/main">
            <a:r>
              <a:t>https://github.com/ychavez/CursoNETIA/blob/6a4141e/tests/AulaPedidos.IntegrationTests/ArchitectureTests.cs</a:t>
            </a:r>
          </a:p>
          <a:p xmlns:a="http://schemas.openxmlformats.org/drawingml/2006/main">
            <a:r>
              <a:t>https://learn.microsoft.com/en-us/dotnet/architecture/modern-web-apps-azure/common-web-application-architectures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fragmento muestra las propiedades reales de Product. Desde fuera de la clase se pueden leer, pero no asignar directamente. Product.Create construye la entidad y delega en Update; Update normaliza y valida todos los valores antes de cambiar el estado. Esa decisión evita que un nombre nuevo quede aplicado si después se rechaza el precio. Explica la diferencia entre proteger la forma de una entrada y proteger una invariante: el controlador puede validar un DTO, pero el dominio debe conservar su validez aunque lo llame otra entrada. Un setter privado no comprueba por sí mismo ninguna regla; son los métodos los que hacen ese trabajo. Tampoco sustituye los permisos del usuario, que se comprueban en otras capas. Muestra el caso de precio 0.001 y el de producto eliminado. Pregunta: ¿qué fallo produciría asignar Name antes de verificar el precio y cómo lo demostrarían con una prueba?</a:t>
            </a:r>
          </a:p>
          <a:p xmlns:a="http://schemas.openxmlformats.org/drawingml/2006/main">
            <a:r>
              <a:t/>
            </a:r>
          </a:p>
          <a:p xmlns:a="http://schemas.openxmlformats.org/drawingml/2006/main">
            <a:r>
              <a:t>Fuentes:</a:t>
            </a:r>
          </a:p>
          <a:p xmlns:a="http://schemas.openxmlformats.org/drawingml/2006/main">
            <a:r>
              <a:t>https://github.com/ychavez/CursoNETIA/blob/6a4141e/src/AulaPedidos.Domain/Entities/Product.cs</a:t>
            </a:r>
          </a:p>
          <a:p xmlns:a="http://schemas.openxmlformats.org/drawingml/2006/main">
            <a:r>
              <a:t>https://github.com/ychavez/CursoNETIA/blob/6a4141e/tests/AulaPedidos.UnitTests/Domain/ProductTests.cs</a:t>
            </a:r>
          </a:p>
          <a:p xmlns:a="http://schemas.openxmlformats.org/drawingml/2006/main">
            <a:r>
              <a:t>https://github.com/ychavez/CursoNETIA/blob/6a4141e/instructor/clases/02-arquitectura.md</a:t>
            </a:r>
          </a:p>
          <a:p xmlns:a="http://schemas.openxmlformats.org/drawingml/2006/main">
            <a:r>
              <a:t>https://learn.microsoft.com/en-us/dotnet/architecture/modern-web-apps-azure/architectural-principles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Relaciona los tres bloques con los cinco principios. Responsabilidad única significa que un handler no acumula autenticación, cálculo y comunicación externa. Abierto/cerrado orienta a ampliar una capacidad por el puerto existente cuando ese punto de extensión tiene sentido. Sustitución de Liskov exige mantener el comportamiento prometido: cambiar un repositorio por un doble no debería alterar lo que ocurre al buscar un identificador ausente. Segregación de interfaces lleva a contratos ajustados a sus consumidores; no obliga a una interfaz por clase. Inversión de dependencias permite que Application exprese lo que necesita sin importar el adaptador concreto. AulaPedidos combina IRepository&lt;T&gt; con repositorios especializados porque algunas consultas pertenecen a un caso de uso particular. Un error habitual es añadir abstracciones anticipando necesidades que aún no existen. Pregunta al grupo: si añadimos correo electrónico, ¿qué parte del dominio tendría que conocer el protocolo y qué alternativa permite conservar su independencia?</a:t>
            </a:r>
          </a:p>
          <a:p xmlns:a="http://schemas.openxmlformats.org/drawingml/2006/main">
            <a:r>
              <a:t/>
            </a:r>
          </a:p>
          <a:p xmlns:a="http://schemas.openxmlformats.org/drawingml/2006/main">
            <a:r>
              <a:t>Fuentes:</a:t>
            </a:r>
          </a:p>
          <a:p xmlns:a="http://schemas.openxmlformats.org/drawingml/2006/main">
            <a:r>
              <a:t>https://github.com/ychavez/CursoNETIA/blob/6a4141e/docs/arquitectura.md</a:t>
            </a:r>
          </a:p>
          <a:p xmlns:a="http://schemas.openxmlformats.org/drawingml/2006/main">
            <a:r>
              <a:t>https://github.com/ychavez/CursoNETIA/blob/6a4141e/src/AulaPedidos.Application/Abstractions/IRepository.cs</a:t>
            </a:r>
          </a:p>
          <a:p xmlns:a="http://schemas.openxmlformats.org/drawingml/2006/main">
            <a:r>
              <a:t>https://github.com/ychavez/CursoNETIA/blob/6a4141e/src/AulaPedidos.Application/Abstractions/IPersistence.cs</a:t>
            </a:r>
          </a:p>
          <a:p xmlns:a="http://schemas.openxmlformats.org/drawingml/2006/main">
            <a:r>
              <a:t>https://github.com/ychavez/CursoNETIA/blob/6a4141e/src/AulaPedidos.Infrastructure/Notifications/OrderNotification.cs</a:t>
            </a:r>
          </a:p>
          <a:p xmlns:a="http://schemas.openxmlformats.org/drawingml/2006/main">
            <a:r>
              <a:t>https://learn.microsoft.com/en-us/dotnet/architecture/microservices/microservice-ddd-cqrs-patterns/microservice-application-layer-web-api-design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flechas de los contratos a OrderRepository significan resolución de servicios dentro del mismo ámbito. La flecha al contexto significa que esa instancia lo utiliza para consultar y registrar cambios; no representa un guardado automático. En una petición web, el ámbito normalmente coincide con la solicitud. El registro real crea OrderRepository como scoped y hace que las dos interfaces soliciten esa misma instancia. IUnitOfWork se resuelve al AulaPedidosDbContext del ámbito. Esto conserva el grafo del pedido, porque OrderRepository carga Items. Un registro genérico abierto adicional podría resolver una implementación distinta y perder esa carga especializada. Un error habitual es registrar el repositorio como singleton y capturar un DbContext scoped: compartiría estado más allá de su vida prevista. Otro es crear manualmente otro contexto para guardar, desconectado de las entidades cargadas. Pregunta: ¿qué comportamiento habría que probar para demostrar que las dos interfaces conservan las líneas de un pedido?</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https://github.com/ychavez/CursoNETIA/blob/6a4141e/src/AulaPedidos.Infrastructure/DependencyInjection.cs</a:t>
            </a:r>
          </a:p>
          <a:p xmlns:a="http://schemas.openxmlformats.org/drawingml/2006/main">
            <a:r>
              <a:t>https://github.com/ychavez/CursoNETIA/blob/6a4141e/src/AulaPedidos.Infrastructure/Persistence/Repositories.cs</a:t>
            </a:r>
          </a:p>
          <a:p xmlns:a="http://schemas.openxmlformats.org/drawingml/2006/main">
            <a:r>
              <a:t>https://github.com/ychavez/CursoNETIA/blob/6a4141e/docs/repositorio-generico.md</a:t>
            </a:r>
          </a:p>
          <a:p xmlns:a="http://schemas.openxmlformats.org/drawingml/2006/main">
            <a:r>
              <a:t>https://github.com/ychavez/CursoNETIA/blob/6a4141e/tests/AulaPedidos.IntegrationTests/GenericRepositoryTests.cs</a:t>
            </a:r>
          </a:p>
          <a:p xmlns:a="http://schemas.openxmlformats.org/drawingml/2006/main">
            <a:r>
              <a:t>https://learn.microsoft.com/en-us/dotnet/core/extensions/dependency-injection/overview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Repository, CQRS, Mediator, Result y eventos del dominio. IRepository&lt;T&gt; concentra operaciones comunes para raíces de agregado. Los repositorios especializados conservan las consultas del negocio e IUnitOfWork guarda los cambios. No se agrega borrado físico genérico. Muestra también docs/repositorio-generico.md cuando el grupo implemente el contrato.</a:t>
            </a:r>
          </a:p>
          <a:p xmlns:a="http://schemas.openxmlformats.org/drawingml/2006/main">
            <a:r>
              <a:t/>
            </a:r>
          </a:p>
          <a:p xmlns:a="http://schemas.openxmlformats.org/drawingml/2006/main">
            <a:r>
              <a:t>Material del curso: https://github.com/ychavez/CursoNETIA/blob/main/instructor/clases/03-patrones.md</a:t>
            </a:r>
          </a:p>
          <a:p xmlns:a="http://schemas.openxmlformats.org/drawingml/2006/main">
            <a:br/>
            <a:br/>
            <a:r>
              <a:t>Ejemplo para explicar: el caso de uso solicita un producto mediante un contrato. La implementación de EF Core lo busca en la base. IRepository&lt;T&gt; reúne operaciones comunes e IUnitOfWork confirma los cambios. Las consultas específicas permanecen en contratos especializados.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CQRS se traduce como segregación de responsabilidades de comandos y consultas. Un command cambia estado y una query lee datos. Un handler o manejador ejecuta el caso de uso. El proyecto incluye un mediador propio, no depende de MediatR. IRepository&lt;T&gt; acepta raíces de agregado como Product y Order. OrderItem pertenece al pedido. Add prepara el alta y IUnitOfWork.SaveChangesAsync confirma los cambios. Los repositorios especializados conservan consultas específicas. Result expresa éxito o fallo esperado. Los eventos de dominio comunican hechos, como OrderSubmitted. CQRS no exige dos bases, microservicios ni event sourcing.</a:t>
            </a:r>
          </a:p>
          <a:p xmlns:a="http://schemas.openxmlformats.org/drawingml/2006/main">
            <a:r>
              <a:t/>
            </a:r>
          </a:p>
          <a:p xmlns:a="http://schemas.openxmlformats.org/drawingml/2006/main">
            <a:r>
              <a:t>Fuentes:</a:t>
            </a:r>
          </a:p>
          <a:p xmlns:a="http://schemas.openxmlformats.org/drawingml/2006/main">
            <a:r>
              <a:t>https://learn.microsoft.com/en-us/azure/architecture/patterns/cqrs</a:t>
            </a:r>
          </a:p>
          <a:p xmlns:a="http://schemas.openxmlformats.org/drawingml/2006/main">
            <a:r>
              <a:t>https://learn.microsoft.com/en-us/dotnet/architecture/microservices/microservice-ddd-cqrs-patterns/infrastructure-persistence-layer-design</a:t>
            </a:r>
          </a:p>
          <a:p xmlns:a="http://schemas.openxmlformats.org/drawingml/2006/main">
            <a:r>
              <a:t>https://github.com/ychavez/CursoNETIA/blob/main/docs/repositorio-generico.md</a:t>
            </a:r>
          </a:p>
          <a:p xmlns:a="http://schemas.openxmlformats.org/drawingml/2006/main">
            <a:r>
              <a:t>https://github.com/ychavez/CursoNETIA/blob/main/instructor/clases/03-patrones.md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flechas muestran el envío de solicitudes y el despacho al manejador correspondiente. No significan publicación a todos los receptores: cada solicitud tiene un manejador. El mediador real construye el tipo IRequestHandler a partir de la solicitud y la respuesta, lo obtiene del contenedor y llama a Handle. Los registros explícitos están en Application/DependencyInjection.cs. CreateOrderHandler valida la petición, carga productos por lote y coordina el dominio; GetOrderHandler consulta y comprueba a quién pertenece el pedido antes de devolverlo. Esta separación permite razonar sobre lecturas y cambios sin exigir servidores o bases diferentes. Un error habitual es colocar las reglas dentro del mediador o asumir que actúa como una cola durable. Otro es confundir un manejador no registrado con un error del usuario: es un fallo de configuración. Pregunta al grupo: ¿qué cambiaría en el diagrama si quisiéramos enviar notificaciones externas durables y por qué el mediador actual no basta?</a:t>
            </a:r>
          </a:p>
          <a:p xmlns:a="http://schemas.openxmlformats.org/drawingml/2006/main">
            <a:r>
              <a:t/>
            </a:r>
          </a:p>
          <a:p xmlns:a="http://schemas.openxmlformats.org/drawingml/2006/main">
            <a:r>
              <a:t>Fuentes:</a:t>
            </a:r>
          </a:p>
          <a:p xmlns:a="http://schemas.openxmlformats.org/drawingml/2006/main">
            <a:r>
              <a:t>https://github.com/ychavez/CursoNETIA/blob/6a4141e/src/AulaPedidos.Application/Messaging/Mediator.cs</a:t>
            </a:r>
          </a:p>
          <a:p xmlns:a="http://schemas.openxmlformats.org/drawingml/2006/main">
            <a:r>
              <a:t>https://github.com/ychavez/CursoNETIA/blob/6a4141e/src/AulaPedidos.Application/DependencyInjection.cs</a:t>
            </a:r>
          </a:p>
          <a:p xmlns:a="http://schemas.openxmlformats.org/drawingml/2006/main">
            <a:r>
              <a:t>https://github.com/ychavez/CursoNETIA/blob/6a4141e/src/AulaPedidos.Application/Orders/OrderContracts.cs</a:t>
            </a:r>
          </a:p>
          <a:p xmlns:a="http://schemas.openxmlformats.org/drawingml/2006/main">
            <a:r>
              <a:t>https://github.com/ychavez/CursoNETIA/blob/6a4141e/src/AulaPedidos.Application/Orders/OrderHandlers.cs</a:t>
            </a:r>
          </a:p>
          <a:p xmlns:a="http://schemas.openxmlformats.org/drawingml/2006/main">
            <a:r>
              <a:t>https://github.com/ychavez/CursoNETIA/blob/6a4141e/tests/AulaPedidos.UnitTests/Application/MediatorTests.cs</a:t>
            </a:r>
          </a:p>
          <a:p xmlns:a="http://schemas.openxmlformats.org/drawingml/2006/main">
            <a:r>
              <a:t>https://learn.microsoft.com/en-us/azure/architecture/patterns/cqrs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código es el final literal de Repository&lt;T&gt;; la última llave cierra la clase. Add comprueba que la entidad exista y la registra en el conjunto del contexto. No llama a SaveChangesAsync. El contrato genérico, definido en Application, comparte alta y búsqueda por identidad o lote, mientras Infrastructure implementa esas operaciones con EF Core. Explica por qué T está restringido a raíces de agregado: el pedido es responsable de sus líneas, por lo que no introducimos un IRepository&lt;OrderItem&gt; que permita modificarlas sin pasar por Order. Una carga por identidad permite cambiar la entidad mediante sus métodos; una consulta por lote se usa como lectura sin seguimiento. Un error habitual es añadir Update y Delete genéricos para evitar reglas de cancelación o borrado lógico. Otro es creer que Add ya ejecutó el INSERT. Pregunta: ¿qué debe comprobar un test para demostrar que Add no confirma cambios en la base?</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https://github.com/ychavez/CursoNETIA/blob/6a4141e/src/AulaPedidos.Infrastructure/Persistence/Repository.cs</a:t>
            </a:r>
          </a:p>
          <a:p xmlns:a="http://schemas.openxmlformats.org/drawingml/2006/main">
            <a:r>
              <a:t>https://github.com/ychavez/CursoNETIA/blob/6a4141e/src/AulaPedidos.Application/Abstractions/IRepository.cs</a:t>
            </a:r>
          </a:p>
          <a:p xmlns:a="http://schemas.openxmlformats.org/drawingml/2006/main">
            <a:r>
              <a:t>https://github.com/ychavez/CursoNETIA/blob/6a4141e/src/AulaPedidos.Domain/Abstractions/IAggregateRoot.cs</a:t>
            </a:r>
          </a:p>
          <a:p xmlns:a="http://schemas.openxmlformats.org/drawingml/2006/main">
            <a:r>
              <a:t>https://github.com/ychavez/CursoNETIA/blob/6a4141e/docs/repositorio-generico.md</a:t>
            </a:r>
          </a:p>
          <a:p xmlns:a="http://schemas.openxmlformats.org/drawingml/2006/main">
            <a:r>
              <a:t>https://github.com/ychavez/CursoNETIA/blob/6a4141e/tests/AulaPedidos.IntegrationTests/GenericRepositoryTests.cs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esquema representa el cierre real de CreateOrderHandler. Se omiten las validaciones, la carga por lote y la construcción de las líneas; el retorno se divide para que sea legible. Order.Create produce el evento OrderSubmitted y Add registra el agregado. AulaPedidosDbContext, que implementa IUnitOfWork, transforma ese evento en una fila Outbox antes de llamar a SaveChangesAsync de EF Core. Para los proveedores relacionales de este proyecto, esa llamada confirma juntos el pedido y su mensaje, o revierte ambos. Sólo después de guardar se limpian los eventos de la entidad. Esta garantía abarca la base local, no el servicio externo. La entrega se estudia después y admite duplicados. Un error habitual es enviar la notificación antes de confirmar, o borrar el evento antes de saber que se guardó. Pregunta al grupo: si el receptor está apagado, ¿qué información debe seguir en la base para recuperar la notificación?</a:t>
            </a:r>
          </a:p>
          <a:p xmlns:a="http://schemas.openxmlformats.org/drawingml/2006/main">
            <a:r>
              <a:t/>
            </a:r>
          </a:p>
          <a:p xmlns:a="http://schemas.openxmlformats.org/drawingml/2006/main">
            <a:r>
              <a:t>Fuentes:</a:t>
            </a:r>
          </a:p>
          <a:p xmlns:a="http://schemas.openxmlformats.org/drawingml/2006/main">
            <a:r>
              <a:t>https://github.com/ychavez/CursoNETIA/blob/6a4141e/src/AulaPedidos.Application/Orders/OrderHandlers.cs</a:t>
            </a:r>
          </a:p>
          <a:p xmlns:a="http://schemas.openxmlformats.org/drawingml/2006/main">
            <a:r>
              <a:t>https://github.com/ychavez/CursoNETIA/blob/6a4141e/src/AulaPedidos.Domain/Entities/Order.cs</a:t>
            </a:r>
          </a:p>
          <a:p xmlns:a="http://schemas.openxmlformats.org/drawingml/2006/main">
            <a:r>
              <a:t>https://github.com/ychavez/CursoNETIA/blob/6a4141e/src/AulaPedidos.Infrastructure/Persistence/AulaPedidosDbContext.cs</a:t>
            </a:r>
          </a:p>
          <a:p xmlns:a="http://schemas.openxmlformats.org/drawingml/2006/main">
            <a:r>
              <a:t>https://github.com/ychavez/CursoNETIA/blob/6a4141e/src/AulaPedidos.Domain/Events/OrderSubmitted.cs</a:t>
            </a:r>
          </a:p>
          <a:p xmlns:a="http://schemas.openxmlformats.org/drawingml/2006/main">
            <a:r>
              <a:t>https://learn.microsoft.com/en-us/ef/core/saving/transactions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 dos preguntas distintas para separar conceptos: «¿qué debo responder a quien pidió esta operación?» y «¿qué hecho acaba de ocurrir en el negocio?». Result contesta la primera mediante éxito o error esperado; sus categorías reales son Validation, NotFound, Conflict y Forbidden. OrderSubmitted contesta la segunda y contiene identidad, momento, pedido, total y cliente. No es una instrucción para que el mediador vuelva a crear el pedido. El caso de lectura puede devolver NotFound sin lanzar una excepción de infraestructura ni generar un evento de creación. Un error habitual es capturar cualquier excepción y convertirla en un resultado de validación, ocultando una conexión caída o una configuración incorrecta. Otro es tratar el evento como prueba de entrega externa: esa entrega requiere persistencia y procesamiento posteriores. Pregunta al grupo: ¿qué devolverían al solicitante ante un pedido ajeno y qué evento de negocio, si alguno, debería producir esa consulta?</a:t>
            </a:r>
          </a:p>
          <a:p xmlns:a="http://schemas.openxmlformats.org/drawingml/2006/main">
            <a:r>
              <a:t/>
            </a:r>
          </a:p>
          <a:p xmlns:a="http://schemas.openxmlformats.org/drawingml/2006/main">
            <a:r>
              <a:t>Fuentes:</a:t>
            </a:r>
          </a:p>
          <a:p xmlns:a="http://schemas.openxmlformats.org/drawingml/2006/main">
            <a:r>
              <a:t>https://github.com/ychavez/CursoNETIA/blob/6a4141e/src/AulaPedidos.Application/Common/Result.cs</a:t>
            </a:r>
          </a:p>
          <a:p xmlns:a="http://schemas.openxmlformats.org/drawingml/2006/main">
            <a:r>
              <a:t>https://github.com/ychavez/CursoNETIA/blob/6a4141e/src/AulaPedidos.Application/Orders/OrderHandlers.cs</a:t>
            </a:r>
          </a:p>
          <a:p xmlns:a="http://schemas.openxmlformats.org/drawingml/2006/main">
            <a:r>
              <a:t>https://github.com/ychavez/CursoNETIA/blob/6a4141e/src/AulaPedidos.Domain/Events/OrderSubmitted.cs</a:t>
            </a:r>
          </a:p>
          <a:p xmlns:a="http://schemas.openxmlformats.org/drawingml/2006/main">
            <a:r>
              <a:t>https://github.com/ychavez/CursoNETIA/blob/6a4141e/src/AulaPedidos.Domain/Entities/Order.cs</a:t>
            </a:r>
          </a:p>
          <a:p xmlns:a="http://schemas.openxmlformats.org/drawingml/2006/main">
            <a:r>
              <a:t>https://github.com/ychavez/CursoNETIA/blob/6a4141e/instructor/clases/03-patrones.md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 REST y los contratos de entrada y salida. Implementaremos endpoints para catálogo y pedidos, validación, códigos HTTP, ProblemDetails, versión de API y documentación OpenAPI. Los errores deben comunicar qué pasó sin revelar detalles internos.</a:t>
            </a:r>
          </a:p>
          <a:p xmlns:a="http://schemas.openxmlformats.org/drawingml/2006/main">
            <a:r>
              <a:t/>
            </a:r>
          </a:p>
          <a:p xmlns:a="http://schemas.openxmlformats.org/drawingml/2006/main">
            <a:r>
              <a:t>Material del curso: https://github.com/ychavez/CursoNETIA/blob/main/instructor/clases/04-api.md</a:t>
            </a:r>
          </a:p>
          <a:p xmlns:a="http://schemas.openxmlformats.org/drawingml/2006/main">
            <a:br/>
            <a:br/>
            <a:r>
              <a:t>Ejemplo para explicar: al crear un pedido, el cliente envía productos y cantidades. El contrato define los datos requeridos y la respuesta esperada. Si una entrada es inválida, la API devuelve un error comprensible y consistente.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significa interfaz de programación de aplicaciones. DTO significa objeto de transferencia de datos: define la forma de los datos de entrada o salida. REST significa transferencia de estado representacional y es un estilo arquitectónico con restricciones, no simplemente devolver JSON. HTTP, Hypertext Transfer Protocol, es el protocolo utilizado para intercambiar peticiones y respuestas. GET consulta; POST solicita crear en este ejemplo. OpenAPI es la descripción estandarizada y Swagger UI es una interfaz que usa esa descripción. El DTO de entrada limita los campos aceptados: por ejemplo, el cliente de AulaPedidos no decide el total del pedido. La respuesta 201 corresponde a una creación válida y autorizada. La documentación debe coincidir con el comportamiento real.</a:t>
            </a:r>
          </a:p>
          <a:p xmlns:a="http://schemas.openxmlformats.org/drawingml/2006/main">
            <a:r>
              <a:t/>
            </a:r>
          </a:p>
          <a:p xmlns:a="http://schemas.openxmlformats.org/drawingml/2006/main">
            <a:r>
              <a:t>Fuentes:</a:t>
            </a:r>
          </a:p>
          <a:p xmlns:a="http://schemas.openxmlformats.org/drawingml/2006/main">
            <a:r>
              <a:t>https://learn.microsoft.com/en-us/azure/architecture/best-practices/api-design</a:t>
            </a:r>
          </a:p>
          <a:p xmlns:a="http://schemas.openxmlformats.org/drawingml/2006/main">
            <a:r>
              <a:t>https://learn.microsoft.com/en-us/aspnet/web-api/overview/data/using-web-api-with-entity-framework/part-5</a:t>
            </a:r>
          </a:p>
          <a:p xmlns:a="http://schemas.openxmlformats.org/drawingml/2006/main">
            <a:r>
              <a:t>https://spec.openapis.org/oas/v3.1.1.html</a:t>
            </a:r>
          </a:p>
          <a:p xmlns:a="http://schemas.openxmlformats.org/drawingml/2006/main">
            <a:r>
              <a:t>https://github.com/ychavez/CursoNETIA/blob/main/src/AulaPedidos.Api/Controllers/ProductsController.cs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Partimos de una solicitud autenticada: crear el producto CURSO-001 con nombre Licencia y precio 1500. El cliente envía JSON y ASP.NET Core lo enlaza a ProductInput. API significa Application Programming Interface, una interfaz de programación de aplicaciones. DTO significa Data Transfer Object, un objeto para transportar datos. El DTO de entrada expresa el contrato público; no exponemos directamente una entidad de EF. El controller construye CreateProductCommand y lo envía al mediador. El handler consulta el SKU, usa Product.Create y confirma la unidad de trabajo. Finalmente, el controller transforma Result en una respuesta HTTP. El diagrama resume el camino y omite autenticación y persistencia, que detallaremos después. Un error frecuente es poner consultas SQL o reglas de precio dentro del controller. Pregunta: si mañana recibimos el mismo caso de uso desde una tarea interna, ¿qué lógica debería poder reutilizarse?</a:t>
            </a:r>
          </a:p>
          <a:p xmlns:a="http://schemas.openxmlformats.org/drawingml/2006/main">
            <a:r>
              <a:t/>
            </a:r>
          </a:p>
          <a:p xmlns:a="http://schemas.openxmlformats.org/drawingml/2006/main">
            <a:r>
              <a:t>Fuentes:</a:t>
            </a:r>
          </a:p>
          <a:p xmlns:a="http://schemas.openxmlformats.org/drawingml/2006/main">
            <a:r>
              <a:t>https://github.com/ychavez/CursoNETIA/blob/6a4141e/src/AulaPedidos.Api/Controllers/ProductsController.cs</a:t>
            </a:r>
          </a:p>
          <a:p xmlns:a="http://schemas.openxmlformats.org/drawingml/2006/main">
            <a:r>
              <a:t>https://github.com/ychavez/CursoNETIA/blob/6a4141e/src/AulaPedidos.Application/Products/ProductContracts.cs</a:t>
            </a:r>
          </a:p>
          <a:p xmlns:a="http://schemas.openxmlformats.org/drawingml/2006/main">
            <a:r>
              <a:t>https://github.com/ychavez/CursoNETIA/blob/6a4141e/src/AulaPedidos.Application/Products/ProductHandlers.cs</a:t>
            </a:r>
          </a:p>
          <a:p xmlns:a="http://schemas.openxmlformats.org/drawingml/2006/main">
            <a:r>
              <a:t>https://learn.microsoft.com/en-us/aspnet/core/web-api/?view=aspnetcore-10.0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fragmento es ProductInput del proyecto, con saltos de línea ajustados para leerlo en pantalla. Required y StringLength expresan restricciones del contrato; Range limita el precio admitido. Gracias a ApiController, los errores de validación del modelo generan 400 sin escribir el mismo if en cada acción. Probar un precio de cero y mostrar que el handler no necesita ejecutarse. Después, usar un precio válido y repetir un SKU existente: esa situación depende del estado del sistema y genera un conflicto. La base también mantiene un índice único porque dos solicitudes podrían superar simultáneamente una consulta previa. Las reglas del dominio siguen siendo necesarias si la operación llega por otra entrada. Error habitual: confiar en la validación de pantalla o pedir a Copilot que quite validaciones para pasar una prueba. Pregunta: ¿qué validación puede realizarse sin consultar ningún registro?</a:t>
            </a:r>
          </a:p>
          <a:p xmlns:a="http://schemas.openxmlformats.org/drawingml/2006/main">
            <a:r>
              <a:t/>
            </a:r>
          </a:p>
          <a:p xmlns:a="http://schemas.openxmlformats.org/drawingml/2006/main">
            <a:r>
              <a:t>Fuentes:</a:t>
            </a:r>
          </a:p>
          <a:p xmlns:a="http://schemas.openxmlformats.org/drawingml/2006/main">
            <a:r>
              <a:t>https://github.com/ychavez/CursoNETIA/blob/6a4141e/src/AulaPedidos.Api/Controllers/ProductsController.cs</a:t>
            </a:r>
          </a:p>
          <a:p xmlns:a="http://schemas.openxmlformats.org/drawingml/2006/main">
            <a:r>
              <a:t>https://github.com/ychavez/CursoNETIA/blob/6a4141e/src/AulaPedidos.Application/Products/ProductHandlers.cs</a:t>
            </a:r>
          </a:p>
          <a:p xmlns:a="http://schemas.openxmlformats.org/drawingml/2006/main">
            <a:r>
              <a:t>https://github.com/ychavez/CursoNETIA/blob/6a4141e/src/AulaPedidos.Domain/Entities/Product.cs</a:t>
            </a:r>
          </a:p>
          <a:p xmlns:a="http://schemas.openxmlformats.org/drawingml/2006/main">
            <a:r>
              <a:t>https://github.com/ychavez/CursoNETIA/blob/6a4141e/src/AulaPedidos.Infrastructure/Persistence/EntityConfigurations.cs</a:t>
            </a:r>
          </a:p>
          <a:p xmlns:a="http://schemas.openxmlformats.org/drawingml/2006/main">
            <a:r>
              <a:t>https://learn.microsoft.com/en-us/aspnet/core/web-api/?view=aspnetcore-10.0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fragmento pertenece al argumento statusCode de controller.Problem; se muestra únicamente el switch, con el formato adaptado. El handler devuelve un Result con un Error y la API decide su representación HTTP. Para el alumno conviene comparar tres solicitudes: precio inválido, GUID válido sin producto y actualización con versión antigua. Deben producir respuestas diferentes aunque ninguna complete la operación. ResultExtensions añade la extensión code. El middleware de excepciones trata conflictos de persistencia como 409 y fallos inesperados como 500; el proyecto añade correlación mediante traceId en su configuración de errores. No prometemos un cuerpo idéntico para cada origen de error sin revisar el contrato real. Un GUID que incumple la restricción de ruta puede producir 404 antes del DTO. Error habitual: devolver 200 con un texto que dice error. Pregunta: ¿qué debe hacer una interfaz al recibir 409 y por qué no conviene reintentar ciegamente?</a:t>
            </a:r>
          </a:p>
          <a:p xmlns:a="http://schemas.openxmlformats.org/drawingml/2006/main">
            <a:r>
              <a:t/>
            </a:r>
          </a:p>
          <a:p xmlns:a="http://schemas.openxmlformats.org/drawingml/2006/main">
            <a:r>
              <a:t>Fuentes:</a:t>
            </a:r>
          </a:p>
          <a:p xmlns:a="http://schemas.openxmlformats.org/drawingml/2006/main">
            <a:r>
              <a:t>https://github.com/ychavez/CursoNETIA/blob/6a4141e/src/AulaPedidos.Api/Controllers/ResultExtensions.cs</a:t>
            </a:r>
          </a:p>
          <a:p xmlns:a="http://schemas.openxmlformats.org/drawingml/2006/main">
            <a:r>
              <a:t>https://github.com/ychavez/CursoNETIA/blob/6a4141e/src/AulaPedidos.Api/Operations/ApiExceptionHandler.cs</a:t>
            </a:r>
          </a:p>
          <a:p xmlns:a="http://schemas.openxmlformats.org/drawingml/2006/main">
            <a:r>
              <a:t>https://github.com/ychavez/CursoNETIA/blob/6a4141e/src/AulaPedidos.Api/Program.cs</a:t>
            </a:r>
          </a:p>
          <a:p xmlns:a="http://schemas.openxmlformats.org/drawingml/2006/main">
            <a:r>
              <a:t>https://github.com/ychavez/CursoNETIA/blob/6a4141e/docs/api.md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Swagger UI con la aplicación local y revisar POST de productos. Sus atributos anuncian ProductDto y estado 201. CreatedAtAction usa la acción Get para construir la dirección del producto creado; Location evita que el cliente tenga que adivinarla. La eliminación devuelve 204, por lo que el cliente no debe intentar deserializar un ProductDto de esa respuesta. En este proyecto eliminar significa borrado lógico y requiere version como parámetro de consulta. OpenAPI es la descripción del contrato; Swagger UI es una herramienta que lo presenta. En la referencia ambos se publican solamente en Development, y el documento incluye el esquema Bearer para probar autenticación. Los atributos visibles no sustituyen pruebas de contrato ni demuestran que todos los errores estén documentados. Error habitual: confundir una página de Swagger accesible con endpoints sin autorización. Pregunta: ¿qué evidencia revisaríamos para comprobar que documentación, respuesta y cliente coinciden?</a:t>
            </a:r>
          </a:p>
          <a:p xmlns:a="http://schemas.openxmlformats.org/drawingml/2006/main">
            <a:r>
              <a:t/>
            </a:r>
          </a:p>
          <a:p xmlns:a="http://schemas.openxmlformats.org/drawingml/2006/main">
            <a:r>
              <a:t>Fuentes:</a:t>
            </a:r>
          </a:p>
          <a:p xmlns:a="http://schemas.openxmlformats.org/drawingml/2006/main">
            <a:r>
              <a:t>https://github.com/ychavez/CursoNETIA/blob/6a4141e/src/AulaPedidos.Api/Controllers/ProductsController.cs</a:t>
            </a:r>
          </a:p>
          <a:p xmlns:a="http://schemas.openxmlformats.org/drawingml/2006/main">
            <a:r>
              <a:t>https://github.com/ychavez/CursoNETIA/blob/6a4141e/src/AulaPedidos.Api/Operations/BearerOpenApiTransformer.cs</a:t>
            </a:r>
          </a:p>
          <a:p xmlns:a="http://schemas.openxmlformats.org/drawingml/2006/main">
            <a:r>
              <a:t>https://github.com/ychavez/CursoNETIA/blob/6a4141e/src/AulaPedidos.Api/Program.cs</a:t>
            </a:r>
          </a:p>
          <a:p xmlns:a="http://schemas.openxmlformats.org/drawingml/2006/main">
            <a:r>
              <a:t>https://github.com/ychavez/CursoNETIA/blob/6a4141e/docs/api.md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 Core traduce operaciones del modelo a la base de datos. Trabajaremos relaciones, migraciones, auditoría, borrado lógico, concurrencia y consultas eficientes. La ruta inicial utiliza SQLite. El curso incluye SQL Server mediante contenedores y migraciones para ambos proveedores.</a:t>
            </a:r>
          </a:p>
          <a:p xmlns:a="http://schemas.openxmlformats.org/drawingml/2006/main">
            <a:r>
              <a:t/>
            </a:r>
          </a:p>
          <a:p xmlns:a="http://schemas.openxmlformats.org/drawingml/2006/main">
            <a:r>
              <a:t>Material del curso: https://github.com/ychavez/CursoNETIA/blob/main/instructor/clases/05-datos.md</a:t>
            </a:r>
          </a:p>
          <a:p xmlns:a="http://schemas.openxmlformats.org/drawingml/2006/main">
            <a:br/>
            <a:br/>
            <a:r>
              <a:t>Ejemplo para explicar: una relación asocia un pedido con sus líneas. Al cambiar el modelo, una migración registra cómo evoluciona la estructura. Revisamos las consultas y los cambios simultáneos para proteger la consistencia de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ORM como una correspondencia entre objetos del programa y estructuras de una base relacional. Mostrar Product, su configuración y la tabla Products. El proveedor traduce operaciones de EF Core a la tecnología de datos elegida. El curso usa SQLite y SQL Server con migraciones propias. DbContext mantiene seguimiento de los cambios cuando corresponde. En nuestro flujo, el repositorio Add registra el nuevo objeto e IUnitOfWork.SaveChangesAsync confirma la operación mediante el contexto. El ejemplo de INSERT presupone que agregamos un producto nuevo al seguimiento antes de guardar. Una migración describe la evolución del esquema: generarla no equivale a aplicarla. Revisamos su código y SQL antes de ejecutarla. EF Core reduce trabajo repetitivo y el equipo sigue revisando consultas, índices, relaciones y concurrencia. SQL significa Structured Query Language, lenguaje de consulta estructurada.</a:t>
            </a:r>
          </a:p>
          <a:p xmlns:a="http://schemas.openxmlformats.org/drawingml/2006/main">
            <a:r>
              <a:t/>
            </a:r>
          </a:p>
          <a:p xmlns:a="http://schemas.openxmlformats.org/drawingml/2006/main">
            <a:r>
              <a:t>Fuentes:</a:t>
            </a:r>
          </a:p>
          <a:p xmlns:a="http://schemas.openxmlformats.org/drawingml/2006/main">
            <a:r>
              <a:t>https://learn.microsoft.com/ef/core/</a:t>
            </a:r>
          </a:p>
          <a:p xmlns:a="http://schemas.openxmlformats.org/drawingml/2006/main">
            <a:r>
              <a:t>https://learn.microsoft.com/en-us/ef/core/managing-schemas/migrations/</a:t>
            </a:r>
          </a:p>
          <a:p xmlns:a="http://schemas.openxmlformats.org/drawingml/2006/main">
            <a:r>
              <a:t>https://github.com/ychavez/CursoNETIA/blob/main/src/AulaPedidos.Infrastructure/Persistence/EntityConfigurations.cs</a:t>
            </a:r>
          </a:p>
          <a:p xmlns:a="http://schemas.openxmlformats.org/drawingml/2006/main">
            <a:r>
              <a:t>https://github.com/ychavez/CursoNETIA/blob/main/src/AulaPedidos.Infrastructure/Persistence/Repository.cs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ORM significa Object-Relational Mapper, mapeador objeto-relacional. EF Core permite trabajar con objetos de C# y traduce consultas y cambios mediante el proveedor de la base. Aquí la configuración une Product con Products, declara la clave e indica que el identificador ya lo genera el dominio. HasPrecision expresa el modelo esperado para Price; no debemos asumir que SQLite y SQL Server aplican todos los tipos y restricciones de forma idéntica. El índice único de SKU protege la integridad incluso si hay solicitudes concurrentes. HasQueryFilter excluye IsDeleted en las consultas normales, pero no borra físicamente las filas ni es una frontera completa de autorización. Version se configura como token de concurrencia. Es un GUID de la aplicación y no el tipo rowversion de SQL Server. Error frecuente: pensar que usar un ORM elimina la necesidad de entender SQL. Pregunta: ¿cuál de estas líneas evita dos productos con el mismo SKU?</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https://github.com/ychavez/CursoNETIA/blob/6a4141e/src/AulaPedidos.Infrastructure/Persistence/EntityConfigurations.cs</a:t>
            </a:r>
          </a:p>
          <a:p xmlns:a="http://schemas.openxmlformats.org/drawingml/2006/main">
            <a:r>
              <a:t>https://github.com/ychavez/CursoNETIA/blob/6a4141e/src/AulaPedidos.Domain/Entities/Product.cs</a:t>
            </a:r>
          </a:p>
          <a:p xmlns:a="http://schemas.openxmlformats.org/drawingml/2006/main">
            <a:r>
              <a:t>https://learn.microsoft.com/en-us/ef/core/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Imaginemos un producto cuyo precio cambia de 100 a 120. GetByIdAsync devuelve una entidad con seguimiento. Product.Update valida y modifica el objeto; SaveChangesAsync detecta cambios y ejecuta la persistencia. Repository.Add tampoco confirma por sí solo: deja la entidad pendiente hasta que IUnitOfWork guarda. Los repositorios genéricos y específicos comparten el mismo DbContext scoped, por lo que un caso de uso decide cuándo confirmar el conjunto. Para lectura, GetByIdsAsync y los listados usan AsNoTracking: cambiar esos objetos no basta para que el contexto persista una modificación. El override de SaveChanges actualiza CreatedAt, UpdatedAt y Version, y convierte eventos del pedido en mensajes Outbox antes de guardar todo en una transacción relacional. Esa transacción no incluye una llamada HTTP posterior. Error frecuente: usar un DbContext singleton o guardarlo en cada método del repositorio. Pregunta: ¿por qué Add no equivale a una fila confirmada?</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https://github.com/ychavez/CursoNETIA/blob/6a4141e/src/AulaPedidos.Infrastructure/Persistence/Repository.cs</a:t>
            </a:r>
          </a:p>
          <a:p xmlns:a="http://schemas.openxmlformats.org/drawingml/2006/main">
            <a:r>
              <a:t>https://github.com/ychavez/CursoNETIA/blob/6a4141e/src/AulaPedidos.Infrastructure/Persistence/AulaPedidosDbContext.cs</a:t>
            </a:r>
          </a:p>
          <a:p xmlns:a="http://schemas.openxmlformats.org/drawingml/2006/main">
            <a:r>
              <a:t>https://github.com/ychavez/CursoNETIA/blob/6a4141e/src/AulaPedidos.Infrastructure/DependencyInjection.cs</a:t>
            </a:r>
          </a:p>
          <a:p xmlns:a="http://schemas.openxmlformats.org/drawingml/2006/main">
            <a:r>
              <a:t>https://github.com/ychavez/CursoNETIA/blob/6a4141e/src/AulaPedidos.Application/Products/ProductHandlers.cs</a:t>
            </a:r>
          </a:p>
          <a:p xmlns:a="http://schemas.openxmlformats.org/drawingml/2006/main">
            <a:r>
              <a:t>https://learn.microsoft.com/en-us/ef/core/change-tracking/</a:t>
            </a:r>
          </a:p>
          <a:p xmlns:a="http://schemas.openxmlformats.org/drawingml/2006/main">
            <a:r>
              <a:t>https://learn.microsoft.com/en-us/ef/core/querying/tracking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fragmento corresponde al listado de productos y sólo cambia los saltos de línea. LINQ significa Language Integrated Query: permite construir consultas con el lenguaje C#. Query conserva el filtro de borrado lógico, AsNoTracking evita seguimiento innecesario y OrderBy ofrece un orden definido antes de paginar. Con página dos y tamaño veinte, PageRequest calcula Skip igual a veinte. CountAsync y ToListAsync son operaciones separadas: contamos el total y obtenemos la página. No afirmaremos que existe una única consulta SQL para ambas. Un error habitual es ejecutar ToListAsync antes de filtrar o paginar, trasladando trabajo y datos a memoria. En pedidos también hay filtro por dueño y carga de Items. Al crear un pedido, GetByIdsAsync obtiene los productos por lote para evitar una consulta por línea. Verificaremos las consultas en el motor real antes de asegurar una mejora de rendimiento. Pregunta: ¿qué cambia si existen cien mil productos y paginamos después de cargarlos?</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https://github.com/ychavez/CursoNETIA/blob/6a4141e/src/AulaPedidos.Infrastructure/Persistence/Repositories.cs</a:t>
            </a:r>
          </a:p>
          <a:p xmlns:a="http://schemas.openxmlformats.org/drawingml/2006/main">
            <a:r>
              <a:t>https://github.com/ychavez/CursoNETIA/blob/6a4141e/src/AulaPedidos.Application/Common/Pagination.cs</a:t>
            </a:r>
          </a:p>
          <a:p xmlns:a="http://schemas.openxmlformats.org/drawingml/2006/main">
            <a:r>
              <a:t>https://github.com/ychavez/CursoNETIA/blob/6a4141e/src/AulaPedidos.Application/Orders/OrderHandlers.cs</a:t>
            </a:r>
          </a:p>
          <a:p xmlns:a="http://schemas.openxmlformats.org/drawingml/2006/main">
            <a:r>
              <a:t>https://github.com/ychavez/CursoNETIA/blob/6a4141e/docs/rendimiento-sql.md</a:t>
            </a:r>
          </a:p>
          <a:p xmlns:a="http://schemas.openxmlformats.org/drawingml/2006/main">
            <a:r>
              <a:t>https://learn.microsoft.com/en-us/ef/core/querying/tracking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 importante separar dos significados de versión. Las migraciones conservan la evolución del esquema: tablas, columnas e índices. La referencia tiene carpetas y contextos distintos para SQLite y SQL Server. ExactCustomerIdentity modifica la collation de CustomerId en SQL Server para respetar identificadores sensibles a mayúsculas; aplicar el modelo requiere su migración, no sólo cambiar C#. Version pertenece a cada producto o pedido y representa concurrencia optimista. Ana y Luis leen un producto de precio 100 con el mismo GUID, que llamamos A para simplificar. Ana cambia a 110 y guarda un nuevo GUID B. Luis intenta 120 usando A y recibe 409. Además de la comprobación del handler, EF detecta carreras durante el guardado mediante el token. Una migración inversa no recupera datos eliminados y un reintento no resuelve por sí solo decisiones concurrentes. Pregunta: ¿qué información necesita Luis antes de volver a guardar?</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https://github.com/ychavez/CursoNETIA/blob/6a4141e/src/AulaPedidos.Infrastructure/Persistence/Migrations/SqlServer/20260929145219_ExactCustomerIdentity.cs</a:t>
            </a:r>
          </a:p>
          <a:p xmlns:a="http://schemas.openxmlformats.org/drawingml/2006/main">
            <a:r>
              <a:t>https://github.com/ychavez/CursoNETIA/blob/6a4141e/src/AulaPedidos.Infrastructure/Persistence/EntityConfigurations.cs</a:t>
            </a:r>
          </a:p>
          <a:p xmlns:a="http://schemas.openxmlformats.org/drawingml/2006/main">
            <a:r>
              <a:t>https://github.com/ychavez/CursoNETIA/blob/6a4141e/src/AulaPedidos.Infrastructure/Persistence/AulaPedidosDbContext.cs</a:t>
            </a:r>
          </a:p>
          <a:p xmlns:a="http://schemas.openxmlformats.org/drawingml/2006/main">
            <a:r>
              <a:t>https://github.com/ychavez/CursoNETIA/blob/6a4141e/src/AulaPedidos.Application/Products/ProductHandlers.cs</a:t>
            </a:r>
          </a:p>
          <a:p xmlns:a="http://schemas.openxmlformats.org/drawingml/2006/main">
            <a:r>
              <a:t>https://github.com/ychavez/CursoNETIA/blob/6a4141e/src/AulaPedidos.Api/Operations/ApiExceptionHandler.cs</a:t>
            </a:r>
          </a:p>
          <a:p xmlns:a="http://schemas.openxmlformats.org/drawingml/2006/main">
            <a:r>
              <a:t>https://learn.microsoft.com/en-us/ef/core/managing-schemas/migrations/</a:t>
            </a:r>
          </a:p>
          <a:p xmlns:a="http://schemas.openxmlformats.org/drawingml/2006/main">
            <a:r>
              <a:t>https://learn.microsoft.com/en-us/ef/core/saving/concurrency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 autenticación de autorización. Veremos roles, permisos y autorización por recurso: tener un token no permite consultar cualquier pedido. Incluye riesgos OWASP relevantes. Los JWT del laboratorio son temporales y se generan localmente. La etapa productiva requiere un proveedor de identidad real.</a:t>
            </a:r>
          </a:p>
          <a:p xmlns:a="http://schemas.openxmlformats.org/drawingml/2006/main">
            <a:r>
              <a:t/>
            </a:r>
          </a:p>
          <a:p xmlns:a="http://schemas.openxmlformats.org/drawingml/2006/main">
            <a:r>
              <a:t>Material del curso: https://github.com/ychavez/CursoNETIA/blob/main/instructor/clases/06-seguridad.md</a:t>
            </a:r>
          </a:p>
          <a:p xmlns:a="http://schemas.openxmlformats.org/drawingml/2006/main">
            <a:br/>
            <a:br/>
            <a:r>
              <a:t>Ejemplo para explicar: dos usuarios pueden tener un JWT válido, pero no deben poder consultar los pedidos del otro. Probaremos el acceso por propietario y los permisos exigidos por cada operación, incluidos los rechazos esperados.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AulaPedidos usamos JWT firmados. La API valida firma, emisor, destinatario y expiración antes de aceptar al usuario. Una firma protege la integridad, no cifra el contenido. No guardamos contraseñas dentro del token. La autenticación comprueba la identidad y la autorización aplica permisos. Además se comprueba el propietario del recurso concreto. El ejemplo de Ana y Luis representa solicitudes con identidades distintas. El generador local es una herramienta del laboratorio y no un inicio de sesión productivo. Para producción se plantea un proveedor de identidad real. Distinguir un token ausente o inválido de un usuario que carece de permiso y explicar 401/403 según el flujo correspondiente.</a:t>
            </a:r>
          </a:p>
          <a:p xmlns:a="http://schemas.openxmlformats.org/drawingml/2006/main">
            <a:r>
              <a:t/>
            </a:r>
          </a:p>
          <a:p xmlns:a="http://schemas.openxmlformats.org/drawingml/2006/main">
            <a:r>
              <a:t>Fuentes:</a:t>
            </a:r>
          </a:p>
          <a:p xmlns:a="http://schemas.openxmlformats.org/drawingml/2006/main">
            <a:r>
              <a:t>https://learn.microsoft.com/en-us/aspnet/core/security/authentication/configure-jwt-bearer-authentication?view=aspnetcore-10.0</a:t>
            </a:r>
          </a:p>
          <a:p xmlns:a="http://schemas.openxmlformats.org/drawingml/2006/main">
            <a:r>
              <a:t>https://www.rfc-editor.org/info/rfc7519/</a:t>
            </a:r>
          </a:p>
          <a:p xmlns:a="http://schemas.openxmlformats.org/drawingml/2006/main">
            <a:r>
              <a:t>https://github.com/ychavez/CursoNETIA/blob/main/instructor/clases/06-seguridad.md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cliente coloca el token en Authorization con el esquema Bearer. La API debe validar su firma, emisor, audiencia y vigencia antes de confiar en sus claims, que son afirmaciones transportadas como datos. El claim sub identifica al sujeto; permission y role se usan en las políticas del curso. Primero se establece identidad mediante UseAuthentication, después se evalúa autorización con UseAuthorization y finalmente el caso de uso comprueba el recurso. Las tres preguntas son distintas: tener un token válido no otorga todos los permisos, y tener permiso para leer pedidos no permite leer cualquier pedido. Un token inválido genera 401; una identidad válida sin permiso o sin propiedad genera 403 en esta referencia. El precio de las líneas y el CustomerId tampoco se aceptan como autoridad desde el body. Error frecuente: tratar un payload decodificado como validado. Pregunta: ¿en qué punto bloquearíamos a un usuario que conoce el GUID del pedido de otra persona?</a:t>
            </a:r>
          </a:p>
          <a:p xmlns:a="http://schemas.openxmlformats.org/drawingml/2006/main">
            <a:r>
              <a:t/>
            </a:r>
          </a:p>
          <a:p xmlns:a="http://schemas.openxmlformats.org/drawingml/2006/main">
            <a:r>
              <a:t>Fuentes:</a:t>
            </a:r>
          </a:p>
          <a:p xmlns:a="http://schemas.openxmlformats.org/drawingml/2006/main">
            <a:r>
              <a:t>https://github.com/ychavez/CursoNETIA/blob/6a4141e/src/AulaPedidos.Api/Program.cs</a:t>
            </a:r>
          </a:p>
          <a:p xmlns:a="http://schemas.openxmlformats.org/drawingml/2006/main">
            <a:r>
              <a:t>https://github.com/ychavez/CursoNETIA/blob/6a4141e/src/AulaPedidos.Api/Security/AuthenticationExtensions.cs</a:t>
            </a:r>
          </a:p>
          <a:p xmlns:a="http://schemas.openxmlformats.org/drawingml/2006/main">
            <a:r>
              <a:t>https://github.com/ychavez/CursoNETIA/blob/6a4141e/src/AulaPedidos.Application/Orders/OrderHandlers.cs</a:t>
            </a:r>
          </a:p>
          <a:p xmlns:a="http://schemas.openxmlformats.org/drawingml/2006/main">
            <a:r>
              <a:t>https://github.com/ychavez/CursoNETIA/blob/6a4141e/docs/seguridad.md</a:t>
            </a:r>
          </a:p>
          <a:p xmlns:a="http://schemas.openxmlformats.org/drawingml/2006/main">
            <a:r>
              <a:t>https://learn.microsoft.com/en-us/aspnet/core/security/authentication/configure-jwt-bearer-authentication?view=aspnetcore-10.0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código mostrado está dentro de TokenValidationParameters del modo demo, con el formato ajustado. Issuer es el emisor esperado; Audience identifica a quién va dirigido el token; Lifetime y RequireExpirationTime exigen vigencia. La clave permite comprobar la firma y ValidAlgorithms restringe el algoritmo aceptado. No enseñamos una clave ni un token reales: key es una variable tomada de la configuración local. La rama demo está prohibida fuera de Development. Para un entorno real se configura Authority y Audience de un proveedor OIDC, OpenID Connect, que se ocupa de la identidad y su ciclo de vida. La API además verifica un sub no vacío, sin espacios extremos y de longitud limitada. Error frecuente: desactivar ValidateIssuer o ValidateAudience para hacer funcionar un token de otro sistema. Mostrar dos solicitudes idénticas, cambiando únicamente un token válido por otro manipulado. Pregunta: ¿por qué conocer el contenido del token no demuestra que sea auténtico?</a:t>
            </a:r>
          </a:p>
          <a:p xmlns:a="http://schemas.openxmlformats.org/drawingml/2006/main">
            <a:r>
              <a:t/>
            </a:r>
          </a:p>
          <a:p xmlns:a="http://schemas.openxmlformats.org/drawingml/2006/main">
            <a:r>
              <a:t>Fuentes:</a:t>
            </a:r>
          </a:p>
          <a:p xmlns:a="http://schemas.openxmlformats.org/drawingml/2006/main">
            <a:r>
              <a:t>https://github.com/ychavez/CursoNETIA/blob/6a4141e/src/AulaPedidos.Api/Security/AuthenticationExtensions.cs</a:t>
            </a:r>
          </a:p>
          <a:p xmlns:a="http://schemas.openxmlformats.org/drawingml/2006/main">
            <a:r>
              <a:t>https://github.com/ychavez/CursoNETIA/blob/main/tools/AulaPedidos.CourseTools/TokenService.cs</a:t>
            </a:r>
          </a:p>
          <a:p xmlns:a="http://schemas.openxmlformats.org/drawingml/2006/main">
            <a:r>
              <a:t>https://github.com/ychavez/CursoNETIA/blob/6a4141e/docs/seguridad.md</a:t>
            </a:r>
          </a:p>
          <a:p xmlns:a="http://schemas.openxmlformats.org/drawingml/2006/main">
            <a:r>
              <a:t>https://learn.microsoft.com/en-us/aspnet/core/security/authentication/configure-jwt-bearer-authentication?view=aspnetcore-10.0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fragmento es la cadena real de AddPolicy, presentada con saltos de línea adicionales. RequireRole y RequireClaim dentro de catalog.write se cumplen conjuntamente: un token Admin sin catalog.write recibe denegación. El alumno debe mirar las políticas y también dónde se aplican. OrdersController declara orders.read y las acciones Create y Cancel añaden orders.write; el atributo de la acción no elimina el del controller. Por eso un token que sólo tiene escritura no basta para crear pedidos en esta referencia. La política de respaldo exige una identidad autenticada, y las excepciones anónimas son explícitas, como las comprobaciones de salud del aula. Las políticas reflejan una decisión de negocio que debe verificarse con pruebas, no sólo una anotación que Copilot añadió. Error frecuente: suponer que Admin evita automáticamente todos los controles. Pregunta: ¿qué conjunto mínimo de permisos usaríamos para listar pedidos y cuál para cancelarlos?</a:t>
            </a:r>
          </a:p>
          <a:p xmlns:a="http://schemas.openxmlformats.org/drawingml/2006/main">
            <a:r>
              <a:t/>
            </a:r>
          </a:p>
          <a:p xmlns:a="http://schemas.openxmlformats.org/drawingml/2006/main">
            <a:r>
              <a:t>Fuentes:</a:t>
            </a:r>
          </a:p>
          <a:p xmlns:a="http://schemas.openxmlformats.org/drawingml/2006/main">
            <a:r>
              <a:t>https://github.com/ychavez/CursoNETIA/blob/6a4141e/src/AulaPedidos.Api/Security/AuthenticationExtensions.cs</a:t>
            </a:r>
          </a:p>
          <a:p xmlns:a="http://schemas.openxmlformats.org/drawingml/2006/main">
            <a:r>
              <a:t>https://github.com/ychavez/CursoNETIA/blob/6a4141e/src/AulaPedidos.Api/Controllers/OrdersController.cs</a:t>
            </a:r>
          </a:p>
          <a:p xmlns:a="http://schemas.openxmlformats.org/drawingml/2006/main">
            <a:r>
              <a:t>https://github.com/ychavez/CursoNETIA/blob/6a4141e/src/AulaPedidos.Api/Controllers/ProductsController.cs</a:t>
            </a:r>
          </a:p>
          <a:p xmlns:a="http://schemas.openxmlformats.org/drawingml/2006/main">
            <a:r>
              <a:t>https://github.com/ychavez/CursoNETIA/blob/6a4141e/docs/api.md</a:t>
            </a:r>
          </a:p>
          <a:p xmlns:a="http://schemas.openxmlformats.org/drawingml/2006/main">
            <a:r>
              <a:t>https://learn.microsoft.com/en-us/aspnet/core/security/authorization/claims?view=aspnetcore-10.0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fragmento pertenece a GetOrderHandler y conserva su comportamiento; únicamente se repartieron líneas largas. El controller obtiene CustomerId desde User.FindFirst("sub"), después de validar el JWT, y lo incorpora a la consulta. La comparación es ordinal, sensible a mayúsculas, porque la identidad es un identificador opaco y no un nombre que debamos normalizar. Si no existe el pedido se devuelve 404; si existe y pertenece a otra identidad se devuelve 403 en esta implementación. CancelOrderHandler repite la comprobación antes de modificar. Los listados filtran por cliente desde la consulta a la base. Admin tampoco omite la condición de dueño. Este control evita acceso indebido a objetos, conocido como BOLA o IDOR. Error frecuente: confiar en un customerId que el usuario pueda enviar libremente o proteger sólo la lista y olvidar el detalle. Pregunta: ¿qué tres operaciones probaríamos con el token de otra persona antes de aprobar el cambio?</a:t>
            </a:r>
          </a:p>
          <a:p xmlns:a="http://schemas.openxmlformats.org/drawingml/2006/main">
            <a:r>
              <a:t/>
            </a:r>
          </a:p>
          <a:p xmlns:a="http://schemas.openxmlformats.org/drawingml/2006/main">
            <a:r>
              <a:t>Fuentes:</a:t>
            </a:r>
          </a:p>
          <a:p xmlns:a="http://schemas.openxmlformats.org/drawingml/2006/main">
            <a:r>
              <a:t>https://github.com/ychavez/CursoNETIA/blob/6a4141e/src/AulaPedidos.Application/Orders/OrderHandlers.cs</a:t>
            </a:r>
          </a:p>
          <a:p xmlns:a="http://schemas.openxmlformats.org/drawingml/2006/main">
            <a:r>
              <a:t>https://github.com/ychavez/CursoNETIA/blob/6a4141e/src/AulaPedidos.Api/Controllers/OrdersController.cs</a:t>
            </a:r>
          </a:p>
          <a:p xmlns:a="http://schemas.openxmlformats.org/drawingml/2006/main">
            <a:r>
              <a:t>https://github.com/ychavez/CursoNETIA/blob/6a4141e/src/AulaPedidos.Infrastructure/Persistence/Repositories.cs</a:t>
            </a:r>
          </a:p>
          <a:p xmlns:a="http://schemas.openxmlformats.org/drawingml/2006/main">
            <a:r>
              <a:t>https://github.com/ychavez/CursoNETIA/blob/6a4141e/docs/seguridad.md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Comprobaremos comportamientos del dominio y flujos completos de la API. Usaremos mocks donde aporten aislamiento, revisaremos cobertura y escribiremos regresiones para errores encontrados. Copilot puede proponer pruebas y refactorizaciones, pero debemos verificar que las pruebas detecten fallos reales.</a:t>
            </a:r>
          </a:p>
          <a:p xmlns:a="http://schemas.openxmlformats.org/drawingml/2006/main">
            <a:r>
              <a:t/>
            </a:r>
          </a:p>
          <a:p xmlns:a="http://schemas.openxmlformats.org/drawingml/2006/main">
            <a:r>
              <a:t>Material del curso: https://github.com/ychavez/CursoNETIA/blob/main/instructor/clases/07-calidad.md</a:t>
            </a:r>
          </a:p>
          <a:p xmlns:a="http://schemas.openxmlformats.org/drawingml/2006/main">
            <a:br/>
            <a:br/>
            <a:r>
              <a:t>Ejemplo para explicar: una prueba de dominio comprueba que un pedido vacío se rechaza. Otra prueba atraviesa la API y verifica la respuesta HTTP. Antes de aceptar una refactorización de Copilot, ejecutamos las pruebas y revisamos qué comportamientos cubren.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pedir a Copilot una prueba, describimos el comportamiento esperado. Contrastar una prueba de reglas del dominio con una petición HTTP al host de integración. Una aserción debe comprobar un resultado relevante y no sólo que existe un objeto. Mostrar las fases AAA con nombres explícitos: Arrange prepara, Act ejecuta, Assert comprueba. Una regresión debe detectar el defecto antes de repararlo y pasar después. La cobertura cuantifica código ejecutado, pero por sí sola no garantiza que las aserciones sean correctas o que todos los casos importantes estén cubiertos. Refactorizar mejora la estructura conservando el comportamiento.</a:t>
            </a:r>
          </a:p>
          <a:p xmlns:a="http://schemas.openxmlformats.org/drawingml/2006/main">
            <a:r>
              <a:t/>
            </a:r>
          </a:p>
          <a:p xmlns:a="http://schemas.openxmlformats.org/drawingml/2006/main">
            <a:r>
              <a:t>Fuentes:</a:t>
            </a:r>
          </a:p>
          <a:p xmlns:a="http://schemas.openxmlformats.org/drawingml/2006/main">
            <a:r>
              <a:t>https://learn.microsoft.com/en-us/dotnet/core/testing/unit-testing-best-practices</a:t>
            </a:r>
          </a:p>
          <a:p xmlns:a="http://schemas.openxmlformats.org/drawingml/2006/main">
            <a:r>
              <a:t>https://learn.microsoft.com/en-us/aspnet/core/test/integration-tests?view=aspnetcore-10.0</a:t>
            </a:r>
          </a:p>
          <a:p xmlns:a="http://schemas.openxmlformats.org/drawingml/2006/main">
            <a:r>
              <a:t>https://github.com/ychavez/CursoNETIA/blob/main/instructor/clases/07-calidad.md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Leamos primero la regla en español: una partida acepta de una a cien unidades. Theory ejecuta el mismo comportamiento con varios datos. La preparación crea un producto válido para que el único motivo de fallo sea la cantidad. La acción está dentro de la función entregada a Assert.Throws; la aserción exige la excepción de dominio concreta. Ahora abrimos el test vecino, que acepta uno y cien, para cerrar ambos extremos. Pedimos a Copilot que explique qué defecto detectaría cada fila antes de añadir casos. Un riesgo es mezclar precio inválido y cantidad inválida: el test podría pasar por una causa distinta. Otro es probar solamente cantidades normales. Pregunta al grupo: si cambiamos la condición de menor que uno a menor que cero, ¿qué fila debe fallar y por qué?</a:t>
            </a:r>
          </a:p>
          <a:p xmlns:a="http://schemas.openxmlformats.org/drawingml/2006/main">
            <a:r>
              <a:t/>
            </a:r>
          </a:p>
          <a:p xmlns:a="http://schemas.openxmlformats.org/drawingml/2006/main">
            <a:r>
              <a:t>Fuentes:</a:t>
            </a:r>
          </a:p>
          <a:p xmlns:a="http://schemas.openxmlformats.org/drawingml/2006/main">
            <a:r>
              <a:t>https://github.com/ychavez/CursoNETIA/blob/6a4141e/tests/AulaPedidos.UnitTests/Domain/OrderTests.cs</a:t>
            </a:r>
          </a:p>
          <a:p xmlns:a="http://schemas.openxmlformats.org/drawingml/2006/main">
            <a:r>
              <a:t>https://github.com/ychavez/CursoNETIA/blob/6a4141e/src/AulaPedidos.Domain/Entities/OrderItem.cs</a:t>
            </a:r>
          </a:p>
          <a:p xmlns:a="http://schemas.openxmlformats.org/drawingml/2006/main">
            <a:r>
              <a:t>https://learn.microsoft.com/en-us/dotnet/core/testing/unit-testing-best-practices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Sigamos una petición completa. ApiFactory arranca el programa con WebApplicationFactory, usa una ruta de base temporal y aplica migraciones. El cliente lleva un JWT de pruebas que pasa por la autenticación real. En ApiTests se crea un pedido con un sujeto y después se consulta con otro: esperamos Forbidden. No llamamos directamente al controlador ni reemplazamos la autorización con un resultado prefabricado. El diagrama representa el recorrido y su comprobación final, no nuevas dependencias entre capas. La aplicación usa SQLite en esta prueba; es relacional, pero no demuestra todas las particularidades de SQL Server. El worker de Outbox está desactivado en el host para evitar entregas externas durante estos tests. Pregunta: si el handler está probado pero el controlador toma CustomerId del body, ¿qué tipo de prueba descubriría la brecha?</a:t>
            </a:r>
          </a:p>
          <a:p xmlns:a="http://schemas.openxmlformats.org/drawingml/2006/main">
            <a:r>
              <a:t/>
            </a:r>
          </a:p>
          <a:p xmlns:a="http://schemas.openxmlformats.org/drawingml/2006/main">
            <a:r>
              <a:t>Fuentes:</a:t>
            </a:r>
          </a:p>
          <a:p xmlns:a="http://schemas.openxmlformats.org/drawingml/2006/main">
            <a:r>
              <a:t>https://github.com/ychavez/CursoNETIA/blob/6a4141e/tests/AulaPedidos.IntegrationTests/ApiFactory.cs</a:t>
            </a:r>
          </a:p>
          <a:p xmlns:a="http://schemas.openxmlformats.org/drawingml/2006/main">
            <a:r>
              <a:t>https://github.com/ychavez/CursoNETIA/blob/6a4141e/tests/AulaPedidos.IntegrationTests/ApiTests.cs</a:t>
            </a:r>
          </a:p>
          <a:p xmlns:a="http://schemas.openxmlformats.org/drawingml/2006/main">
            <a:r>
              <a:t>https://learn.microsoft.com/en-us/ef/core/testing/choosing-a-testing-strategy</a:t>
            </a:r>
          </a:p>
          <a:p xmlns:a="http://schemas.openxmlformats.org/drawingml/2006/main">
            <a:r>
              <a:t>https://learn.microsoft.com/en-us/aspnet/core/test/integration-tests?view=aspnetcore-10.0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Aquí el interés no es simular una base de datos completa. Queremos observar la frontera entre el caso de uso y sus colaboradores. Las dos partidas comparten el mismo identificador, de modo que la petición debe detenerse en la validación. Primero comprobamos el tipo de error; después exigimos que los repositorios y la unidad de trabajo no hayan recibido llamadas. Si alguien mueve la validación después de consultar o guardar, el test lo detectará. Este uso del mock expresa una decisión útil del diseño. El riesgo aparece cuando confundimos la ausencia de llamadas con una garantía de transacción: este test no conecta con ninguna base. Para demostrar rollback necesitamos el test relacional de PersistenceTests. Pregunta: ¿qué defecto seguiría invisible si todos los repositorios devolvieran exactamente lo que configuramos?</a:t>
            </a:r>
          </a:p>
          <a:p xmlns:a="http://schemas.openxmlformats.org/drawingml/2006/main">
            <a:r>
              <a:t/>
            </a:r>
          </a:p>
          <a:p xmlns:a="http://schemas.openxmlformats.org/drawingml/2006/main">
            <a:r>
              <a:t>Fuentes:</a:t>
            </a:r>
          </a:p>
          <a:p xmlns:a="http://schemas.openxmlformats.org/drawingml/2006/main">
            <a:r>
              <a:t>https://github.com/ychavez/CursoNETIA/blob/6a4141e/tests/AulaPedidos.UnitTests/Application/OrderHandlerTests.cs</a:t>
            </a:r>
          </a:p>
          <a:p xmlns:a="http://schemas.openxmlformats.org/drawingml/2006/main">
            <a:r>
              <a:t>https://github.com/ychavez/CursoNETIA/blob/6a4141e/tests/AulaPedidos.IntegrationTests/PersistenceTests.cs</a:t>
            </a:r>
          </a:p>
          <a:p xmlns:a="http://schemas.openxmlformats.org/drawingml/2006/main">
            <a:r>
              <a:t>https://github.com/ychavez/CursoNETIA/blob/6a4141e/src/AulaPedidos.Application/Orders/OrderHandlers.cs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empezamos editando al azar. Describimos el caso observado, el resultado esperado y la comprobación mínima. En la copia del laboratorio cambiamos deliberadamente el límite de cantidad; nunca dejamos ese cambio en la referencia compartida. Ejecutamos el test y leemos el motivo de fallo. Si falla por una base inexistente, no hemos reproducido el defecto. Después reparamos la condición, sin borrar la aserción ni acomodar la expectativa a un comportamiento incorrecto. La prueba debe pasar y quedar como protección futura. Al refactorizar repetimos los controles relevantes para conservar el contrato. El riesgo es aceptar una prueba generada que siempre estuvo verde o que sólo comprueba NotNull. Pregunta: ¿cómo demostrarían que su test detecta el bug y no únicamente que el método puede ejecutarse?</a:t>
            </a:r>
          </a:p>
          <a:p xmlns:a="http://schemas.openxmlformats.org/drawingml/2006/main">
            <a:r>
              <a:t/>
            </a:r>
          </a:p>
          <a:p xmlns:a="http://schemas.openxmlformats.org/drawingml/2006/main">
            <a:r>
              <a:t>Fuentes:</a:t>
            </a:r>
          </a:p>
          <a:p xmlns:a="http://schemas.openxmlformats.org/drawingml/2006/main">
            <a:r>
              <a:t>https://github.com/ychavez/CursoNETIA/blob/6a4141e/instructor/clases/07-calidad.md</a:t>
            </a:r>
          </a:p>
          <a:p xmlns:a="http://schemas.openxmlformats.org/drawingml/2006/main">
            <a:r>
              <a:t>https://github.com/ychavez/CursoNETIA/blob/6a4141e/tests/AulaPedidos.UnitTests/Domain/OrderTests.cs</a:t>
            </a:r>
          </a:p>
          <a:p xmlns:a="http://schemas.openxmlformats.org/drawingml/2006/main">
            <a:r>
              <a:t>https://github.com/ychavez/CursoNETIA/blob/main/tools/AulaPedidos.CourseTools/CourseCommands.cs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Adapter, Outbox, Retry, Circuit Breaker y Cache Aside a partir de fallos concretos. La outbox conserva notificaciones pendientes y permite reenviarlas. La entrega es al menos una vez y el receptor deduplica eventos. No promete entrega exactamente una vez. Veremos también las limitaciones de la caché local.</a:t>
            </a:r>
          </a:p>
          <a:p xmlns:a="http://schemas.openxmlformats.org/drawingml/2006/main">
            <a:r>
              <a:t/>
            </a:r>
          </a:p>
          <a:p xmlns:a="http://schemas.openxmlformats.org/drawingml/2006/main">
            <a:r>
              <a:t>Material del curso: https://github.com/ychavez/CursoNETIA/blob/main/instructor/clases/08-resiliencia.md</a:t>
            </a:r>
          </a:p>
          <a:p xmlns:a="http://schemas.openxmlformats.org/drawingml/2006/main">
            <a:br/>
            <a:br/>
            <a:r>
              <a:t>Ejemplo para explicar: el pedido y su aviso pendiente se guardan juntos. Si el receptor no responde, el worker puede volver a enviar el aviso. Como puede haber reenvíos, el receptor reconoce el identificador del evento para evitar procesarlo dos veces.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Guardar el pedido y llamar al receptor son operaciones distintas. Outbox conserva la intención de notificar dentro de la misma transacción del pedido para poder enviar después. Puede haber reenvíos: no se promete entrega exactamente una vez. El receptor deduplica por identificador del evento. La idempotencia evita repetir efectos al repetir una operación. Retry se aplica a fallos temporales con límites y pausas. Circuit Breaker interrumpe temporalmente llamadas al detectar fallos repetidos. Distinguir el reintento breve HTTP del reintento posterior de Outbox. Cache Aside intenta leer de caché, carga de la base si falta el dato y lo almacena temporalmente. Al cambiar un producto se invalida la caché. La caché no fija el precio histórico del pedido. Las referencias de patrones en documentación Azure no implican que el laboratorio despliegue en Azure.</a:t>
            </a:r>
          </a:p>
          <a:p xmlns:a="http://schemas.openxmlformats.org/drawingml/2006/main">
            <a:r>
              <a:t/>
            </a:r>
          </a:p>
          <a:p xmlns:a="http://schemas.openxmlformats.org/drawingml/2006/main">
            <a:r>
              <a:t>Fuentes:</a:t>
            </a:r>
          </a:p>
          <a:p xmlns:a="http://schemas.openxmlformats.org/drawingml/2006/main">
            <a:r>
              <a:t>https://learn.microsoft.com/en-us/azure/architecture/databases/guide/transactional-out-box-cosmos</a:t>
            </a:r>
          </a:p>
          <a:p xmlns:a="http://schemas.openxmlformats.org/drawingml/2006/main">
            <a:r>
              <a:t>https://learn.microsoft.com/en-us/azure/architecture/patterns/circuit-breaker</a:t>
            </a:r>
          </a:p>
          <a:p xmlns:a="http://schemas.openxmlformats.org/drawingml/2006/main">
            <a:r>
              <a:t>https://learn.microsoft.com/en-us/azure/architecture/patterns/retry</a:t>
            </a:r>
          </a:p>
          <a:p xmlns:a="http://schemas.openxmlformats.org/drawingml/2006/main">
            <a:r>
              <a:t>https://learn.microsoft.com/en-us/azure/architecture/patterns/cache-aside</a:t>
            </a:r>
          </a:p>
          <a:p xmlns:a="http://schemas.openxmlformats.org/drawingml/2006/main">
            <a:r>
              <a:t>https://github.com/ychavez/CursoNETIA/blob/main/instructor/clases/08-resiliencia.md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Dibujemos primero la ventana que queremos cerrar: guardar un pedido y detener el proceso antes de notificar. AulaPedidosDbContext añade el mensaje al seguimiento antes de llamar una sola vez a SaveChanges. En un proveedor relacional, esa operación confirma pedido y mensaje juntos o revierte ambos. Después el dispatcher lee la intención y llama al receptor. Hay otra ventana inevitable en este diseño: el receptor puede terminar y el proceso emisor caer antes de guardar ProcessedAt. Por eso el mismo EventId puede viajar otra vez. El receptor de aula lo conserva con unicidad para deduplicar. No prometemos exactamente una vez. Además, el dispatcher actual admite una instancia; varias necesitan reclamo atómico. Pregunta: ¿qué evidencia quedaría en cada base si el proceso cae justo después del POST?</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https://github.com/ychavez/CursoNETIA/blob/6a4141e/src/AulaPedidos.Infrastructure/Persistence/AulaPedidosDbContext.cs</a:t>
            </a:r>
          </a:p>
          <a:p xmlns:a="http://schemas.openxmlformats.org/drawingml/2006/main">
            <a:r>
              <a:t>https://github.com/ychavez/CursoNETIA/blob/6a4141e/src/AulaPedidos.Infrastructure/Outbox/OutboxDispatcher.cs</a:t>
            </a:r>
          </a:p>
          <a:p xmlns:a="http://schemas.openxmlformats.org/drawingml/2006/main">
            <a:r>
              <a:t>https://github.com/ychavez/CursoNETIA/blob/6a4141e/tools/AulaPedidos.NotificationsMock/Program.cs</a:t>
            </a:r>
          </a:p>
          <a:p xmlns:a="http://schemas.openxmlformats.org/drawingml/2006/main">
            <a:r>
              <a:t>https://github.com/ychavez/CursoNETIA/blob/6a4141e/tests/AulaPedidos.IntegrationTests/PersistenceTests.cs</a:t>
            </a:r>
          </a:p>
          <a:p xmlns:a="http://schemas.openxmlformats.org/drawingml/2006/main">
            <a:r>
              <a:t>https://learn.microsoft.com/en-us/azure/architecture/databases/guide/transactional-out-box-cosmos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Observemos qué conoce el dispatcher: recibe IOrderNotificationPublisher y entrega una notificación. No construye la URL ni maneja cabeceras de autenticación. Esos detalles pertenecen al adaptador y al registro del HttpClient. EnsureSuccessStatusCode hace visible una respuesta no satisfactoria para que el dispatcher conserve el intento fallido. La cancelación se propaga mediante el token recibido. El punto difícil está en la semántica del POST: si el receptor guardó el evento pero la respuesta no llegó, el emisor sólo ve una espera agotada. Reenviar puede repetir la solicitud. En el curso lo permitimos porque existe deduplicación durable por EventId; cambiar de proveedor exige volver a verificar ese contrato. Pregunta: si reemplazamos el receptor por uno que envía correos sin deduplicar, ¿qué supuesto acaba de dejar de ser válido?</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https://github.com/ychavez/CursoNETIA/blob/6a4141e/src/AulaPedidos.Infrastructure/Notifications/HttpOrderNotificationPublisher.cs</a:t>
            </a:r>
          </a:p>
          <a:p xmlns:a="http://schemas.openxmlformats.org/drawingml/2006/main">
            <a:r>
              <a:t>https://github.com/ychavez/CursoNETIA/blob/6a4141e/src/AulaPedidos.Infrastructure/Notifications/OrderNotification.cs</a:t>
            </a:r>
          </a:p>
          <a:p xmlns:a="http://schemas.openxmlformats.org/drawingml/2006/main">
            <a:r>
              <a:t>https://github.com/ychavez/CursoNETIA/blob/6a4141e/src/AulaPedidos.Infrastructure/DependencyInjection.cs</a:t>
            </a:r>
          </a:p>
          <a:p xmlns:a="http://schemas.openxmlformats.org/drawingml/2006/main">
            <a:r>
              <a:t>https://github.com/ychavez/CursoNETIA/blob/6a4141e/tools/AulaPedidos.NotificationsMock/Program.cs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Leamos estas opciones como presupuesto operativo y no como números mágicos. MaxRetryAttempts cuenta repeticiones después del envío inicial. El retraso exponencial separa los intentos y jitter evita que muchos clientes repitan al mismo tiempo. El timeout por intento controla una llamada y el total controla toda la ejecución HTTP. El circuito observa fallos en una ventana: necesita volumen mínimo y proporción suficiente antes de bloquear temporalmente llamadas. Al recuperar, prueba si la dependencia responde. El riesgo es sumar reintentos HTTP y reintentos de Outbox sin calcular la carga total. Tampoco conviene repetir errores permanentes como si fueran transitorios; el dispatcher de aula finalmente conserva mensajes agotados como dead-letter. Pregunta: si llegan cientos de mensajes pendientes cuando vuelve el receptor, ¿qué métricas usarían para ajustar estos límites?</a:t>
            </a:r>
          </a:p>
          <a:p xmlns:a="http://schemas.openxmlformats.org/drawingml/2006/main">
            <a:r>
              <a:t/>
            </a:r>
          </a:p>
          <a:p xmlns:a="http://schemas.openxmlformats.org/drawingml/2006/main">
            <a:r>
              <a:t>Fuentes:</a:t>
            </a:r>
          </a:p>
          <a:p xmlns:a="http://schemas.openxmlformats.org/drawingml/2006/main">
            <a:r>
              <a:t>https://github.com/ychavez/CursoNETIA/blob/6a4141e/src/AulaPedidos.Infrastructure/DependencyInjection.cs</a:t>
            </a:r>
          </a:p>
          <a:p xmlns:a="http://schemas.openxmlformats.org/drawingml/2006/main">
            <a:r>
              <a:t>https://github.com/ychavez/CursoNETIA/blob/6a4141e/src/AulaPedidos.Infrastructure/Outbox/OutboxDispatcher.cs</a:t>
            </a:r>
          </a:p>
          <a:p xmlns:a="http://schemas.openxmlformats.org/drawingml/2006/main">
            <a:r>
              <a:t>https://github.com/ychavez/CursoNETIA/blob/6a4141e/src/AulaPedidos.Infrastructure/Outbox/OutboxOptions.cs</a:t>
            </a:r>
          </a:p>
          <a:p xmlns:a="http://schemas.openxmlformats.org/drawingml/2006/main">
            <a:r>
              <a:t>https://learn.microsoft.com/en-us/dotnet/core/resilience/http-resilience</a:t>
            </a:r>
          </a:p>
          <a:p xmlns:a="http://schemas.openxmlformats.org/drawingml/2006/main">
            <a:r>
              <a:t>https://learn.microsoft.com/en-us/azure/architecture/patterns/circuit-breaker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Sigamos GetProductHandler con una primera consulta y una segunda. La primera puede fallar en caché, cargar el producto y conservar un DTO durante dos minutos. La siguiente devuelve esa copia. Ahora actualizamos el precio: el handler confirma el cambio y elimina la entrada, incluso si el cliente ya se desconectó. Eso permite que otra lectura vuelva a consultar la base. El límite importante es que invalidar no elimina todas las carreras: una lectura iniciada antes de la escritura puede terminar después e insertar un valor anterior. El TTL limita cuánto dura, pero no resuelve la carrera. Además, cada proceso tiene su propia memoria. Pregunta: si levantamos dos réplicas y una actualiza el precio, ¿cómo se entera la caché de la otra?</a:t>
            </a:r>
          </a:p>
          <a:p xmlns:a="http://schemas.openxmlformats.org/drawingml/2006/main">
            <a:r>
              <a:t/>
            </a:r>
          </a:p>
          <a:p xmlns:a="http://schemas.openxmlformats.org/drawingml/2006/main">
            <a:r>
              <a:t>Fuentes:</a:t>
            </a:r>
          </a:p>
          <a:p xmlns:a="http://schemas.openxmlformats.org/drawingml/2006/main">
            <a:r>
              <a:t>https://github.com/ychavez/CursoNETIA/blob/6a4141e/src/AulaPedidos.Application/Products/ProductHandlers.cs</a:t>
            </a:r>
          </a:p>
          <a:p xmlns:a="http://schemas.openxmlformats.org/drawingml/2006/main">
            <a:r>
              <a:t>https://github.com/ychavez/CursoNETIA/blob/6a4141e/src/AulaPedidos.Application/Orders/OrderHandlers.cs</a:t>
            </a:r>
          </a:p>
          <a:p xmlns:a="http://schemas.openxmlformats.org/drawingml/2006/main">
            <a:r>
              <a:t>https://github.com/ychavez/CursoNETIA/blob/6a4141e/src/AulaPedidos.Infrastructure/Caching/MemoryProductCache.cs</a:t>
            </a:r>
          </a:p>
          <a:p xmlns:a="http://schemas.openxmlformats.org/drawingml/2006/main">
            <a:r>
              <a:t>https://learn.microsoft.com/en-us/azure/architecture/patterns/cache-aside</a:t>
            </a:r>
          </a:p>
          <a:p xmlns:a="http://schemas.openxmlformats.org/drawingml/2006/main">
            <a:r>
              <a:t>https://github.com/ychavez/CursoNETIA/blob/6a4141e/instructor/clases/08-resiliencia.md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Docker Compose levanta SQL Server, el proceso de migraciones, la API, el receptor de notificaciones y el dashboard de Aspire. Observaremos registros, métricas, trazas y comprobaciones de salud. La práctica se ejecuta localmente. El curso no exige una cuenta de Azure o AWS ni despliega servicios en la nube.</a:t>
            </a:r>
          </a:p>
          <a:p xmlns:a="http://schemas.openxmlformats.org/drawingml/2006/main">
            <a:r>
              <a:t/>
            </a:r>
          </a:p>
          <a:p xmlns:a="http://schemas.openxmlformats.org/drawingml/2006/main">
            <a:r>
              <a:t>Material del curso: https://github.com/ychavez/CursoNETIA/blob/main/instructor/clases/09-operacion.md</a:t>
            </a:r>
          </a:p>
          <a:p xmlns:a="http://schemas.openxmlformats.org/drawingml/2006/main">
            <a:br/>
            <a:br/>
            <a:r>
              <a:t>Ejemplo para explicar: levantamos la API, la base y el receptor con Docker Compose en la computadora del alumno. Seguimos una petición con trazas y registros para localizar una demora. El laboratorio es local y no necesita Azure ni 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imagen es un paquete para ejecutar la aplicación y el contenedor es una instancia en ejecución. Compose define varios servicios y su comunicación: API, SQL Server, migrador, notificador y dashboard. Los volúmenes conservan datos al reemplazar contenedores. Dentro de un contenedor, localhost apunta a ese mismo contenedor. OpenTelemetry instrumenta y exporta señales y el dashboard las muestra. Los logs registran hechos, las métricas agregan mediciones y las trazas muestran el recorrido de operaciones. Las comprobaciones de salud sólo comprueban lo que se ha definido. En esta referencia el envío posterior de Outbox no forma automáticamente una única traza con la petición original, aunque pueden relacionarse por identificadores. El laboratorio corre localmente y no requiere Azure ni AWS.</a:t>
            </a:r>
          </a:p>
          <a:p xmlns:a="http://schemas.openxmlformats.org/drawingml/2006/main">
            <a:r>
              <a:t/>
            </a:r>
          </a:p>
          <a:p xmlns:a="http://schemas.openxmlformats.org/drawingml/2006/main">
            <a:r>
              <a:t>Fuentes:</a:t>
            </a:r>
          </a:p>
          <a:p xmlns:a="http://schemas.openxmlformats.org/drawingml/2006/main">
            <a:r>
              <a:t>https://docs.docker.com/compose/intro/compose-application-model/</a:t>
            </a:r>
          </a:p>
          <a:p xmlns:a="http://schemas.openxmlformats.org/drawingml/2006/main">
            <a:r>
              <a:t>https://opentelemetry.io/docs/concepts/signals/</a:t>
            </a:r>
          </a:p>
          <a:p xmlns:a="http://schemas.openxmlformats.org/drawingml/2006/main">
            <a:r>
              <a:t>https://docs.docker.com/get-started/docker-concepts/the-basics/what-is-a-container/</a:t>
            </a:r>
          </a:p>
          <a:p xmlns:a="http://schemas.openxmlformats.org/drawingml/2006/main">
            <a:r>
              <a:t>https://github.com/ychavez/CursoNETIA/blob/main/instructor/clases/09-operacion.md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Abramos el Dockerfile completo antes de centrarnos en este fragmento. Arriba usamos una imagen SDK para restaurar dependencias y publicar. Aquí comienza la imagen final, basada en el runtime de ASP.NET. COPY recibe el resultado de la etapa anterior; no incorpora automáticamente el SDK ni todos los archivos de trabajo. USER selecciona el usuario de aplicación que ofrece la imagen base. EXPOSE no abre un puerto en la computadora: esa correspondencia aparece en Compose. El riesgo es creer que reducir herramientas equivale a declarar segura la imagen. Seguimos necesitando versiones aprobadas, configuración externa y mantenimiento. Tampoco introducimos contraseñas con COPY. Pregunta: si la API escucha dentro en 8080 y el host publica 5080, ¿qué dirección usa el navegador y cuál otro contenedor?</a:t>
            </a:r>
          </a:p>
          <a:p xmlns:a="http://schemas.openxmlformats.org/drawingml/2006/main">
            <a:r>
              <a:t/>
            </a:r>
          </a:p>
          <a:p xmlns:a="http://schemas.openxmlformats.org/drawingml/2006/main">
            <a:r>
              <a:t>Fuentes:</a:t>
            </a:r>
          </a:p>
          <a:p xmlns:a="http://schemas.openxmlformats.org/drawingml/2006/main">
            <a:r>
              <a:t>https://github.com/ychavez/CursoNETIA/blob/6a4141e/Dockerfile</a:t>
            </a:r>
          </a:p>
          <a:p xmlns:a="http://schemas.openxmlformats.org/drawingml/2006/main">
            <a:r>
              <a:t>https://github.com/ychavez/CursoNETIA/blob/6a4141e/.dockerignore</a:t>
            </a:r>
          </a:p>
          <a:p xmlns:a="http://schemas.openxmlformats.org/drawingml/2006/main">
            <a:r>
              <a:t>https://github.com/ychavez/CursoNETIA/blob/6a4141e/compose.yaml</a:t>
            </a:r>
          </a:p>
          <a:p xmlns:a="http://schemas.openxmlformats.org/drawingml/2006/main">
            <a:r>
              <a:t>https://docs.docker.com/build/building/multi-stage/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Leamos las condiciones, no solamente el orden visual del archivo. SQL Server ejecuta un healthcheck; migrate espera su estado healthy y aplica el esquema con una operación explícita. La API depende de que migrate finalice correctamente. El fragmento muestra también que el notificador sólo debe estar iniciado: eso no garantiza que vaya a responder bien a cada petición. Compose usa nombres de servicio dentro de su red, por lo que sqlserver identifica al contenedor de datos; localhost identificaría al propio contenedor de la API. El volumen conserva archivos entre reemplazos. El riesgo operativo es confundir este orden inicial con supervisión continua o borrar volúmenes para solucionar un error de arranque. Pregunta: si la migración falla, ¿qué registro revisaríamos primero antes de reiniciar la API?</a:t>
            </a:r>
          </a:p>
          <a:p xmlns:a="http://schemas.openxmlformats.org/drawingml/2006/main">
            <a:r>
              <a:t/>
            </a:r>
          </a:p>
          <a:p xmlns:a="http://schemas.openxmlformats.org/drawingml/2006/main">
            <a:r>
              <a:t>Fuentes:</a:t>
            </a:r>
          </a:p>
          <a:p xmlns:a="http://schemas.openxmlformats.org/drawingml/2006/main">
            <a:r>
              <a:t>https://github.com/ychavez/CursoNETIA/blob/6a4141e/compose.yaml</a:t>
            </a:r>
          </a:p>
          <a:p xmlns:a="http://schemas.openxmlformats.org/drawingml/2006/main">
            <a:r>
              <a:t>https://github.com/ychavez/CursoNETIA/blob/6a4141e/src/AulaPedidos.Api/Program.cs</a:t>
            </a:r>
          </a:p>
          <a:p xmlns:a="http://schemas.openxmlformats.org/drawingml/2006/main">
            <a:r>
              <a:t>https://docs.docker.com/compose/how-tos/startup-order/</a:t>
            </a:r>
          </a:p>
          <a:p xmlns:a="http://schemas.openxmlformats.org/drawingml/2006/main">
            <a:r>
              <a:t>https://github.com/ychavez/CursoNETIA/blob/6a4141e/instructor/clases/09-operacion.md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Abramos Create de OrdersController. El código inicia una actividad, incrementa el contador sólo si el caso de uso tiene éxito y registra identificador y número de partidas. El log cuenta un hecho concreto; la métrica permite observar una tendencia agregada; la traza ayuda a localizar dónde se consume tiempo. CourseTelemetry conecta estas fuentes con instrumentación y exportadores. Si no configuramos el endpoint, no debemos esperar que aparezcan en el dashboard. También puede faltar tráfico o existir una diferencia de protocolo o puerto. Evitamos usar identificadores únicos como etiquetas de métricas porque multiplican las series. La publicación de Outbox ocurre después y no conserva aquí el contexto completo de la traza original. Pregunta: ¿qué señal elegirían para detectar que suben los errores y cuál para investigar una petición concreta?</a:t>
            </a:r>
          </a:p>
          <a:p xmlns:a="http://schemas.openxmlformats.org/drawingml/2006/main">
            <a:r>
              <a:t/>
            </a:r>
          </a:p>
          <a:p xmlns:a="http://schemas.openxmlformats.org/drawingml/2006/main">
            <a:r>
              <a:t>Fuentes:</a:t>
            </a:r>
          </a:p>
          <a:p xmlns:a="http://schemas.openxmlformats.org/drawingml/2006/main">
            <a:r>
              <a:t>https://github.com/ychavez/CursoNETIA/blob/6a4141e/src/AulaPedidos.Api/Controllers/OrdersController.cs</a:t>
            </a:r>
          </a:p>
          <a:p xmlns:a="http://schemas.openxmlformats.org/drawingml/2006/main">
            <a:r>
              <a:t>https://github.com/ychavez/CursoNETIA/blob/6a4141e/src/AulaPedidos.Api/Operations/CourseTelemetry.cs</a:t>
            </a:r>
          </a:p>
          <a:p xmlns:a="http://schemas.openxmlformats.org/drawingml/2006/main">
            <a:r>
              <a:t>https://github.com/ychavez/CursoNETIA/blob/6a4141e/src/AulaPedidos.Infrastructure/Outbox/OutboxDispatcher.cs</a:t>
            </a:r>
          </a:p>
          <a:p xmlns:a="http://schemas.openxmlformats.org/drawingml/2006/main">
            <a:r>
              <a:t>https://github.com/ychavez/CursoNETIA/blob/6a4141e/compose.yaml</a:t>
            </a:r>
          </a:p>
          <a:p xmlns:a="http://schemas.openxmlformats.org/drawingml/2006/main">
            <a:r>
              <a:t>https://opentelemetry.io/docs/concepts/signals/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Presentemos un síntoma y pidamos una hipótesis antes de ejecutar comandos. Live comprueba que el proceso puede responder; ready incluye la comprobación configurada de base de datos. En este proyecto DatabaseHealthCheck consulta productos, así que puede detectar una base inaccesible o un esquema pendiente. Eso no equivale a validar todas las funciones del negocio. Si falla únicamente la visualización de señales, comprobamos tráfico, exportador, red y protocolo. En Compose el dashboard recibe OTLP en 18889 y su interfaz web usa 18888. Si falta una notificación, observamos el estado durable de Outbox antes de reiniciar componentes. El riesgo de un reinicio indiscriminado es perder evidencia o empeorar una dependencia saturada. Pregunta: ¿qué dato recogerían para diferenciar una caída del receptor de un mensaje que agotó sus intentos?</a:t>
            </a:r>
          </a:p>
          <a:p xmlns:a="http://schemas.openxmlformats.org/drawingml/2006/main">
            <a:r>
              <a:t/>
            </a:r>
          </a:p>
          <a:p xmlns:a="http://schemas.openxmlformats.org/drawingml/2006/main">
            <a:r>
              <a:t>Fuentes:</a:t>
            </a:r>
          </a:p>
          <a:p xmlns:a="http://schemas.openxmlformats.org/drawingml/2006/main">
            <a:r>
              <a:t>https://github.com/ychavez/CursoNETIA/blob/6a4141e/src/AulaPedidos.Api/Operations/DatabaseHealthCheck.cs</a:t>
            </a:r>
          </a:p>
          <a:p xmlns:a="http://schemas.openxmlformats.org/drawingml/2006/main">
            <a:r>
              <a:t>https://github.com/ychavez/CursoNETIA/blob/6a4141e/src/AulaPedidos.Api/Program.cs</a:t>
            </a:r>
          </a:p>
          <a:p xmlns:a="http://schemas.openxmlformats.org/drawingml/2006/main">
            <a:r>
              <a:t>https://github.com/ychavez/CursoNETIA/blob/6a4141e/compose.yaml</a:t>
            </a:r>
          </a:p>
          <a:p xmlns:a="http://schemas.openxmlformats.org/drawingml/2006/main">
            <a:r>
              <a:t>https://github.com/ychavez/CursoNETIA/blob/main/tools/AulaPedidos.CourseTools/CourseCommands.cs</a:t>
            </a:r>
          </a:p>
          <a:p xmlns:a="http://schemas.openxmlformats.org/drawingml/2006/main">
            <a:r>
              <a:t>https://learn.microsoft.com/en-us/aspnet/core/host-and-deploy/health-checks?view=aspnetcore-10.0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alumno integra un cambio, ejecuta pruebas y presenta evidencia del funcionamiento. Revisaremos seguridad, documentación y bitácora de IA. Prepararemos un plan para producción con sus pendientes reales. La entrega demuestra aprendizaje dentro del alcance docente y no certifica una solución lista para producción.</a:t>
            </a:r>
          </a:p>
          <a:p xmlns:a="http://schemas.openxmlformats.org/drawingml/2006/main">
            <a:r>
              <a:t/>
            </a:r>
          </a:p>
          <a:p xmlns:a="http://schemas.openxmlformats.org/drawingml/2006/main">
            <a:r>
              <a:t>Material del curso: https://github.com/ychavez/CursoNETIA/blob/main/instructor/clases/10-entrega.md</a:t>
            </a:r>
          </a:p>
          <a:p xmlns:a="http://schemas.openxmlformats.org/drawingml/2006/main">
            <a:br/>
            <a:br/>
            <a:r>
              <a:t>Ejemplo para explicar: el desafío final recorre el contrato de la API, el caso de uso, la persistencia y las pruebas. El participante demuestra el cambio, explica una decisión y distingue lo que ya verificó de lo que aún debe preparar para producción.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integración continua permite ejecutar controles definidos por el equipo cuando se integran cambios. Un workflow configurado no demuestra por sí mismo que se haya ejecutado con éxito. Un ADR registra el razonamiento de una decisión de arquitectura para quienes mantendrán el sistema. El desafío final añade un filtro por estado manteniendo paginación, autorización y comportamiento sin filtro. La entrega debe incluir evidencia de los casos válidos, entradas inválidas y acceso indebido. Preparar producción exige resolver identidad, secretos, respaldos, recuperación, migraciones y operación de varias instancias. Se entrega un plan con responsables y criterios de cierre. El curso no promete un despliegue automático en Azure o AWS ni certificación productiva.</a:t>
            </a:r>
          </a:p>
          <a:p xmlns:a="http://schemas.openxmlformats.org/drawingml/2006/main">
            <a:r>
              <a:t/>
            </a:r>
          </a:p>
          <a:p xmlns:a="http://schemas.openxmlformats.org/drawingml/2006/main">
            <a:r>
              <a:t>Fuentes:</a:t>
            </a:r>
          </a:p>
          <a:p xmlns:a="http://schemas.openxmlformats.org/drawingml/2006/main">
            <a:r>
              <a:t>https://docs.github.com/en/actions/get-started/understand-github-actions</a:t>
            </a:r>
          </a:p>
          <a:p xmlns:a="http://schemas.openxmlformats.org/drawingml/2006/main">
            <a:r>
              <a:t>https://learn.microsoft.com/en-us/azure/well-architected/architect-role/architecture-decision-record</a:t>
            </a:r>
          </a:p>
          <a:p xmlns:a="http://schemas.openxmlformats.org/drawingml/2006/main">
            <a:r>
              <a:t>https://github.com/ychavez/CursoNETIA/blob/main/instructor/clases/10-entrega.md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fragmento es una propuesta para el desafío, no una función ya incorporada a la referencia. El repositorio actual filtra por cliente, cuenta y pagina. Añadir estado exige llevar un valor opcional validado desde el contrato y el handler. La primera condición mantiene CustomerId, obtenido de la identidad autenticada; el cliente no puede elegir a otra persona. Aplicamos el nuevo predicado antes de Count y antes de Skip y Take. De otro modo, el total y la página podrían describir conjuntos diferentes. El código es sólo el cuerpo conceptual de la consulta y omite las nuevas firmas y validación. El riesgo de seguridad es reemplazar el filtro por dueño al agregar el estado. Pregunta: ¿qué ocurriría si filtramos Cancelled después de recuperar los primeros veinte pedidos?</a:t>
            </a:r>
          </a:p>
          <a:p xmlns:a="http://schemas.openxmlformats.org/drawingml/2006/main">
            <a:r>
              <a:t/>
            </a:r>
          </a:p>
          <a:p xmlns:a="http://schemas.openxmlformats.org/drawingml/2006/main">
            <a:r>
              <a:t>Fuentes:</a:t>
            </a:r>
          </a:p>
          <a:p xmlns:a="http://schemas.openxmlformats.org/drawingml/2006/main">
            <a:r>
              <a:t>https://github.com/ychavez/CursoNETIA/blob/6a4141e/instructor/clases/10-entrega.md</a:t>
            </a:r>
          </a:p>
          <a:p xmlns:a="http://schemas.openxmlformats.org/drawingml/2006/main">
            <a:r>
              <a:t>https://github.com/ychavez/CursoNETIA/blob/6a4141e/src/AulaPedidos.Infrastructure/Persistence/Repositories.cs</a:t>
            </a:r>
          </a:p>
          <a:p xmlns:a="http://schemas.openxmlformats.org/drawingml/2006/main">
            <a:r>
              <a:t>https://github.com/ychavez/CursoNETIA/blob/6a4141e/src/AulaPedidos.Api/Controllers/OrdersController.cs</a:t>
            </a:r>
          </a:p>
          <a:p xmlns:a="http://schemas.openxmlformats.org/drawingml/2006/main">
            <a:r>
              <a:t>https://github.com/ychavez/CursoNETIA/blob/6a4141e/src/AulaPedidos.Application/Orders/OrderContracts.cs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editar, escribimos una tabla con entradas y resultados esperados. Esta diapositiva describe el desafío pendiente, no cambios ya hechos en el repositorio. El contrato admite un filtro opcional y documenta cómo rechaza valores inválidos. El handler conserva las reglas de identidad y página. El repositorio aplica los criterios completos en la base. Finalmente la prueba consulta resultados de varios estados y dos sujetos para detectar errores que un único pedido no revelaría. La documentación y un ADR breve explican la decisión. Un riesgo frecuente es agregar un índice o migración por costumbre: el campo Status ya está persistido y filtrar no cambia el esquema. Pregunta: ¿qué datos de prueba demostrarían que TotalCount y la segunda página siguen respetando al propietario y al estado solicitado?</a:t>
            </a:r>
          </a:p>
          <a:p xmlns:a="http://schemas.openxmlformats.org/drawingml/2006/main">
            <a:r>
              <a:t/>
            </a:r>
          </a:p>
          <a:p xmlns:a="http://schemas.openxmlformats.org/drawingml/2006/main">
            <a:r>
              <a:t>Fuentes:</a:t>
            </a:r>
          </a:p>
          <a:p xmlns:a="http://schemas.openxmlformats.org/drawingml/2006/main">
            <a:r>
              <a:t>https://github.com/ychavez/CursoNETIA/blob/6a4141e/instructor/clases/10-entrega.md</a:t>
            </a:r>
          </a:p>
          <a:p xmlns:a="http://schemas.openxmlformats.org/drawingml/2006/main">
            <a:r>
              <a:t>https://github.com/ychavez/CursoNETIA/blob/6a4141e/instructor/evaluacion.md</a:t>
            </a:r>
          </a:p>
          <a:p xmlns:a="http://schemas.openxmlformats.org/drawingml/2006/main">
            <a:r>
              <a:t>https://github.com/ychavez/CursoNETIA/blob/6a4141e/src/AulaPedidos.Infrastructure/Persistence/Repositories.cs</a:t>
            </a:r>
          </a:p>
          <a:p xmlns:a="http://schemas.openxmlformats.org/drawingml/2006/main">
            <a:r>
              <a:t>https://github.com/ychavez/CursoNETIA/blob/6a4141e/src/AulaPedidos.Domain/Entities/Order.cs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Abramos el workflow completo y distingamos declaración de ejecución. Este fragmento prepara checkout, SDK, herramientas, dependencias y compilación. Después el archivo define tests, cobertura, comprobaciones de cambios de modelo y publicación de resultados. Un segundo job describe validaciones de contenedores y un smoke HTTP con SQL Server. No afirmamos aquí que esos jobs hayan terminado correctamente: para hacerlo debemos consultar una ejecución concreta, su commit, registros y resultado. Locked restore ayuda a detectar diferencias de dependencias, pero no sustituye la revisión de actualizaciones. El riesgo es mostrar una insignia o un YAML como si fueran prueba de funcionamiento. También una prueba omitida deja un alcance distinto al esperado. Pregunta: si compilar pasa pero el job de contenedores nunca empezó, ¿qué partes de la entrega siguen sin evidencia?</a:t>
            </a:r>
          </a:p>
          <a:p xmlns:a="http://schemas.openxmlformats.org/drawingml/2006/main">
            <a:r>
              <a:t/>
            </a:r>
          </a:p>
          <a:p xmlns:a="http://schemas.openxmlformats.org/drawingml/2006/main">
            <a:r>
              <a:t>Fuentes:</a:t>
            </a:r>
          </a:p>
          <a:p xmlns:a="http://schemas.openxmlformats.org/drawingml/2006/main">
            <a:r>
              <a:t>https://github.com/ychavez/CursoNETIA/blob/6a4141e/.github/workflows/ci.yml</a:t>
            </a:r>
          </a:p>
          <a:p xmlns:a="http://schemas.openxmlformats.org/drawingml/2006/main">
            <a:r>
              <a:t>https://github.com/ychavez/CursoNETIA/blob/6a4141e/NuGet.Config</a:t>
            </a:r>
          </a:p>
          <a:p xmlns:a="http://schemas.openxmlformats.org/drawingml/2006/main">
            <a:r>
              <a:t>https://github.com/ychavez/CursoNETIA/blob/6a4141e/Directory.Build.props</a:t>
            </a:r>
          </a:p>
          <a:p xmlns:a="http://schemas.openxmlformats.org/drawingml/2006/main">
            <a:r>
              <a:t>https://github.com/ychavez/CursoNETIA/blob/main/tools/AulaPedidos.CourseTools/SmokeCommand.cs</a:t>
            </a:r>
          </a:p>
          <a:p xmlns:a="http://schemas.openxmlformats.org/drawingml/2006/main">
            <a:r>
              <a:t>https://docs.github.com/en/actions/get-started/understand-github-actions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Leamos el ADR 002 como ejemplo de una decisión completa. El contexto explica por qué necesitamos dos proveedores de aula y una intención de notificación persistida. La decisión elige un camino y las alternativas muestran sus costos. Las consecuencias no se esconden: puede repetirse una entrega y el worker no resuelve varias réplicas. Al pasar a un entorno real revisamos qué supuestos cambiaron. Un plan productivo asigna responsables, evidencia y umbrales de decisión antes de liberar, no después del incidente. El riesgo es llamar rollback a cualquier vuelta de versión: una imagen anterior puede ser incompatible con una columna eliminada, y una copia de seguridad no sirve si nunca probamos restaurarla. Pregunta: si una migración destruye datos, ¿por qué volver al contenedor anterior no recupera la información?</a:t>
            </a:r>
          </a:p>
          <a:p xmlns:a="http://schemas.openxmlformats.org/drawingml/2006/main">
            <a:r>
              <a:t/>
            </a:r>
          </a:p>
          <a:p xmlns:a="http://schemas.openxmlformats.org/drawingml/2006/main">
            <a:r>
              <a:t>Fuentes:</a:t>
            </a:r>
          </a:p>
          <a:p xmlns:a="http://schemas.openxmlformats.org/drawingml/2006/main">
            <a:r>
              <a:t>https://github.com/ychavez/CursoNETIA/blob/6a4141e/docs/adr/002-persistencia-y-outbox.md</a:t>
            </a:r>
          </a:p>
          <a:p xmlns:a="http://schemas.openxmlformats.org/drawingml/2006/main">
            <a:r>
              <a:t>https://github.com/ychavez/CursoNETIA/blob/6a4141e/docs/adr/plantilla.md</a:t>
            </a:r>
          </a:p>
          <a:p xmlns:a="http://schemas.openxmlformats.org/drawingml/2006/main">
            <a:r>
              <a:t>https://github.com/ychavez/CursoNETIA/blob/6a4141e/docs/produccion.md</a:t>
            </a:r>
          </a:p>
          <a:p xmlns:a="http://schemas.openxmlformats.org/drawingml/2006/main">
            <a:r>
              <a:t>https://github.com/ychavez/CursoNETIA/blob/6a4141e/instructor/clases/10-entrega.md</a:t>
            </a:r>
          </a:p>
          <a:p xmlns:a="http://schemas.openxmlformats.org/drawingml/2006/main">
            <a:r>
              <a:t>https://learn.microsoft.com/en-us/azure/well-architected/architect-role/architecture-decision-record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entrega incluye repositorio ejecutable, configuración de Copilot, pruebas, documentación y demostración. Cada participante explica una decisión de arquitectura y una propuesta de IA que revisó o rechazó con razones. El repositorio enlazado contiene la solución de referencia y los materiales del curso.</a:t>
            </a:r>
          </a:p>
          <a:p xmlns:a="http://schemas.openxmlformats.org/drawingml/2006/main">
            <a:r>
              <a:t/>
            </a:r>
          </a:p>
          <a:p xmlns:a="http://schemas.openxmlformats.org/drawingml/2006/main">
            <a:r>
              <a:t>Ilustración conceptual generada con IA para este curso.</a:t>
            </a:r>
          </a:p>
          <a:p xmlns:a="http://schemas.openxmlformats.org/drawingml/2006/main">
            <a:r>
              <a:t/>
            </a:r>
          </a:p>
          <a:p xmlns:a="http://schemas.openxmlformats.org/drawingml/2006/main">
            <a:r>
              <a:t>Material del curso: https://github.com/ychavez/CursoNETIA/blob/main/instructor/evaluacion.md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747f0146ec40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9d4060c7004e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9f34338e6245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a85a79982b14c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4271eb55e740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f2d38ff74d48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DCCE37-A8B5-4D9B-A2ED-B97263D2434C}"/>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50600FC-3480-490F-A98C-191D0CE8B7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62002FB-5C81-4213-B098-7DDF3C5058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9FEE767-66DF-4991-B352-33727F9B77B2}"/>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7A4DEE1-C177-45CF-BC48-F9A7B71308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9B32865-C68D-467E-A9BB-7D6FCD7374F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E5E2E0E-C50A-4C9A-9215-17D202F115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56BEC02-24B4-4389-A4A3-89F4881E60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5B69FF6-66E1-4CEC-972C-505AC569791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B8400A-B8BD-47B9-B452-C48A6DF835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7D83308-2DDB-4B8B-9F88-B473E64F8B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40D4A9C-812A-4BE8-AED4-AE23620411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ABBFEA1-8408-40A7-ABFB-A8F74A05C77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9A576E2-4053-40D6-A9D7-C7EAB8C2EA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7CAB85C-65C1-4900-8183-B5999A38E8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53a319bb3c4062" /><Relationship Type="http://schemas.openxmlformats.org/officeDocument/2006/relationships/slideLayout" Target="/ppt/slideLayouts/slideLayout1.xml" Id="R46c7d2e21676455c" /><Relationship Type="http://schemas.openxmlformats.org/officeDocument/2006/relationships/slideLayout" Target="/ppt/slideLayouts/slideLayout2.xml" Id="R19233550b1af4ac4" /><Relationship Type="http://schemas.openxmlformats.org/officeDocument/2006/relationships/slideLayout" Target="/ppt/slideLayouts/slideLayout3.xml" Id="R72df0d91d6a54f34" /><Relationship Type="http://schemas.openxmlformats.org/officeDocument/2006/relationships/slideLayout" Target="/ppt/slideLayouts/slideLayout4.xml" Id="R8a950e98e47d40d1" /><Relationship Type="http://schemas.openxmlformats.org/officeDocument/2006/relationships/slideLayout" Target="/ppt/slideLayouts/slideLayout5.xml" Id="R795166fcebdc4697" /><Relationship Type="http://schemas.openxmlformats.org/officeDocument/2006/relationships/slideLayout" Target="/ppt/slideLayouts/slideLayout6.xml" Id="R70c046a5c4a14b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7d2e21676455c"/>
    <p:sldLayoutId xmlns:r="http://schemas.openxmlformats.org/officeDocument/2006/relationships" id="2147483650" r:id="R19233550b1af4ac4"/>
    <p:sldLayoutId xmlns:r="http://schemas.openxmlformats.org/officeDocument/2006/relationships" id="2147483651" r:id="R72df0d91d6a54f34"/>
    <p:sldLayoutId xmlns:r="http://schemas.openxmlformats.org/officeDocument/2006/relationships" id="2147483652" r:id="R8a950e98e47d40d1"/>
    <p:sldLayoutId xmlns:r="http://schemas.openxmlformats.org/officeDocument/2006/relationships" id="2147483653" r:id="R795166fcebdc4697"/>
    <p:sldLayoutId xmlns:r="http://schemas.openxmlformats.org/officeDocument/2006/relationships" id="2147483654" r:id="R70c046a5c4a14b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4174a2275f41f6" /><Relationship Type="http://schemas.openxmlformats.org/officeDocument/2006/relationships/image" Target="/ppt/media/image.png" Id="Rcce5dd91ffc84ea3" /><Relationship Type="http://schemas.openxmlformats.org/officeDocument/2006/relationships/notesSlide" Target="/ppt/notesSlides/notesSlide1.xml" Id="R78f55665d85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09b55088474cfa" /><Relationship Type="http://schemas.openxmlformats.org/officeDocument/2006/relationships/notesSlide" Target="/ppt/notesSlides/notesSlide2.xml" Id="R1baca50c893f43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bdb79ba525402c" /><Relationship Type="http://schemas.openxmlformats.org/officeDocument/2006/relationships/notesSlide" Target="/ppt/notesSlides/notesSlide3.xml" Id="R17cf895c88dc49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00db89cda844ce" /><Relationship Type="http://schemas.openxmlformats.org/officeDocument/2006/relationships/notesSlide" Target="/ppt/notesSlides/notesSlide4.xml" Id="Rde694a7db9584e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f9021d0ecf47ac" /><Relationship Type="http://schemas.openxmlformats.org/officeDocument/2006/relationships/notesSlide" Target="/ppt/notesSlides/notesSlide5.xml" Id="Reb3e21e4b23744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bc629b6b704c4c" /><Relationship Type="http://schemas.openxmlformats.org/officeDocument/2006/relationships/notesSlide" Target="/ppt/notesSlides/notesSlide6.xml" Id="Ra209bd3439564d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32df2311a54d95" /><Relationship Type="http://schemas.openxmlformats.org/officeDocument/2006/relationships/notesSlide" Target="/ppt/notesSlides/notesSlide7.xml" Id="Rfde951fce47e4b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10fd0df4f44071" /><Relationship Type="http://schemas.openxmlformats.org/officeDocument/2006/relationships/notesSlide" Target="/ppt/notesSlides/notesSlide8.xml" Id="R54ab82bc65764a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1c04658103b40b7" /><Relationship Type="http://schemas.openxmlformats.org/officeDocument/2006/relationships/notesSlide" Target="/ppt/notesSlides/notesSlide9.xml" Id="Rdefdde8df92c4f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60fe0dd734d4555" /><Relationship Type="http://schemas.openxmlformats.org/officeDocument/2006/relationships/notesSlide" Target="/ppt/notesSlides/notesSlide10.xml" Id="R351818c71e3f4a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45af93c0ec5418d" /><Relationship Type="http://schemas.openxmlformats.org/officeDocument/2006/relationships/notesSlide" Target="/ppt/notesSlides/notesSlide11.xml" Id="R2e828db9facf4c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f2f6036ac74f6c" /><Relationship Type="http://schemas.openxmlformats.org/officeDocument/2006/relationships/notesSlide" Target="/ppt/notesSlides/notesSlide12.xml" Id="R9b7b1348c95a4b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9b8e9357c9642a0" /><Relationship Type="http://schemas.openxmlformats.org/officeDocument/2006/relationships/notesSlide" Target="/ppt/notesSlides/notesSlide13.xml" Id="R0114e9fdb0c94a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9dfef963dde45ff" /><Relationship Type="http://schemas.openxmlformats.org/officeDocument/2006/relationships/notesSlide" Target="/ppt/notesSlides/notesSlide14.xml" Id="R05d7d50efc164e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ce538057ae84f00" /><Relationship Type="http://schemas.openxmlformats.org/officeDocument/2006/relationships/notesSlide" Target="/ppt/notesSlides/notesSlide15.xml" Id="R257e5b3c56ee47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fe51d51a444539" /><Relationship Type="http://schemas.openxmlformats.org/officeDocument/2006/relationships/notesSlide" Target="/ppt/notesSlides/notesSlide16.xml" Id="Rc2ee16d5d0b142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62940c07c2c441b" /><Relationship Type="http://schemas.openxmlformats.org/officeDocument/2006/relationships/notesSlide" Target="/ppt/notesSlides/notesSlide17.xml" Id="Rfa33ec2675554d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6b6a746a17474e" /><Relationship Type="http://schemas.openxmlformats.org/officeDocument/2006/relationships/notesSlide" Target="/ppt/notesSlides/notesSlide18.xml" Id="Rdd97d7d959cc43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dd353b79f2c49a3" /><Relationship Type="http://schemas.openxmlformats.org/officeDocument/2006/relationships/notesSlide" Target="/ppt/notesSlides/notesSlide19.xml" Id="R93d19edaf1c54f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ff804eaac34db7" /><Relationship Type="http://schemas.openxmlformats.org/officeDocument/2006/relationships/notesSlide" Target="/ppt/notesSlides/notesSlide20.xml" Id="R8761a77c8cd64c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2142dd57f164569" /><Relationship Type="http://schemas.openxmlformats.org/officeDocument/2006/relationships/notesSlide" Target="/ppt/notesSlides/notesSlide21.xml" Id="R49f1ada8d4b245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c1fb31696c74248" /><Relationship Type="http://schemas.openxmlformats.org/officeDocument/2006/relationships/notesSlide" Target="/ppt/notesSlides/notesSlide22.xml" Id="R128ac8346eda45e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a3a9632be8c4357" /><Relationship Type="http://schemas.openxmlformats.org/officeDocument/2006/relationships/notesSlide" Target="/ppt/notesSlides/notesSlide23.xml" Id="R5336979e8eb04a1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ac0a2d7d1e7425b" /><Relationship Type="http://schemas.openxmlformats.org/officeDocument/2006/relationships/notesSlide" Target="/ppt/notesSlides/notesSlide24.xml" Id="R0201d7035ad54bb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998fd1095994158" /><Relationship Type="http://schemas.openxmlformats.org/officeDocument/2006/relationships/notesSlide" Target="/ppt/notesSlides/notesSlide25.xml" Id="Rda912a0dae12407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301b60c55db4284" /><Relationship Type="http://schemas.openxmlformats.org/officeDocument/2006/relationships/notesSlide" Target="/ppt/notesSlides/notesSlide26.xml" Id="R5b315193526044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78444eba1cd45b6" /><Relationship Type="http://schemas.openxmlformats.org/officeDocument/2006/relationships/notesSlide" Target="/ppt/notesSlides/notesSlide27.xml" Id="R2aa0951f7bad45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cc56642667f4529" /><Relationship Type="http://schemas.openxmlformats.org/officeDocument/2006/relationships/notesSlide" Target="/ppt/notesSlides/notesSlide28.xml" Id="Rd4930114b66f4a7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1f867749ee84169" /><Relationship Type="http://schemas.openxmlformats.org/officeDocument/2006/relationships/notesSlide" Target="/ppt/notesSlides/notesSlide29.xml" Id="R2454638a15b5417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71758ef52df467b" /><Relationship Type="http://schemas.openxmlformats.org/officeDocument/2006/relationships/notesSlide" Target="/ppt/notesSlides/notesSlide30.xml" Id="Recb07eee3f55436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c19eccc92674536" /><Relationship Type="http://schemas.openxmlformats.org/officeDocument/2006/relationships/notesSlide" Target="/ppt/notesSlides/notesSlide31.xml" Id="Rd88649e36f8244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edfe8d8b4b6456d" /><Relationship Type="http://schemas.openxmlformats.org/officeDocument/2006/relationships/notesSlide" Target="/ppt/notesSlides/notesSlide32.xml" Id="Rd4530f923b3346c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5e66e8cbe6e4f1e" /><Relationship Type="http://schemas.openxmlformats.org/officeDocument/2006/relationships/notesSlide" Target="/ppt/notesSlides/notesSlide33.xml" Id="R02bdb0d5abf5445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ea18049281149ab" /><Relationship Type="http://schemas.openxmlformats.org/officeDocument/2006/relationships/notesSlide" Target="/ppt/notesSlides/notesSlide34.xml" Id="R28ab1b099f7d44b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6af612a1ab64ad9" /><Relationship Type="http://schemas.openxmlformats.org/officeDocument/2006/relationships/notesSlide" Target="/ppt/notesSlides/notesSlide35.xml" Id="R42ebad352ac1422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532bfd202a14cfe" /><Relationship Type="http://schemas.openxmlformats.org/officeDocument/2006/relationships/notesSlide" Target="/ppt/notesSlides/notesSlide36.xml" Id="Rfc7152e3cc954fd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5e8631ae1ad4f89" /><Relationship Type="http://schemas.openxmlformats.org/officeDocument/2006/relationships/notesSlide" Target="/ppt/notesSlides/notesSlide37.xml" Id="R39fa4c3863af449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713f276dd3c4e74" /><Relationship Type="http://schemas.openxmlformats.org/officeDocument/2006/relationships/notesSlide" Target="/ppt/notesSlides/notesSlide38.xml" Id="R4de9c3448dec427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f8efa8256cb4774" /><Relationship Type="http://schemas.openxmlformats.org/officeDocument/2006/relationships/notesSlide" Target="/ppt/notesSlides/notesSlide39.xml" Id="Reb0041de7efb40a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039743a8aef4248" /><Relationship Type="http://schemas.openxmlformats.org/officeDocument/2006/relationships/notesSlide" Target="/ppt/notesSlides/notesSlide40.xml" Id="R0f5f8c6510ce4de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fe2d115bb3d4ea2" /><Relationship Type="http://schemas.openxmlformats.org/officeDocument/2006/relationships/notesSlide" Target="/ppt/notesSlides/notesSlide41.xml" Id="R3daed1dfcf2c410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94603def7e04d74" /><Relationship Type="http://schemas.openxmlformats.org/officeDocument/2006/relationships/notesSlide" Target="/ppt/notesSlides/notesSlide42.xml" Id="Ra20946d9df7a497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2caa96e81d94d93" /><Relationship Type="http://schemas.openxmlformats.org/officeDocument/2006/relationships/notesSlide" Target="/ppt/notesSlides/notesSlide43.xml" Id="Ra00eace1e0cf4fd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9210a4a91e84537" /><Relationship Type="http://schemas.openxmlformats.org/officeDocument/2006/relationships/notesSlide" Target="/ppt/notesSlides/notesSlide44.xml" Id="Rb6112abbf2ac4cd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e1e885237eb4085" /><Relationship Type="http://schemas.openxmlformats.org/officeDocument/2006/relationships/notesSlide" Target="/ppt/notesSlides/notesSlide45.xml" Id="R88c3445a9df943c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7d6b094b6884344" /><Relationship Type="http://schemas.openxmlformats.org/officeDocument/2006/relationships/notesSlide" Target="/ppt/notesSlides/notesSlide46.xml" Id="Rba22dec061cb4ec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c707864d84f4703" /><Relationship Type="http://schemas.openxmlformats.org/officeDocument/2006/relationships/notesSlide" Target="/ppt/notesSlides/notesSlide47.xml" Id="R3f59c52a63ce48e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e836b9369624c80" /><Relationship Type="http://schemas.openxmlformats.org/officeDocument/2006/relationships/notesSlide" Target="/ppt/notesSlides/notesSlide48.xml" Id="R16a1c5a8e379422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03cf05da5e5469f" /><Relationship Type="http://schemas.openxmlformats.org/officeDocument/2006/relationships/notesSlide" Target="/ppt/notesSlides/notesSlide49.xml" Id="R686f6d33b030442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f8398ee4e3a478f" /><Relationship Type="http://schemas.openxmlformats.org/officeDocument/2006/relationships/notesSlide" Target="/ppt/notesSlides/notesSlide50.xml" Id="R90f5dfd4a9c74c0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93761cc615a4251" /><Relationship Type="http://schemas.openxmlformats.org/officeDocument/2006/relationships/notesSlide" Target="/ppt/notesSlides/notesSlide51.xml" Id="Rfb4f3d515c4a401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852669726847491d" /><Relationship Type="http://schemas.openxmlformats.org/officeDocument/2006/relationships/notesSlide" Target="/ppt/notesSlides/notesSlide52.xml" Id="R30363e97bedf409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89ff503c3694204" /><Relationship Type="http://schemas.openxmlformats.org/officeDocument/2006/relationships/notesSlide" Target="/ppt/notesSlides/notesSlide53.xml" Id="Re817a704853f4fd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7e2fee271f064f84" /><Relationship Type="http://schemas.openxmlformats.org/officeDocument/2006/relationships/notesSlide" Target="/ppt/notesSlides/notesSlide54.xml" Id="Rd8939c93046a45f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402a5b726c14522" /><Relationship Type="http://schemas.openxmlformats.org/officeDocument/2006/relationships/notesSlide" Target="/ppt/notesSlides/notesSlide55.xml" Id="R2034ccb7e8a844e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0f13eaf9c6a4059" /><Relationship Type="http://schemas.openxmlformats.org/officeDocument/2006/relationships/notesSlide" Target="/ppt/notesSlides/notesSlide56.xml" Id="R2405926e8ea045a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f9cb2b2d03e4663" /><Relationship Type="http://schemas.openxmlformats.org/officeDocument/2006/relationships/notesSlide" Target="/ppt/notesSlides/notesSlide57.xml" Id="Rf77d5316c155412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16fccbacb0384a9f" /><Relationship Type="http://schemas.openxmlformats.org/officeDocument/2006/relationships/notesSlide" Target="/ppt/notesSlides/notesSlide58.xml" Id="R53cb54f58d334ecc"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1c210ac2cde4a2a" /><Relationship Type="http://schemas.openxmlformats.org/officeDocument/2006/relationships/notesSlide" Target="/ppt/notesSlides/notesSlide59.xml" Id="R79c02be3d11f4f1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cb26ddb335b442b" /><Relationship Type="http://schemas.openxmlformats.org/officeDocument/2006/relationships/notesSlide" Target="/ppt/notesSlides/notesSlide60.xml" Id="R33a0b660b5a9477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e74c40a865db4bee" /><Relationship Type="http://schemas.openxmlformats.org/officeDocument/2006/relationships/notesSlide" Target="/ppt/notesSlides/notesSlide61.xml" Id="R92345e011e264ae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aa6650e9fbe7464b" /><Relationship Type="http://schemas.openxmlformats.org/officeDocument/2006/relationships/notesSlide" Target="/ppt/notesSlides/notesSlide62.xml" Id="R38987f18a0d84d5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70eb0918e23d4618" /><Relationship Type="http://schemas.openxmlformats.org/officeDocument/2006/relationships/notesSlide" Target="/ppt/notesSlides/notesSlide63.xml" Id="Ra49e9508b8fc443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acce9e5105324e43" /><Relationship Type="http://schemas.openxmlformats.org/officeDocument/2006/relationships/image" Target="/ppt/media/image2.png" Id="R25e07c54789f4a29" /><Relationship Type="http://schemas.openxmlformats.org/officeDocument/2006/relationships/hyperlink" Target="https://github.com/ychavez/CursoNETIA" TargetMode="External" Id="Rd7d81cc3b5a6466e" /><Relationship Type="http://schemas.openxmlformats.org/officeDocument/2006/relationships/notesSlide" Target="/ppt/notesSlides/notesSlide64.xml" Id="R9b5ceae0a1684ed0" /></Relationships>
</file>

<file path=ppt/slides/slide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A37D17F-052D-41DE-8790-35A5E72EDADF}"/>
              </a:ext>
            </a:extLst>
          </p:cNvPr>
          <p:cNvPicPr>
            <a:picLocks xmlns:a="http://schemas.openxmlformats.org/drawingml/2006/main" noChangeAspect="1"/>
          </p:cNvPicPr>
          <p:nvPr/>
        </p:nvPicPr>
        <p:blipFill>
          <a:blip xmlns:r="http://schemas.openxmlformats.org/officeDocument/2006/relationships" xmlns:a="http://schemas.openxmlformats.org/drawingml/2006/main" r:embed="Rcce5dd91ffc84e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urse title">
            <a:extLst xmlns:a="http://schemas.openxmlformats.org/drawingml/2006/main">
              <a:ext uri="{FF2B5EF4-FFF2-40B4-BE49-F238E27FC236}">
                <a16:creationId xmlns:a16="http://schemas.microsoft.com/office/drawing/2014/main" id="{43BA4371-724D-4942-B59E-EC7AEA31B200}"/>
              </a:ext>
            </a:extLst>
          </p:cNvPr>
          <p:cNvSpPr>
            <a:spLocks xmlns:a="http://schemas.openxmlformats.org/drawingml/2006/main" noGrp="1"/>
          </p:cNvSpPr>
          <p:nvPr/>
        </p:nvSpPr>
        <p:spPr>
          <a:xfrm xmlns:a="http://schemas.openxmlformats.org/drawingml/2006/main">
            <a:off x="762000" y="1790700"/>
            <a:ext cx="690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150" b="1">
                <a:solidFill>
                  <a:srgbClr val="FFFFFF"/>
                </a:solidFill>
                <a:latin typeface="Arial"/>
                <a:ea typeface="Arial"/>
                <a:cs typeface="Arial"/>
              </a:defRPr>
            </a:pPr>
            <a:r>
              <a:rPr sz="6150" b="1">
                <a:solidFill>
                  <a:srgbClr val="FFFFFF"/>
                </a:solidFill>
                <a:latin typeface="Arial"/>
                <a:ea typeface="Arial"/>
                <a:cs typeface="Arial"/>
              </a:rPr>
              <a:t>.NET con IA</a:t>
            </a:r>
          </a:p>
        </p:txBody>
      </p:sp>
      <p:sp>
        <p:nvSpPr>
          <p:cNvPr id="3" name="Course subtitle">
            <a:extLst xmlns:a="http://schemas.openxmlformats.org/drawingml/2006/main">
              <a:ext uri="{FF2B5EF4-FFF2-40B4-BE49-F238E27FC236}">
                <a16:creationId xmlns:a16="http://schemas.microsoft.com/office/drawing/2014/main" id="{2FA0FA8A-1BD2-4806-946D-9302BAF0893E}"/>
              </a:ext>
            </a:extLst>
          </p:cNvPr>
          <p:cNvSpPr>
            <a:spLocks xmlns:a="http://schemas.openxmlformats.org/drawingml/2006/main" noGrp="1"/>
          </p:cNvSpPr>
          <p:nvPr/>
        </p:nvSpPr>
        <p:spPr>
          <a:xfrm xmlns:a="http://schemas.openxmlformats.org/drawingml/2006/main">
            <a:off x="800100" y="3048000"/>
            <a:ext cx="6715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Desarrollo con GitHub Copilot</a:t>
            </a:r>
          </a:p>
        </p:txBody>
      </p:sp>
      <p:sp>
        <p:nvSpPr>
          <p:cNvPr id="4" name="Course duration">
            <a:extLst xmlns:a="http://schemas.openxmlformats.org/drawingml/2006/main">
              <a:ext uri="{FF2B5EF4-FFF2-40B4-BE49-F238E27FC236}">
                <a16:creationId xmlns:a16="http://schemas.microsoft.com/office/drawing/2014/main" id="{F892741F-47EA-4FC4-B664-C6B8CD0B71DC}"/>
              </a:ext>
            </a:extLst>
          </p:cNvPr>
          <p:cNvSpPr>
            <a:spLocks xmlns:a="http://schemas.openxmlformats.org/drawingml/2006/main" noGrp="1"/>
          </p:cNvSpPr>
          <p:nvPr/>
        </p:nvSpPr>
        <p:spPr>
          <a:xfrm xmlns:a="http://schemas.openxmlformats.org/drawingml/2006/main">
            <a:off x="800100" y="4810125"/>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A7E2D7"/>
                </a:solidFill>
                <a:latin typeface="Arial"/>
                <a:ea typeface="Arial"/>
                <a:cs typeface="Arial"/>
              </a:defRPr>
            </a:pPr>
            <a:r>
              <a:rPr sz="2250" b="0">
                <a:solidFill>
                  <a:srgbClr val="A7E2D7"/>
                </a:solidFill>
                <a:latin typeface="Arial"/>
                <a:ea typeface="Arial"/>
                <a:cs typeface="Arial"/>
              </a:rPr>
              <a:t>40 horas</a:t>
            </a:r>
          </a:p>
          <a:p xmlns:a="http://schemas.openxmlformats.org/drawingml/2006/main">
            <a:pPr>
              <a:buNone/>
              <a:defRPr sz="2250" b="0">
                <a:solidFill>
                  <a:srgbClr val="A7E2D7"/>
                </a:solidFill>
                <a:latin typeface="Arial"/>
                <a:ea typeface="Arial"/>
                <a:cs typeface="Arial"/>
              </a:defRPr>
            </a:pPr>
            <a:r>
              <a:rPr sz="2250" b="0">
                <a:solidFill>
                  <a:srgbClr val="A7E2D7"/>
                </a:solidFill>
                <a:latin typeface="Arial"/>
                <a:ea typeface="Arial"/>
                <a:cs typeface="Arial"/>
              </a:rPr>
              <a:t>10 clases prácticas</a:t>
            </a:r>
          </a:p>
        </p:txBody>
      </p:sp>
    </p:spTree>
    <p:extLst>
      <p:ext uri="{BB962C8B-B14F-4D97-AF65-F5344CB8AC3E}">
        <p14:creationId xmlns:p14="http://schemas.microsoft.com/office/powerpoint/2010/main" val="1623110699"/>
      </p:ext>
    </p:extLst>
  </p:cSld>
</p:sld>
</file>

<file path=ppt/slides/slide2.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4" name="Project title">
            <a:extLst xmlns:a="http://schemas.openxmlformats.org/drawingml/2006/main">
              <a:ext uri="{FF2B5EF4-FFF2-40B4-BE49-F238E27FC236}">
                <a16:creationId xmlns:a16="http://schemas.microsoft.com/office/drawing/2014/main" id="{A67D5387-9063-4A25-9821-C71FC682EDC9}"/>
              </a:ext>
            </a:extLst>
          </p:cNvPr>
          <p:cNvSpPr>
            <a:spLocks xmlns:a="http://schemas.openxmlformats.org/drawingml/2006/main" noGrp="1"/>
          </p:cNvSpPr>
          <p:nvPr/>
        </p:nvSpPr>
        <p:spPr>
          <a:xfrm xmlns:a="http://schemas.openxmlformats.org/drawingml/2006/main">
            <a:off x="762000" y="809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400" b="1">
                <a:solidFill>
                  <a:srgbClr val="6044B6"/>
                </a:solidFill>
                <a:latin typeface="Arial"/>
                <a:ea typeface="Arial"/>
                <a:cs typeface="Arial"/>
              </a:defRPr>
            </a:pPr>
            <a:r>
              <a:rPr sz="5400" b="1">
                <a:solidFill>
                  <a:srgbClr val="6044B6"/>
                </a:solidFill>
                <a:latin typeface="Arial"/>
                <a:ea typeface="Arial"/>
                <a:cs typeface="Arial"/>
              </a:rPr>
              <a:t>AulaPedidos</a:t>
            </a:r>
          </a:p>
        </p:txBody>
      </p:sp>
      <p:sp>
        <p:nvSpPr>
          <p:cNvPr id="2" name="Project description">
            <a:extLst xmlns:a="http://schemas.openxmlformats.org/drawingml/2006/main">
              <a:ext uri="{FF2B5EF4-FFF2-40B4-BE49-F238E27FC236}">
                <a16:creationId xmlns:a16="http://schemas.microsoft.com/office/drawing/2014/main" id="{CF497C1C-85CA-46FC-932B-A58D18AD8E67}"/>
              </a:ext>
            </a:extLst>
          </p:cNvPr>
          <p:cNvSpPr>
            <a:spLocks xmlns:a="http://schemas.openxmlformats.org/drawingml/2006/main" noGrp="1"/>
          </p:cNvSpPr>
          <p:nvPr/>
        </p:nvSpPr>
        <p:spPr>
          <a:xfrm xmlns:a="http://schemas.openxmlformats.org/drawingml/2006/main">
            <a:off x="762000" y="26670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125" b="1">
                <a:solidFill>
                  <a:srgbClr val="172137"/>
                </a:solidFill>
                <a:latin typeface="Arial"/>
                <a:ea typeface="Arial"/>
                <a:cs typeface="Arial"/>
              </a:defRPr>
            </a:pPr>
            <a:r>
              <a:rPr sz="4125" b="1">
                <a:solidFill>
                  <a:srgbClr val="172137"/>
                </a:solidFill>
                <a:latin typeface="Arial"/>
                <a:ea typeface="Arial"/>
                <a:cs typeface="Arial"/>
              </a:rPr>
              <a:t>Una API para gestionar</a:t>
            </a:r>
          </a:p>
          <a:p xmlns:a="http://schemas.openxmlformats.org/drawingml/2006/main">
            <a:pPr>
              <a:buNone/>
              <a:defRPr sz="4125" b="1">
                <a:solidFill>
                  <a:srgbClr val="172137"/>
                </a:solidFill>
                <a:latin typeface="Arial"/>
                <a:ea typeface="Arial"/>
                <a:cs typeface="Arial"/>
              </a:defRPr>
            </a:pPr>
            <a:r>
              <a:rPr sz="4125" b="1">
                <a:solidFill>
                  <a:srgbClr val="172137"/>
                </a:solidFill>
                <a:latin typeface="Arial"/>
                <a:ea typeface="Arial"/>
                <a:cs typeface="Arial"/>
              </a:rPr>
              <a:t>productos y pedidos.</a:t>
            </a:r>
          </a:p>
        </p:txBody>
      </p:sp>
      <p:sp>
        <p:nvSpPr>
          <p:cNvPr id="3" name="Project capabilities">
            <a:extLst xmlns:a="http://schemas.openxmlformats.org/drawingml/2006/main">
              <a:ext uri="{FF2B5EF4-FFF2-40B4-BE49-F238E27FC236}">
                <a16:creationId xmlns:a16="http://schemas.microsoft.com/office/drawing/2014/main" id="{810C7F32-23B7-4554-8F82-21F647F16C83}"/>
              </a:ext>
            </a:extLst>
          </p:cNvPr>
          <p:cNvSpPr>
            <a:spLocks xmlns:a="http://schemas.openxmlformats.org/drawingml/2006/main" noGrp="1"/>
          </p:cNvSpPr>
          <p:nvPr/>
        </p:nvSpPr>
        <p:spPr>
          <a:xfrm xmlns:a="http://schemas.openxmlformats.org/drawingml/2006/main">
            <a:off x="800100" y="48958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45516A"/>
                </a:solidFill>
                <a:latin typeface="Arial"/>
                <a:ea typeface="Arial"/>
                <a:cs typeface="Arial"/>
              </a:defRPr>
            </a:pPr>
            <a:r>
              <a:rPr sz="2400" b="0">
                <a:solidFill>
                  <a:srgbClr val="45516A"/>
                </a:solidFill>
                <a:latin typeface="Arial"/>
                <a:ea typeface="Arial"/>
                <a:cs typeface="Arial"/>
              </a:rPr>
              <a:t>Con permisos, datos persistentes</a:t>
            </a:r>
          </a:p>
          <a:p xmlns:a="http://schemas.openxmlformats.org/drawingml/2006/main">
            <a:pPr>
              <a:buNone/>
              <a:defRPr sz="2400" b="0">
                <a:solidFill>
                  <a:srgbClr val="45516A"/>
                </a:solidFill>
                <a:latin typeface="Arial"/>
                <a:ea typeface="Arial"/>
                <a:cs typeface="Arial"/>
              </a:defRPr>
            </a:pPr>
            <a:r>
              <a:rPr sz="2400" b="0">
                <a:solidFill>
                  <a:srgbClr val="45516A"/>
                </a:solidFill>
                <a:latin typeface="Arial"/>
                <a:ea typeface="Arial"/>
                <a:cs typeface="Arial"/>
              </a:rPr>
              <a:t>y notificaciones.</a:t>
            </a:r>
          </a:p>
        </p:txBody>
      </p:sp>
    </p:spTree>
    <p:extLst>
      <p:ext uri="{BB962C8B-B14F-4D97-AF65-F5344CB8AC3E}">
        <p14:creationId xmlns:p14="http://schemas.microsoft.com/office/powerpoint/2010/main" val="287738666"/>
      </p:ext>
    </p:extLst>
  </p:cSld>
</p:sld>
</file>

<file path=ppt/slides/slide3.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5" name="Learning title">
            <a:extLst xmlns:a="http://schemas.openxmlformats.org/drawingml/2006/main">
              <a:ext uri="{FF2B5EF4-FFF2-40B4-BE49-F238E27FC236}">
                <a16:creationId xmlns:a16="http://schemas.microsoft.com/office/drawing/2014/main" id="{FEA93AC5-2969-4FA8-B475-0E875D45C2C4}"/>
              </a:ext>
            </a:extLst>
          </p:cNvPr>
          <p:cNvSpPr>
            <a:spLocks xmlns:a="http://schemas.openxmlformats.org/drawingml/2006/main" noGrp="1"/>
          </p:cNvSpPr>
          <p:nvPr/>
        </p:nvSpPr>
        <p:spPr>
          <a:xfrm xmlns:a="http://schemas.openxmlformats.org/drawingml/2006/main">
            <a:off x="762000" y="7810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FFFFFF"/>
                </a:solidFill>
                <a:latin typeface="Arial"/>
                <a:ea typeface="Arial"/>
                <a:cs typeface="Arial"/>
              </a:defRPr>
            </a:pPr>
            <a:r>
              <a:rPr sz="4350" b="1">
                <a:solidFill>
                  <a:srgbClr val="FFFFFF"/>
                </a:solidFill>
                <a:latin typeface="Arial"/>
                <a:ea typeface="Arial"/>
                <a:cs typeface="Arial"/>
              </a:rPr>
              <a:t>Cómo trabajaremos</a:t>
            </a:r>
          </a:p>
        </p:txBody>
      </p:sp>
      <p:sp>
        <p:nvSpPr>
          <p:cNvPr id="2" name="AI role">
            <a:extLst xmlns:a="http://schemas.openxmlformats.org/drawingml/2006/main">
              <a:ext uri="{FF2B5EF4-FFF2-40B4-BE49-F238E27FC236}">
                <a16:creationId xmlns:a16="http://schemas.microsoft.com/office/drawing/2014/main" id="{88F8262D-6D20-4E15-A221-9C01CE5123F1}"/>
              </a:ext>
            </a:extLst>
          </p:cNvPr>
          <p:cNvSpPr>
            <a:spLocks xmlns:a="http://schemas.openxmlformats.org/drawingml/2006/main" noGrp="1"/>
          </p:cNvSpPr>
          <p:nvPr/>
        </p:nvSpPr>
        <p:spPr>
          <a:xfrm xmlns:a="http://schemas.openxmlformats.org/drawingml/2006/main">
            <a:off x="762000" y="25812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0">
                <a:solidFill>
                  <a:srgbClr val="FFFFFF"/>
                </a:solidFill>
                <a:latin typeface="Arial"/>
                <a:ea typeface="Arial"/>
                <a:cs typeface="Arial"/>
              </a:defRPr>
            </a:pPr>
            <a:r>
              <a:rPr sz="4350" b="0">
                <a:solidFill>
                  <a:srgbClr val="FFFFFF"/>
                </a:solidFill>
                <a:latin typeface="Arial"/>
                <a:ea typeface="Arial"/>
                <a:cs typeface="Arial"/>
              </a:rPr>
              <a:t>Copilot propone.</a:t>
            </a:r>
          </a:p>
        </p:txBody>
      </p:sp>
      <p:sp>
        <p:nvSpPr>
          <p:cNvPr id="3" name="Student role">
            <a:extLst xmlns:a="http://schemas.openxmlformats.org/drawingml/2006/main">
              <a:ext uri="{FF2B5EF4-FFF2-40B4-BE49-F238E27FC236}">
                <a16:creationId xmlns:a16="http://schemas.microsoft.com/office/drawing/2014/main" id="{6608528B-A5C3-4E38-A9C6-52B6F3F52D06}"/>
              </a:ext>
            </a:extLst>
          </p:cNvPr>
          <p:cNvSpPr>
            <a:spLocks xmlns:a="http://schemas.openxmlformats.org/drawingml/2006/main" noGrp="1"/>
          </p:cNvSpPr>
          <p:nvPr/>
        </p:nvSpPr>
        <p:spPr>
          <a:xfrm xmlns:a="http://schemas.openxmlformats.org/drawingml/2006/main">
            <a:off x="762000" y="3429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A7E2D7"/>
                </a:solidFill>
                <a:latin typeface="Arial"/>
                <a:ea typeface="Arial"/>
                <a:cs typeface="Arial"/>
              </a:defRPr>
            </a:pPr>
            <a:r>
              <a:rPr sz="4350" b="1">
                <a:solidFill>
                  <a:srgbClr val="A7E2D7"/>
                </a:solidFill>
                <a:latin typeface="Arial"/>
                <a:ea typeface="Arial"/>
                <a:cs typeface="Arial"/>
              </a:rPr>
              <a:t>Tú revisas y decides.</a:t>
            </a:r>
          </a:p>
        </p:txBody>
      </p:sp>
      <p:sp>
        <p:nvSpPr>
          <p:cNvPr id="4" name="Practice method">
            <a:extLst xmlns:a="http://schemas.openxmlformats.org/drawingml/2006/main">
              <a:ext uri="{FF2B5EF4-FFF2-40B4-BE49-F238E27FC236}">
                <a16:creationId xmlns:a16="http://schemas.microsoft.com/office/drawing/2014/main" id="{6DC115E9-A120-4596-AF54-96BCDCB990B2}"/>
              </a:ext>
            </a:extLst>
          </p:cNvPr>
          <p:cNvSpPr>
            <a:spLocks xmlns:a="http://schemas.openxmlformats.org/drawingml/2006/main" noGrp="1"/>
          </p:cNvSpPr>
          <p:nvPr/>
        </p:nvSpPr>
        <p:spPr>
          <a:xfrm xmlns:a="http://schemas.openxmlformats.org/drawingml/2006/main">
            <a:off x="800100" y="51339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Verás una demostración y practicarás en equipo.</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Probarás tu solución y explicarás tus decisiones.</a:t>
            </a:r>
          </a:p>
        </p:txBody>
      </p:sp>
    </p:spTree>
    <p:extLst>
      <p:ext uri="{BB962C8B-B14F-4D97-AF65-F5344CB8AC3E}">
        <p14:creationId xmlns:p14="http://schemas.microsoft.com/office/powerpoint/2010/main" val="1581674079"/>
      </p:ext>
    </p:extLst>
  </p:cSld>
</p:sld>
</file>

<file path=ppt/slides/slide4.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1634622E-9FE8-464E-ADBA-80F1392DCDF1}"/>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01</a:t>
            </a:r>
          </a:p>
        </p:txBody>
      </p:sp>
      <p:sp>
        <p:nvSpPr>
          <p:cNvPr id="3" name="Class title">
            <a:extLst xmlns:a="http://schemas.openxmlformats.org/drawingml/2006/main">
              <a:ext uri="{FF2B5EF4-FFF2-40B4-BE49-F238E27FC236}">
                <a16:creationId xmlns:a16="http://schemas.microsoft.com/office/drawing/2014/main" id="{4118A6EB-88B5-4E61-BDE4-E0BC55C181AB}"/>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Copilot y su contexto</a:t>
            </a:r>
          </a:p>
        </p:txBody>
      </p:sp>
      <p:sp>
        <p:nvSpPr>
          <p:cNvPr id="5" name="Learning outcome">
            <a:extLst xmlns:a="http://schemas.openxmlformats.org/drawingml/2006/main">
              <a:ext uri="{FF2B5EF4-FFF2-40B4-BE49-F238E27FC236}">
                <a16:creationId xmlns:a16="http://schemas.microsoft.com/office/drawing/2014/main" id="{A6BC4726-A934-4119-8C10-2AD922D8AE67}"/>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El harness: instrucciones y contexto</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para guiar a la IA.</a:t>
            </a:r>
          </a:p>
        </p:txBody>
      </p:sp>
      <p:sp>
        <p:nvSpPr>
          <p:cNvPr id="7" name="Practice outcome">
            <a:extLst xmlns:a="http://schemas.openxmlformats.org/drawingml/2006/main">
              <a:ext uri="{FF2B5EF4-FFF2-40B4-BE49-F238E27FC236}">
                <a16:creationId xmlns:a16="http://schemas.microsoft.com/office/drawing/2014/main" id="{A05EA7BE-AB96-45CC-9889-15108446ACC4}"/>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Configurar Copilot para el proyecto</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y comprobar sus propuestas.</a:t>
            </a:r>
          </a:p>
        </p:txBody>
      </p:sp>
      <p:sp>
        <p:nvSpPr>
          <p:cNvPr id="9" name="Module context">
            <a:extLst xmlns:a="http://schemas.openxmlformats.org/drawingml/2006/main">
              <a:ext uri="{FF2B5EF4-FFF2-40B4-BE49-F238E27FC236}">
                <a16:creationId xmlns:a16="http://schemas.microsoft.com/office/drawing/2014/main" id="{69799330-5E82-4C8B-A956-2338C955AADC}"/>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Copilot necesita conocer las reglas del proyecto.</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Ese contexto ayuda a proponer cambios que podamos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revisar y comprobar.</a:t>
            </a:r>
          </a:p>
        </p:txBody>
      </p:sp>
    </p:spTree>
    <p:extLst>
      <p:ext uri="{BB962C8B-B14F-4D97-AF65-F5344CB8AC3E}">
        <p14:creationId xmlns:p14="http://schemas.microsoft.com/office/powerpoint/2010/main" val="1010525158"/>
      </p:ext>
    </p:extLst>
  </p:cSld>
</p:sld>
</file>

<file path=ppt/slides/slide5.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9E5D23F9-7CB2-4F66-9974-A3178C25BB32}"/>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01</a:t>
            </a:r>
          </a:p>
        </p:txBody>
      </p:sp>
      <p:sp>
        <p:nvSpPr>
          <p:cNvPr id="2" name="Concept title">
            <a:extLst xmlns:a="http://schemas.openxmlformats.org/drawingml/2006/main">
              <a:ext uri="{FF2B5EF4-FFF2-40B4-BE49-F238E27FC236}">
                <a16:creationId xmlns:a16="http://schemas.microsoft.com/office/drawing/2014/main" id="{B2A5BC60-7C9F-4986-8635-C6C996C9DBAA}"/>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IA, prompts y harness</a:t>
            </a:r>
          </a:p>
        </p:txBody>
      </p:sp>
      <p:sp>
        <p:nvSpPr>
          <p:cNvPr id="3" name="Concept definition">
            <a:extLst xmlns:a="http://schemas.openxmlformats.org/drawingml/2006/main">
              <a:ext uri="{FF2B5EF4-FFF2-40B4-BE49-F238E27FC236}">
                <a16:creationId xmlns:a16="http://schemas.microsoft.com/office/drawing/2014/main" id="{619C5438-46E5-44FF-B537-DF57F5622B8B}"/>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IA = inteligencia artificial. Copilot propone código a partir</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del contexto que recibe. Un prompt es una petición con</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una tarea y un resultado esperado.</a:t>
            </a:r>
          </a:p>
        </p:txBody>
      </p:sp>
      <p:sp>
        <p:nvSpPr>
          <p:cNvPr id="4" name="Concept explanation">
            <a:extLst xmlns:a="http://schemas.openxmlformats.org/drawingml/2006/main">
              <a:ext uri="{FF2B5EF4-FFF2-40B4-BE49-F238E27FC236}">
                <a16:creationId xmlns:a16="http://schemas.microsoft.com/office/drawing/2014/main" id="{71F26511-620F-4527-A9DB-D8AA16F420CB}"/>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El harness reúne instrucciones, archivos relevantes,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herramientas y verificaciones. Las instrucciones orientan</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la respuesta. Las pruebas ayudan a comprobar el código.</a:t>
            </a:r>
          </a:p>
        </p:txBody>
      </p:sp>
      <p:sp>
        <p:nvSpPr>
          <p:cNvPr id="5" name="Concept example label">
            <a:extLst xmlns:a="http://schemas.openxmlformats.org/drawingml/2006/main">
              <a:ext uri="{FF2B5EF4-FFF2-40B4-BE49-F238E27FC236}">
                <a16:creationId xmlns:a16="http://schemas.microsoft.com/office/drawing/2014/main" id="{6E47DB28-6936-4956-B024-566BFF0C300A}"/>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CB1D6470-EF30-4321-AD3F-50A0B89B574C}"/>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Adjuntamos Product.cs y pedimos pruebas para precios inválidos.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Revisamos el código propuesto y ejecutamos esas pruebas.</a:t>
            </a:r>
          </a:p>
        </p:txBody>
      </p:sp>
    </p:spTree>
    <p:extLst>
      <p:ext uri="{BB962C8B-B14F-4D97-AF65-F5344CB8AC3E}">
        <p14:creationId xmlns:p14="http://schemas.microsoft.com/office/powerpoint/2010/main" val="576954182"/>
      </p:ext>
    </p:extLst>
  </p:cSld>
</p:sld>
</file>

<file path=ppt/slides/slide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69FDAA9-500F-4B23-A074-D1F31DD4C3CD}"/>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40434F04-05EF-4564-833B-E7FADA7E0E8B}"/>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AC927ED1-BAE7-4F31-A6BD-42B62991C926}"/>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87ED9E58-9D3B-4437-945C-63BE6D4279E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01</a:t>
            </a:r>
          </a:p>
        </p:txBody>
      </p:sp>
      <p:sp>
        <p:nvSpPr>
          <p:cNvPr id="2" name="Deep title">
            <a:extLst xmlns:a="http://schemas.openxmlformats.org/drawingml/2006/main">
              <a:ext uri="{FF2B5EF4-FFF2-40B4-BE49-F238E27FC236}">
                <a16:creationId xmlns:a16="http://schemas.microsoft.com/office/drawing/2014/main" id="{69604B71-697F-474D-8A0A-48F1009999FE}"/>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Elegir el contexto antes de pedir código</a:t>
            </a:r>
          </a:p>
        </p:txBody>
      </p:sp>
      <p:sp>
        <p:nvSpPr>
          <p:cNvPr id="3" name="Deep lead">
            <a:extLst xmlns:a="http://schemas.openxmlformats.org/drawingml/2006/main">
              <a:ext uri="{FF2B5EF4-FFF2-40B4-BE49-F238E27FC236}">
                <a16:creationId xmlns:a16="http://schemas.microsoft.com/office/drawing/2014/main" id="{2009B5D3-155E-4883-A9BD-3B5709F487EF}"/>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Una tarea útil conecta la regla del negocio, los archivos afectados y una condición</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observable de éxito.</a:t>
            </a:r>
          </a:p>
        </p:txBody>
      </p:sp>
      <p:sp>
        <p:nvSpPr>
          <p:cNvPr id="4" name="Diagram node regla">
            <a:extLst xmlns:a="http://schemas.openxmlformats.org/drawingml/2006/main">
              <a:ext uri="{FF2B5EF4-FFF2-40B4-BE49-F238E27FC236}">
                <a16:creationId xmlns:a16="http://schemas.microsoft.com/office/drawing/2014/main" id="{A6F62624-5DB0-42A9-95B5-1BF5426AFAFC}"/>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regla">
            <a:extLst xmlns:a="http://schemas.openxmlformats.org/drawingml/2006/main">
              <a:ext uri="{FF2B5EF4-FFF2-40B4-BE49-F238E27FC236}">
                <a16:creationId xmlns:a16="http://schemas.microsoft.com/office/drawing/2014/main" id="{8C51A9AC-38DC-4C87-B4D4-F044B60C7C27}"/>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Regla</a:t>
            </a:r>
          </a:p>
        </p:txBody>
      </p:sp>
      <p:sp>
        <p:nvSpPr>
          <p:cNvPr id="6" name="Node detail regla">
            <a:extLst xmlns:a="http://schemas.openxmlformats.org/drawingml/2006/main">
              <a:ext uri="{FF2B5EF4-FFF2-40B4-BE49-F238E27FC236}">
                <a16:creationId xmlns:a16="http://schemas.microsoft.com/office/drawing/2014/main" id="{17055DC8-1537-43BB-9AEB-9801F4C9623D}"/>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Precio válido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redondeo</a:t>
            </a:r>
          </a:p>
        </p:txBody>
      </p:sp>
      <p:sp>
        <p:nvSpPr>
          <p:cNvPr id="7" name="Diagram node archivos">
            <a:extLst xmlns:a="http://schemas.openxmlformats.org/drawingml/2006/main">
              <a:ext uri="{FF2B5EF4-FFF2-40B4-BE49-F238E27FC236}">
                <a16:creationId xmlns:a16="http://schemas.microsoft.com/office/drawing/2014/main" id="{32E5442B-6FCC-4A55-81FA-1161F1B5DFC3}"/>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archivos">
            <a:extLst xmlns:a="http://schemas.openxmlformats.org/drawingml/2006/main">
              <a:ext uri="{FF2B5EF4-FFF2-40B4-BE49-F238E27FC236}">
                <a16:creationId xmlns:a16="http://schemas.microsoft.com/office/drawing/2014/main" id="{A16549FC-40EC-4A32-B40E-875A99A83588}"/>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Contexto</a:t>
            </a:r>
          </a:p>
        </p:txBody>
      </p:sp>
      <p:sp>
        <p:nvSpPr>
          <p:cNvPr id="9" name="Node detail archivos">
            <a:extLst xmlns:a="http://schemas.openxmlformats.org/drawingml/2006/main">
              <a:ext uri="{FF2B5EF4-FFF2-40B4-BE49-F238E27FC236}">
                <a16:creationId xmlns:a16="http://schemas.microsoft.com/office/drawing/2014/main" id="{790E77FD-00B8-4EEC-A78C-7F1CDC4BE12E}"/>
              </a:ext>
            </a:extLst>
          </p:cNvPr>
          <p:cNvSpPr>
            <a:spLocks xmlns:a="http://schemas.openxmlformats.org/drawingml/2006/main" noGrp="1"/>
          </p:cNvSpPr>
          <p:nvPr/>
        </p:nvSpPr>
        <p:spPr>
          <a:xfrm xmlns:a="http://schemas.openxmlformats.org/drawingml/2006/main">
            <a:off x="3686175"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Product.cs +</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pruebas</a:t>
            </a:r>
          </a:p>
        </p:txBody>
      </p:sp>
      <p:sp>
        <p:nvSpPr>
          <p:cNvPr id="10" name="Diagram node propuesta">
            <a:extLst xmlns:a="http://schemas.openxmlformats.org/drawingml/2006/main">
              <a:ext uri="{FF2B5EF4-FFF2-40B4-BE49-F238E27FC236}">
                <a16:creationId xmlns:a16="http://schemas.microsoft.com/office/drawing/2014/main" id="{D9089036-81B2-4A01-B543-B0033068DF4E}"/>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propuesta">
            <a:extLst xmlns:a="http://schemas.openxmlformats.org/drawingml/2006/main">
              <a:ext uri="{FF2B5EF4-FFF2-40B4-BE49-F238E27FC236}">
                <a16:creationId xmlns:a16="http://schemas.microsoft.com/office/drawing/2014/main" id="{51533C0B-CB6A-4076-BF04-9F14FCD43899}"/>
              </a:ext>
            </a:extLst>
          </p:cNvPr>
          <p:cNvSpPr>
            <a:spLocks xmlns:a="http://schemas.openxmlformats.org/drawingml/2006/main" noGrp="1"/>
          </p:cNvSpPr>
          <p:nvPr/>
        </p:nvSpPr>
        <p:spPr>
          <a:xfrm xmlns:a="http://schemas.openxmlformats.org/drawingml/2006/main">
            <a:off x="649605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Copilot</a:t>
            </a:r>
          </a:p>
        </p:txBody>
      </p:sp>
      <p:sp>
        <p:nvSpPr>
          <p:cNvPr id="12" name="Node detail propuesta">
            <a:extLst xmlns:a="http://schemas.openxmlformats.org/drawingml/2006/main">
              <a:ext uri="{FF2B5EF4-FFF2-40B4-BE49-F238E27FC236}">
                <a16:creationId xmlns:a16="http://schemas.microsoft.com/office/drawing/2014/main" id="{F4417986-3F87-493F-9A40-B6AB21285193}"/>
              </a:ext>
            </a:extLst>
          </p:cNvPr>
          <p:cNvSpPr>
            <a:spLocks xmlns:a="http://schemas.openxmlformats.org/drawingml/2006/main" noGrp="1"/>
          </p:cNvSpPr>
          <p:nvPr/>
        </p:nvSpPr>
        <p:spPr>
          <a:xfrm xmlns:a="http://schemas.openxmlformats.org/drawingml/2006/main">
            <a:off x="6496050"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Cambio delimitado</a:t>
            </a:r>
          </a:p>
        </p:txBody>
      </p:sp>
      <p:sp>
        <p:nvSpPr>
          <p:cNvPr id="13" name="Diagram node evidencia">
            <a:extLst xmlns:a="http://schemas.openxmlformats.org/drawingml/2006/main">
              <a:ext uri="{FF2B5EF4-FFF2-40B4-BE49-F238E27FC236}">
                <a16:creationId xmlns:a16="http://schemas.microsoft.com/office/drawing/2014/main" id="{7F709F80-C2C6-4050-A3FB-3C1384284061}"/>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evidencia">
            <a:extLst xmlns:a="http://schemas.openxmlformats.org/drawingml/2006/main">
              <a:ext uri="{FF2B5EF4-FFF2-40B4-BE49-F238E27FC236}">
                <a16:creationId xmlns:a16="http://schemas.microsoft.com/office/drawing/2014/main" id="{7AFC70FD-264F-41B7-80A3-9B001DD16C1A}"/>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Evidencia</a:t>
            </a:r>
          </a:p>
        </p:txBody>
      </p:sp>
      <p:sp>
        <p:nvSpPr>
          <p:cNvPr id="15" name="Node detail evidencia">
            <a:extLst xmlns:a="http://schemas.openxmlformats.org/drawingml/2006/main">
              <a:ext uri="{FF2B5EF4-FFF2-40B4-BE49-F238E27FC236}">
                <a16:creationId xmlns:a16="http://schemas.microsoft.com/office/drawing/2014/main" id="{49549235-7D5B-4475-B46D-92F8B18784F5}"/>
              </a:ext>
            </a:extLst>
          </p:cNvPr>
          <p:cNvSpPr>
            <a:spLocks xmlns:a="http://schemas.openxmlformats.org/drawingml/2006/main" noGrp="1"/>
          </p:cNvSpPr>
          <p:nvPr/>
        </p:nvSpPr>
        <p:spPr>
          <a:xfrm xmlns:a="http://schemas.openxmlformats.org/drawingml/2006/main">
            <a:off x="930592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Diff + pruebas</a:t>
            </a:r>
          </a:p>
        </p:txBody>
      </p:sp>
      <p:sp>
        <p:nvSpPr>
          <p:cNvPr id="17" name="Relationship regla archivos">
            <a:extLst xmlns:a="http://schemas.openxmlformats.org/drawingml/2006/main">
              <a:ext uri="{FF2B5EF4-FFF2-40B4-BE49-F238E27FC236}">
                <a16:creationId xmlns:a16="http://schemas.microsoft.com/office/drawing/2014/main" id="{17B28D1E-99B3-4D58-87FF-3E016BBE891C}"/>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selecciona</a:t>
            </a:r>
          </a:p>
        </p:txBody>
      </p:sp>
      <p:sp>
        <p:nvSpPr>
          <p:cNvPr id="19" name="Relationship archivos propuesta">
            <a:extLst xmlns:a="http://schemas.openxmlformats.org/drawingml/2006/main">
              <a:ext uri="{FF2B5EF4-FFF2-40B4-BE49-F238E27FC236}">
                <a16:creationId xmlns:a16="http://schemas.microsoft.com/office/drawing/2014/main" id="{46F3FC98-3407-4C97-9F73-46FB7BB6E188}"/>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orienta</a:t>
            </a:r>
          </a:p>
        </p:txBody>
      </p:sp>
      <p:sp>
        <p:nvSpPr>
          <p:cNvPr id="21" name="Relationship propuesta evidencia">
            <a:extLst xmlns:a="http://schemas.openxmlformats.org/drawingml/2006/main">
              <a:ext uri="{FF2B5EF4-FFF2-40B4-BE49-F238E27FC236}">
                <a16:creationId xmlns:a16="http://schemas.microsoft.com/office/drawing/2014/main" id="{1387E794-CBD7-4205-A265-249A705F8DFD}"/>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se verifica</a:t>
            </a:r>
          </a:p>
        </p:txBody>
      </p:sp>
      <p:sp>
        <p:nvSpPr>
          <p:cNvPr id="22" name="Analysis 1">
            <a:extLst xmlns:a="http://schemas.openxmlformats.org/drawingml/2006/main">
              <a:ext uri="{FF2B5EF4-FFF2-40B4-BE49-F238E27FC236}">
                <a16:creationId xmlns:a16="http://schemas.microsoft.com/office/drawing/2014/main" id="{B6680502-3415-4D0C-9AF6-F48D7365C9CC}"/>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Contexto suficiente.</a:t>
            </a:r>
            <a:r>
              <a:rPr sz="1800" b="0">
                <a:solidFill>
                  <a:srgbClr val="45516A"/>
                </a:solidFill>
                <a:latin typeface="Arial"/>
                <a:ea typeface="Arial"/>
                <a:cs typeface="Arial"/>
              </a:rPr>
              <a:t> Para cambiar precios, adjunta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Product.cs y sus pruebas; añade instrucciones de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dominio y la regla concreta.</a:t>
            </a:r>
          </a:p>
        </p:txBody>
      </p:sp>
      <p:sp>
        <p:nvSpPr>
          <p:cNvPr id="23" name="Analysis 2">
            <a:extLst xmlns:a="http://schemas.openxmlformats.org/drawingml/2006/main">
              <a:ext uri="{FF2B5EF4-FFF2-40B4-BE49-F238E27FC236}">
                <a16:creationId xmlns:a16="http://schemas.microsoft.com/office/drawing/2014/main" id="{B523B871-FE85-41C3-8953-17CEA33F1B2A}"/>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Aceptar con evidencia.</a:t>
            </a:r>
            <a:r>
              <a:rPr sz="1800" b="0">
                <a:solidFill>
                  <a:srgbClr val="45516A"/>
                </a:solidFill>
                <a:latin typeface="Arial"/>
                <a:ea typeface="Arial"/>
                <a:cs typeface="Arial"/>
              </a:rPr>
              <a:t> Una respuesta debe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respetar esas reglas y superar casos válidos,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inválidos y de estado sin cambios.</a:t>
            </a:r>
          </a:p>
        </p:txBody>
      </p:sp>
    </p:spTree>
    <p:extLst>
      <p:ext uri="{BB962C8B-B14F-4D97-AF65-F5344CB8AC3E}">
        <p14:creationId xmlns:p14="http://schemas.microsoft.com/office/powerpoint/2010/main" val="1596033814"/>
      </p:ext>
    </p:extLst>
  </p:cSld>
</p:sld>
</file>

<file path=ppt/slides/slide7.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7240DB2C-7F15-4BB5-B803-E008F997E5FF}"/>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01</a:t>
            </a:r>
          </a:p>
        </p:txBody>
      </p:sp>
      <p:sp>
        <p:nvSpPr>
          <p:cNvPr id="2" name="Deep title">
            <a:extLst xmlns:a="http://schemas.openxmlformats.org/drawingml/2006/main">
              <a:ext uri="{FF2B5EF4-FFF2-40B4-BE49-F238E27FC236}">
                <a16:creationId xmlns:a16="http://schemas.microsoft.com/office/drawing/2014/main" id="{706FC6F6-7086-43A3-9530-110F6D4A7BEC}"/>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Convertir una petición en criterios claros</a:t>
            </a:r>
          </a:p>
        </p:txBody>
      </p:sp>
      <p:sp>
        <p:nvSpPr>
          <p:cNvPr id="3" name="Deep lead">
            <a:extLst xmlns:a="http://schemas.openxmlformats.org/drawingml/2006/main">
              <a:ext uri="{FF2B5EF4-FFF2-40B4-BE49-F238E27FC236}">
                <a16:creationId xmlns:a16="http://schemas.microsoft.com/office/drawing/2014/main" id="{2069BE77-70B8-4AB7-AC94-EF3DCA1BC2CE}"/>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Un prompt útil define alcance, restricciones y evidencia antes de permitir que Copilot</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implemente cambios.</a:t>
            </a:r>
          </a:p>
        </p:txBody>
      </p:sp>
      <p:sp>
        <p:nvSpPr>
          <p:cNvPr id="4" name="Explanation heading 1">
            <a:extLst xmlns:a="http://schemas.openxmlformats.org/drawingml/2006/main">
              <a:ext uri="{FF2B5EF4-FFF2-40B4-BE49-F238E27FC236}">
                <a16:creationId xmlns:a16="http://schemas.microsoft.com/office/drawing/2014/main" id="{4AFB9977-84D2-469E-A9C5-7F02CDAFB924}"/>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Alcance</a:t>
            </a:r>
          </a:p>
        </p:txBody>
      </p:sp>
      <p:sp>
        <p:nvSpPr>
          <p:cNvPr id="5" name="Explanation body 1">
            <a:extLst xmlns:a="http://schemas.openxmlformats.org/drawingml/2006/main">
              <a:ext uri="{FF2B5EF4-FFF2-40B4-BE49-F238E27FC236}">
                <a16:creationId xmlns:a16="http://schemas.microsoft.com/office/drawing/2014/main" id="{E591F9E5-5757-4F6F-BBE0-32431DCFD6E3}"/>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Revisa Product.Update y sus pruebas. Explica primero el tratamiento de precios 0.001 y</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0.01.</a:t>
            </a:r>
          </a:p>
        </p:txBody>
      </p:sp>
      <p:sp>
        <p:nvSpPr>
          <p:cNvPr id="6" name="Explanation heading 2">
            <a:extLst xmlns:a="http://schemas.openxmlformats.org/drawingml/2006/main">
              <a:ext uri="{FF2B5EF4-FFF2-40B4-BE49-F238E27FC236}">
                <a16:creationId xmlns:a16="http://schemas.microsoft.com/office/drawing/2014/main" id="{F17F0FA5-1A77-4A96-8DDE-30CBE4D9FD93}"/>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Restricciones</a:t>
            </a:r>
          </a:p>
        </p:txBody>
      </p:sp>
      <p:sp>
        <p:nvSpPr>
          <p:cNvPr id="7" name="Explanation body 2">
            <a:extLst xmlns:a="http://schemas.openxmlformats.org/drawingml/2006/main">
              <a:ext uri="{FF2B5EF4-FFF2-40B4-BE49-F238E27FC236}">
                <a16:creationId xmlns:a16="http://schemas.microsoft.com/office/drawing/2014/main" id="{87405A44-2FE4-4AE9-AA94-3D38A0D08590}"/>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Conserva decimal, redondeo y setters privados. No añadas paquetes ni modifiques</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contratos de la API.</a:t>
            </a:r>
          </a:p>
        </p:txBody>
      </p:sp>
      <p:sp>
        <p:nvSpPr>
          <p:cNvPr id="8" name="Explanation heading 3">
            <a:extLst xmlns:a="http://schemas.openxmlformats.org/drawingml/2006/main">
              <a:ext uri="{FF2B5EF4-FFF2-40B4-BE49-F238E27FC236}">
                <a16:creationId xmlns:a16="http://schemas.microsoft.com/office/drawing/2014/main" id="{2A232DB0-46F8-4934-BB9D-DCCAE6B2243F}"/>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Aceptación</a:t>
            </a:r>
          </a:p>
        </p:txBody>
      </p:sp>
      <p:sp>
        <p:nvSpPr>
          <p:cNvPr id="9" name="Explanation body 3">
            <a:extLst xmlns:a="http://schemas.openxmlformats.org/drawingml/2006/main">
              <a:ext uri="{FF2B5EF4-FFF2-40B4-BE49-F238E27FC236}">
                <a16:creationId xmlns:a16="http://schemas.microsoft.com/office/drawing/2014/main" id="{EF6AFF7A-E672-4AFA-B180-FCDF2FE8D6BE}"/>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Una entrada inválida falla sin cambiar SKU, nombre ni precio. Muestra el diff y las</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pruebas ejecutadas.</a:t>
            </a:r>
          </a:p>
        </p:txBody>
      </p:sp>
    </p:spTree>
    <p:extLst>
      <p:ext uri="{BB962C8B-B14F-4D97-AF65-F5344CB8AC3E}">
        <p14:creationId xmlns:p14="http://schemas.microsoft.com/office/powerpoint/2010/main" val="846070931"/>
      </p:ext>
    </p:extLst>
  </p:cSld>
</p:sld>
</file>

<file path=ppt/slides/slide8.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6" name="Deep module">
            <a:extLst xmlns:a="http://schemas.openxmlformats.org/drawingml/2006/main">
              <a:ext uri="{FF2B5EF4-FFF2-40B4-BE49-F238E27FC236}">
                <a16:creationId xmlns:a16="http://schemas.microsoft.com/office/drawing/2014/main" id="{15A4C518-66AE-476A-A7F3-51CE0B7D4FFA}"/>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01</a:t>
            </a:r>
          </a:p>
        </p:txBody>
      </p:sp>
      <p:sp>
        <p:nvSpPr>
          <p:cNvPr id="2" name="Deep title">
            <a:extLst xmlns:a="http://schemas.openxmlformats.org/drawingml/2006/main">
              <a:ext uri="{FF2B5EF4-FFF2-40B4-BE49-F238E27FC236}">
                <a16:creationId xmlns:a16="http://schemas.microsoft.com/office/drawing/2014/main" id="{ACD7EF82-2D94-44C4-AD0A-9DA56AF8AEFD}"/>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El arquitecto revisa antes de implementar</a:t>
            </a:r>
          </a:p>
        </p:txBody>
      </p:sp>
      <p:sp>
        <p:nvSpPr>
          <p:cNvPr id="3" name="Deep lead">
            <a:extLst xmlns:a="http://schemas.openxmlformats.org/drawingml/2006/main">
              <a:ext uri="{FF2B5EF4-FFF2-40B4-BE49-F238E27FC236}">
                <a16:creationId xmlns:a16="http://schemas.microsoft.com/office/drawing/2014/main" id="{70907FCC-2632-4EFA-A357-62B6472AC51B}"/>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configuración del agente expresa su función y las herramientas con las que puede</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examinar el proyecto.</a:t>
            </a:r>
          </a:p>
        </p:txBody>
      </p:sp>
      <p:sp>
        <p:nvSpPr>
          <p:cNvPr id="4" name="Code provenance">
            <a:extLst xmlns:a="http://schemas.openxmlformats.org/drawingml/2006/main">
              <a:ext uri="{FF2B5EF4-FFF2-40B4-BE49-F238E27FC236}">
                <a16:creationId xmlns:a16="http://schemas.microsoft.com/office/drawing/2014/main" id="{481C92BC-3815-48C1-95B2-C2E0BB564E84}"/>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Esquema didáctico</a:t>
            </a:r>
          </a:p>
        </p:txBody>
      </p:sp>
      <p:sp>
        <p:nvSpPr>
          <p:cNvPr id="5" name="Code line 1">
            <a:extLst xmlns:a="http://schemas.openxmlformats.org/drawingml/2006/main">
              <a:ext uri="{FF2B5EF4-FFF2-40B4-BE49-F238E27FC236}">
                <a16:creationId xmlns:a16="http://schemas.microsoft.com/office/drawing/2014/main" id="{2907DE03-EA94-44A7-8464-87AAF67B1260}"/>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6" name="Code line 2">
            <a:extLst xmlns:a="http://schemas.openxmlformats.org/drawingml/2006/main">
              <a:ext uri="{FF2B5EF4-FFF2-40B4-BE49-F238E27FC236}">
                <a16:creationId xmlns:a16="http://schemas.microsoft.com/office/drawing/2014/main" id="{7B0B5D14-7EFF-492B-BE1D-779100ECEFAE}"/>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name: Arquitecto de AulaPedidos</a:t>
            </a:r>
          </a:p>
        </p:txBody>
      </p:sp>
      <p:sp>
        <p:nvSpPr>
          <p:cNvPr id="7" name="Code line 3">
            <a:extLst xmlns:a="http://schemas.openxmlformats.org/drawingml/2006/main">
              <a:ext uri="{FF2B5EF4-FFF2-40B4-BE49-F238E27FC236}">
                <a16:creationId xmlns:a16="http://schemas.microsoft.com/office/drawing/2014/main" id="{48C4A3D2-5597-4134-BA1D-D8F51F560CAE}"/>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description: &gt;</a:t>
            </a:r>
          </a:p>
        </p:txBody>
      </p:sp>
      <p:sp>
        <p:nvSpPr>
          <p:cNvPr id="8" name="Code line 4">
            <a:extLst xmlns:a="http://schemas.openxmlformats.org/drawingml/2006/main">
              <a:ext uri="{FF2B5EF4-FFF2-40B4-BE49-F238E27FC236}">
                <a16:creationId xmlns:a16="http://schemas.microsoft.com/office/drawing/2014/main" id="{8465BBA0-E793-476D-A481-D378122F0211}"/>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Evalúa límites, decisiones y riesgos antes de implementar.</a:t>
            </a:r>
          </a:p>
        </p:txBody>
      </p:sp>
      <p:sp>
        <p:nvSpPr>
          <p:cNvPr id="9" name="Code line 5">
            <a:extLst xmlns:a="http://schemas.openxmlformats.org/drawingml/2006/main">
              <a:ext uri="{FF2B5EF4-FFF2-40B4-BE49-F238E27FC236}">
                <a16:creationId xmlns:a16="http://schemas.microsoft.com/office/drawing/2014/main" id="{A62898C5-1EFB-4A7A-9BC0-6FDE3A97339D}"/>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tools:</a:t>
            </a:r>
          </a:p>
        </p:txBody>
      </p:sp>
      <p:sp>
        <p:nvSpPr>
          <p:cNvPr id="10" name="Code line 6">
            <a:extLst xmlns:a="http://schemas.openxmlformats.org/drawingml/2006/main">
              <a:ext uri="{FF2B5EF4-FFF2-40B4-BE49-F238E27FC236}">
                <a16:creationId xmlns:a16="http://schemas.microsoft.com/office/drawing/2014/main" id="{83F9A468-7F87-4824-84AC-8F92900F4160}"/>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code_search</a:t>
            </a:r>
          </a:p>
        </p:txBody>
      </p:sp>
      <p:sp>
        <p:nvSpPr>
          <p:cNvPr id="11" name="Code line 7">
            <a:extLst xmlns:a="http://schemas.openxmlformats.org/drawingml/2006/main">
              <a:ext uri="{FF2B5EF4-FFF2-40B4-BE49-F238E27FC236}">
                <a16:creationId xmlns:a16="http://schemas.microsoft.com/office/drawing/2014/main" id="{CEF8BA72-44AA-4516-AD76-35D8CD6FFF14}"/>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readfile</a:t>
            </a:r>
          </a:p>
        </p:txBody>
      </p:sp>
      <p:sp>
        <p:nvSpPr>
          <p:cNvPr id="12" name="Code line 8">
            <a:extLst xmlns:a="http://schemas.openxmlformats.org/drawingml/2006/main">
              <a:ext uri="{FF2B5EF4-FFF2-40B4-BE49-F238E27FC236}">
                <a16:creationId xmlns:a16="http://schemas.microsoft.com/office/drawing/2014/main" id="{B54F9ECB-8C08-46A9-AFDA-62A84A70232F}"/>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find_references</a:t>
            </a:r>
          </a:p>
        </p:txBody>
      </p:sp>
      <p:sp>
        <p:nvSpPr>
          <p:cNvPr id="13" name="Code line 9">
            <a:extLst xmlns:a="http://schemas.openxmlformats.org/drawingml/2006/main">
              <a:ext uri="{FF2B5EF4-FFF2-40B4-BE49-F238E27FC236}">
                <a16:creationId xmlns:a16="http://schemas.microsoft.com/office/drawing/2014/main" id="{5ACDEC22-FBEC-45C9-BA38-C19DC536A986}"/>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14" name="Analysis 1">
            <a:extLst xmlns:a="http://schemas.openxmlformats.org/drawingml/2006/main">
              <a:ext uri="{FF2B5EF4-FFF2-40B4-BE49-F238E27FC236}">
                <a16:creationId xmlns:a16="http://schemas.microsoft.com/office/drawing/2014/main" id="{A0114B9B-056F-4007-81FB-F238622B1532}"/>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Función concreta.</a:t>
            </a:r>
            <a:r>
              <a:rPr sz="1725" b="0">
                <a:solidFill>
                  <a:srgbClr val="D0D8E6"/>
                </a:solidFill>
                <a:latin typeface="Arial"/>
                <a:ea typeface="Arial"/>
                <a:cs typeface="Arial"/>
              </a:rPr>
              <a:t> Propone decisiones y alternativas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 evidencia; el archivo del agente indica que no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edite ni ejecute comandos.</a:t>
            </a:r>
          </a:p>
        </p:txBody>
      </p:sp>
      <p:sp>
        <p:nvSpPr>
          <p:cNvPr id="15" name="Analysis 2">
            <a:extLst xmlns:a="http://schemas.openxmlformats.org/drawingml/2006/main">
              <a:ext uri="{FF2B5EF4-FFF2-40B4-BE49-F238E27FC236}">
                <a16:creationId xmlns:a16="http://schemas.microsoft.com/office/drawing/2014/main" id="{A2C6BC0B-4EC4-406D-ADDA-6CE0ED31064F}"/>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Permisos comprobados.</a:t>
            </a:r>
            <a:r>
              <a:rPr sz="1725" b="0">
                <a:solidFill>
                  <a:srgbClr val="D0D8E6"/>
                </a:solidFill>
                <a:latin typeface="Arial"/>
                <a:ea typeface="Arial"/>
                <a:cs typeface="Arial"/>
              </a:rPr>
              <a:t> Confirma las herramientas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disponibles en Visual Studio; el nombre «Arquitecto»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por sí solo no restringe acciones.</a:t>
            </a:r>
          </a:p>
        </p:txBody>
      </p:sp>
    </p:spTree>
    <p:extLst>
      <p:ext uri="{BB962C8B-B14F-4D97-AF65-F5344CB8AC3E}">
        <p14:creationId xmlns:p14="http://schemas.microsoft.com/office/powerpoint/2010/main" val="1458744694"/>
      </p:ext>
    </p:extLst>
  </p:cSld>
</p:sld>
</file>

<file path=ppt/slides/slide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A8AAB2D6-575F-4CDE-A716-DDE5F1CEB3B9}"/>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01</a:t>
            </a:r>
          </a:p>
        </p:txBody>
      </p:sp>
      <p:sp>
        <p:nvSpPr>
          <p:cNvPr id="2" name="Deep title">
            <a:extLst xmlns:a="http://schemas.openxmlformats.org/drawingml/2006/main">
              <a:ext uri="{FF2B5EF4-FFF2-40B4-BE49-F238E27FC236}">
                <a16:creationId xmlns:a16="http://schemas.microsoft.com/office/drawing/2014/main" id="{49D30C4B-6CE4-48FB-A766-4B04CB76F0B4}"/>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Verificar el proyecto con comandos .NET</a:t>
            </a:r>
          </a:p>
        </p:txBody>
      </p:sp>
      <p:sp>
        <p:nvSpPr>
          <p:cNvPr id="3" name="Deep lead">
            <a:extLst xmlns:a="http://schemas.openxmlformats.org/drawingml/2006/main">
              <a:ext uri="{FF2B5EF4-FFF2-40B4-BE49-F238E27FC236}">
                <a16:creationId xmlns:a16="http://schemas.microsoft.com/office/drawing/2014/main" id="{B7E05825-62C2-424C-A7BA-31D00EDDB804}"/>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El harness combina instrucciones para Copilot con comandos que producen evidencia</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verificable sobre el estado del proyecto.</a:t>
            </a:r>
          </a:p>
        </p:txBody>
      </p:sp>
      <p:sp>
        <p:nvSpPr>
          <p:cNvPr id="4" name="Code provenance">
            <a:extLst xmlns:a="http://schemas.openxmlformats.org/drawingml/2006/main">
              <a:ext uri="{FF2B5EF4-FFF2-40B4-BE49-F238E27FC236}">
                <a16:creationId xmlns:a16="http://schemas.microsoft.com/office/drawing/2014/main" id="{F8BE2BB7-CCAB-45A3-AF37-330AEF486A84}"/>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Comandos de .NET CLI</a:t>
            </a:r>
          </a:p>
        </p:txBody>
      </p:sp>
      <p:sp>
        <p:nvSpPr>
          <p:cNvPr id="5" name="Code line 1">
            <a:extLst xmlns:a="http://schemas.openxmlformats.org/drawingml/2006/main">
              <a:ext uri="{FF2B5EF4-FFF2-40B4-BE49-F238E27FC236}">
                <a16:creationId xmlns:a16="http://schemas.microsoft.com/office/drawing/2014/main" id="{0802E240-FF45-46ED-9591-36529AB9D8F8}"/>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dotnet tool restore</a:t>
            </a:r>
          </a:p>
        </p:txBody>
      </p:sp>
      <p:sp>
        <p:nvSpPr>
          <p:cNvPr id="6" name="Code line 2">
            <a:extLst xmlns:a="http://schemas.openxmlformats.org/drawingml/2006/main">
              <a:ext uri="{FF2B5EF4-FFF2-40B4-BE49-F238E27FC236}">
                <a16:creationId xmlns:a16="http://schemas.microsoft.com/office/drawing/2014/main" id="{A345B408-D38C-4BC1-9BC5-A7479BA7872B}"/>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dotnet restore AulaPedidos.slnx --locked-mode</a:t>
            </a:r>
          </a:p>
        </p:txBody>
      </p:sp>
      <p:sp>
        <p:nvSpPr>
          <p:cNvPr id="7" name="Code line 3">
            <a:extLst xmlns:a="http://schemas.openxmlformats.org/drawingml/2006/main">
              <a:ext uri="{FF2B5EF4-FFF2-40B4-BE49-F238E27FC236}">
                <a16:creationId xmlns:a16="http://schemas.microsoft.com/office/drawing/2014/main" id="{7B98CC2D-9817-4988-AD82-7DA784287D58}"/>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dotnet build AulaPedidos.slnx -c Release --no-restore</a:t>
            </a:r>
          </a:p>
        </p:txBody>
      </p:sp>
      <p:sp>
        <p:nvSpPr>
          <p:cNvPr id="8" name="Code line 4">
            <a:extLst xmlns:a="http://schemas.openxmlformats.org/drawingml/2006/main">
              <a:ext uri="{FF2B5EF4-FFF2-40B4-BE49-F238E27FC236}">
                <a16:creationId xmlns:a16="http://schemas.microsoft.com/office/drawing/2014/main" id="{DF510D99-127C-44F9-8E14-A0FF6D00C021}"/>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dotnet test AulaPedidos.slnx -c Release --no-build</a:t>
            </a:r>
          </a:p>
        </p:txBody>
      </p:sp>
      <p:sp>
        <p:nvSpPr>
          <p:cNvPr id="12" name="Analysis 1">
            <a:extLst xmlns:a="http://schemas.openxmlformats.org/drawingml/2006/main">
              <a:ext uri="{FF2B5EF4-FFF2-40B4-BE49-F238E27FC236}">
                <a16:creationId xmlns:a16="http://schemas.microsoft.com/office/drawing/2014/main" id="{247093A7-892C-40DB-A2D7-6B70901609B8}"/>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Restauración reproducible.</a:t>
            </a:r>
            <a:r>
              <a:rPr sz="1725" b="0">
                <a:solidFill>
                  <a:srgbClr val="D0D8E6"/>
                </a:solidFill>
                <a:latin typeface="Arial"/>
                <a:ea typeface="Arial"/>
                <a:cs typeface="Arial"/>
              </a:rPr>
              <a:t> --locked-mode exige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respetar los archivos de bloqueo de paquetes antes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 compilar.</a:t>
            </a:r>
          </a:p>
        </p:txBody>
      </p:sp>
      <p:sp>
        <p:nvSpPr>
          <p:cNvPr id="13" name="Analysis 2">
            <a:extLst xmlns:a="http://schemas.openxmlformats.org/drawingml/2006/main">
              <a:ext uri="{FF2B5EF4-FFF2-40B4-BE49-F238E27FC236}">
                <a16:creationId xmlns:a16="http://schemas.microsoft.com/office/drawing/2014/main" id="{F31E7C95-F441-48DD-A960-843ADF4351EC}"/>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Resultados verificables.</a:t>
            </a:r>
            <a:r>
              <a:rPr sz="1725" b="0">
                <a:solidFill>
                  <a:srgbClr val="D0D8E6"/>
                </a:solidFill>
                <a:latin typeface="Arial"/>
                <a:ea typeface="Arial"/>
                <a:cs typeface="Arial"/>
              </a:rPr>
              <a:t> Ejecuta cada comando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sólo si el anterior terminó correctamente.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CI detiene los pasos siguientes ante un error.</a:t>
            </a:r>
          </a:p>
        </p:txBody>
      </p:sp>
    </p:spTree>
    <p:extLst>
      <p:ext uri="{BB962C8B-B14F-4D97-AF65-F5344CB8AC3E}">
        <p14:creationId xmlns:p14="http://schemas.microsoft.com/office/powerpoint/2010/main" val="461616382"/>
      </p:ext>
    </p:extLst>
  </p:cSld>
</p:sld>
</file>

<file path=ppt/slides/slide10.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DD29C8F4-D4F4-46DC-B770-B68986F99C7F}"/>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02</a:t>
            </a:r>
          </a:p>
        </p:txBody>
      </p:sp>
      <p:sp>
        <p:nvSpPr>
          <p:cNvPr id="3" name="Class title">
            <a:extLst xmlns:a="http://schemas.openxmlformats.org/drawingml/2006/main">
              <a:ext uri="{FF2B5EF4-FFF2-40B4-BE49-F238E27FC236}">
                <a16:creationId xmlns:a16="http://schemas.microsoft.com/office/drawing/2014/main" id="{797B655C-02C1-4FA7-9570-A7E5CC51C023}"/>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Arquitectura</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por capas</a:t>
            </a:r>
          </a:p>
        </p:txBody>
      </p:sp>
      <p:sp>
        <p:nvSpPr>
          <p:cNvPr id="5" name="Learning outcome">
            <a:extLst xmlns:a="http://schemas.openxmlformats.org/drawingml/2006/main">
              <a:ext uri="{FF2B5EF4-FFF2-40B4-BE49-F238E27FC236}">
                <a16:creationId xmlns:a16="http://schemas.microsoft.com/office/drawing/2014/main" id="{ED351AAF-C452-47FA-8A7A-44232C55D438}"/>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Clean Architecture y SOLID</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para separar responsabilidades.</a:t>
            </a:r>
          </a:p>
        </p:txBody>
      </p:sp>
      <p:sp>
        <p:nvSpPr>
          <p:cNvPr id="7" name="Practice outcome">
            <a:extLst xmlns:a="http://schemas.openxmlformats.org/drawingml/2006/main">
              <a:ext uri="{FF2B5EF4-FFF2-40B4-BE49-F238E27FC236}">
                <a16:creationId xmlns:a16="http://schemas.microsoft.com/office/drawing/2014/main" id="{870FA262-B106-4237-8BD7-AA638421AC68}"/>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Definir reglas de negocio</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y organizar las dependencias.</a:t>
            </a:r>
          </a:p>
        </p:txBody>
      </p:sp>
      <p:sp>
        <p:nvSpPr>
          <p:cNvPr id="9" name="Module context">
            <a:extLst xmlns:a="http://schemas.openxmlformats.org/drawingml/2006/main">
              <a:ext uri="{FF2B5EF4-FFF2-40B4-BE49-F238E27FC236}">
                <a16:creationId xmlns:a16="http://schemas.microsoft.com/office/drawing/2014/main" id="{F702F046-4E20-4413-AB42-B8E79BD0EE4F}"/>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Cada capa tiene una responsabilidad. Cambiar la base</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de datos no obliga a reescribir las reglas de pedidos.</a:t>
            </a:r>
          </a:p>
        </p:txBody>
      </p:sp>
    </p:spTree>
    <p:extLst>
      <p:ext uri="{BB962C8B-B14F-4D97-AF65-F5344CB8AC3E}">
        <p14:creationId xmlns:p14="http://schemas.microsoft.com/office/powerpoint/2010/main" val="1515387503"/>
      </p:ext>
    </p:extLst>
  </p:cSld>
</p:sld>
</file>

<file path=ppt/slides/slide1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438DCDD8-BE97-44B3-A5AF-C30FA37B6CF5}"/>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02</a:t>
            </a:r>
          </a:p>
        </p:txBody>
      </p:sp>
      <p:sp>
        <p:nvSpPr>
          <p:cNvPr id="2" name="Concept title">
            <a:extLst xmlns:a="http://schemas.openxmlformats.org/drawingml/2006/main">
              <a:ext uri="{FF2B5EF4-FFF2-40B4-BE49-F238E27FC236}">
                <a16:creationId xmlns:a16="http://schemas.microsoft.com/office/drawing/2014/main" id="{40FB4A58-850A-4910-9CEB-18BBB78CAFA6}"/>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Capas, SOLID y dependencias</a:t>
            </a:r>
          </a:p>
        </p:txBody>
      </p:sp>
      <p:sp>
        <p:nvSpPr>
          <p:cNvPr id="3" name="Concept definition">
            <a:extLst xmlns:a="http://schemas.openxmlformats.org/drawingml/2006/main">
              <a:ext uri="{FF2B5EF4-FFF2-40B4-BE49-F238E27FC236}">
                <a16:creationId xmlns:a16="http://schemas.microsoft.com/office/drawing/2014/main" id="{A949B927-2EAD-4864-8041-AB718595E689}"/>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Clean Architecture separa el negocio de los detalles técnicos.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DI = Dependency Injection, o inyección de dependencias: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una clase recibe los colaboradores que necesita.</a:t>
            </a:r>
          </a:p>
        </p:txBody>
      </p:sp>
      <p:sp>
        <p:nvSpPr>
          <p:cNvPr id="4" name="Concept explanation">
            <a:extLst xmlns:a="http://schemas.openxmlformats.org/drawingml/2006/main">
              <a:ext uri="{FF2B5EF4-FFF2-40B4-BE49-F238E27FC236}">
                <a16:creationId xmlns:a16="http://schemas.microsoft.com/office/drawing/2014/main" id="{7E75AC0F-9867-46D7-8433-2AE27C6BEB0D}"/>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SOLID reúne cinco principios: responsabilidad única,</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abierto/cerrado, sustitución de Liskov, segregación</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de interfaces e inversión de dependencias.</a:t>
            </a:r>
          </a:p>
        </p:txBody>
      </p:sp>
      <p:sp>
        <p:nvSpPr>
          <p:cNvPr id="5" name="Concept example label">
            <a:extLst xmlns:a="http://schemas.openxmlformats.org/drawingml/2006/main">
              <a:ext uri="{FF2B5EF4-FFF2-40B4-BE49-F238E27FC236}">
                <a16:creationId xmlns:a16="http://schemas.microsoft.com/office/drawing/2014/main" id="{87A37B44-56D4-48A3-A9AA-59F9F2776DEC}"/>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50BB859D-FB5C-440E-91AC-B85001998404}"/>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Order valida las reglas del pedido. El repositorio guarda datos.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El dominio conserva sus reglas al cambiar SQLite por SQL Server.</a:t>
            </a:r>
          </a:p>
        </p:txBody>
      </p:sp>
    </p:spTree>
    <p:extLst>
      <p:ext uri="{BB962C8B-B14F-4D97-AF65-F5344CB8AC3E}">
        <p14:creationId xmlns:p14="http://schemas.microsoft.com/office/powerpoint/2010/main" val="278688536"/>
      </p:ext>
    </p:extLst>
  </p:cSld>
</p:sld>
</file>

<file path=ppt/slides/slide12.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503AA757-B2B8-4B64-8D7D-1B9DC96443C5}"/>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4" name="">
            <a:extLst xmlns:a="http://schemas.openxmlformats.org/drawingml/2006/main">
              <a:ext uri="{FF2B5EF4-FFF2-40B4-BE49-F238E27FC236}">
                <a16:creationId xmlns:a16="http://schemas.microsoft.com/office/drawing/2014/main" id="{8F65E08F-7279-400A-BFA5-85765A83CAF5}"/>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2" name="">
            <a:extLst xmlns:a="http://schemas.openxmlformats.org/drawingml/2006/main">
              <a:ext uri="{FF2B5EF4-FFF2-40B4-BE49-F238E27FC236}">
                <a16:creationId xmlns:a16="http://schemas.microsoft.com/office/drawing/2014/main" id="{7835FD58-82D6-4980-B25A-20A50CB77CF0}"/>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0" name="">
            <a:extLst xmlns:a="http://schemas.openxmlformats.org/drawingml/2006/main">
              <a:ext uri="{FF2B5EF4-FFF2-40B4-BE49-F238E27FC236}">
                <a16:creationId xmlns:a16="http://schemas.microsoft.com/office/drawing/2014/main" id="{924322B4-DA1F-4B2A-85C6-148F4203B1D6}"/>
              </a:ext>
            </a:extLst>
          </p:cNvPr>
          <p:cNvCxnSpPr>
            <a:stCxn xmlns:a="http://schemas.openxmlformats.org/drawingml/2006/main" id="17" idx="2"/>
            <a:endCxn xmlns:a="http://schemas.openxmlformats.org/drawingml/2006/main" id="10" idx="0"/>
          </p:cNvCxnSpPr>
          <p:nvPr/>
        </p:nvCxnSpPr>
        <p:spPr>
          <a:xfrm xmlns:a="http://schemas.openxmlformats.org/drawingml/2006/main">
            <a:off x="7500938" y="2547938"/>
            <a:ext cx="0" cy="595312"/>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9" name="">
            <a:extLst xmlns:a="http://schemas.openxmlformats.org/drawingml/2006/main">
              <a:ext uri="{FF2B5EF4-FFF2-40B4-BE49-F238E27FC236}">
                <a16:creationId xmlns:a16="http://schemas.microsoft.com/office/drawing/2014/main" id="{69646A65-B612-4E81-AF95-267FAD103D13}"/>
              </a:ext>
            </a:extLst>
          </p:cNvPr>
          <p:cNvCxnSpPr>
            <a:stCxn xmlns:a="http://schemas.openxmlformats.org/drawingml/2006/main" id="16" idx="3"/>
            <a:endCxn xmlns:a="http://schemas.openxmlformats.org/drawingml/2006/main" id="17" idx="1"/>
          </p:cNvCxnSpPr>
          <p:nvPr/>
        </p:nvCxnSpPr>
        <p:spPr>
          <a:xfrm xmlns:a="http://schemas.openxmlformats.org/drawingml/2006/main">
            <a:off x="1885950" y="2543176"/>
            <a:ext cx="5610225" cy="0"/>
          </a:xfrm>
          <a:prstGeom xmlns:a="http://schemas.openxmlformats.org/drawingml/2006/main" prst="straightConnector1">
            <a:avLst/>
          </a:prstGeom>
          <a:ln xmlns:a="http://schemas.openxmlformats.org/drawingml/2006/main" w="19050">
            <a:solidFill>
              <a:srgbClr val="6044B6"/>
            </a:solidFill>
          </a:ln>
        </p:spPr>
      </p:cxnSp>
      <p:cxnSp>
        <p:nvCxnSpPr>
          <p:cNvPr id="18" name="">
            <a:extLst xmlns:a="http://schemas.openxmlformats.org/drawingml/2006/main">
              <a:ext uri="{FF2B5EF4-FFF2-40B4-BE49-F238E27FC236}">
                <a16:creationId xmlns:a16="http://schemas.microsoft.com/office/drawing/2014/main" id="{BD1ACA62-0C50-4049-B656-BF839A51C155}"/>
              </a:ext>
            </a:extLst>
          </p:cNvPr>
          <p:cNvCxnSpPr>
            <a:stCxn xmlns:a="http://schemas.openxmlformats.org/drawingml/2006/main" id="4" idx="0"/>
            <a:endCxn xmlns:a="http://schemas.openxmlformats.org/drawingml/2006/main" id="16" idx="2"/>
          </p:cNvCxnSpPr>
          <p:nvPr/>
        </p:nvCxnSpPr>
        <p:spPr>
          <a:xfrm xmlns:a="http://schemas.openxmlformats.org/drawingml/2006/main" flipV="1">
            <a:off x="1881188" y="2547938"/>
            <a:ext cx="0" cy="595312"/>
          </a:xfrm>
          <a:prstGeom xmlns:a="http://schemas.openxmlformats.org/drawingml/2006/main" prst="straightConnector1">
            <a:avLst/>
          </a:prstGeom>
          <a:ln xmlns:a="http://schemas.openxmlformats.org/drawingml/2006/main" w="19050">
            <a:solidFill>
              <a:srgbClr val="6044B6"/>
            </a:solidFill>
          </a:ln>
        </p:spPr>
      </p:cxnSp>
      <p:sp>
        <p:nvSpPr>
          <p:cNvPr id="30" name="Deep module">
            <a:extLst xmlns:a="http://schemas.openxmlformats.org/drawingml/2006/main">
              <a:ext uri="{FF2B5EF4-FFF2-40B4-BE49-F238E27FC236}">
                <a16:creationId xmlns:a16="http://schemas.microsoft.com/office/drawing/2014/main" id="{6C9D0653-A256-4040-AE20-0754A7151942}"/>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02</a:t>
            </a:r>
          </a:p>
        </p:txBody>
      </p:sp>
      <p:sp>
        <p:nvSpPr>
          <p:cNvPr id="2" name="Deep title">
            <a:extLst xmlns:a="http://schemas.openxmlformats.org/drawingml/2006/main">
              <a:ext uri="{FF2B5EF4-FFF2-40B4-BE49-F238E27FC236}">
                <a16:creationId xmlns:a16="http://schemas.microsoft.com/office/drawing/2014/main" id="{A72E98D4-77AA-4D54-8189-C20CCB61BC75}"/>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Las referencias de proyectos protegen las capas</a:t>
            </a:r>
          </a:p>
        </p:txBody>
      </p:sp>
      <p:sp>
        <p:nvSpPr>
          <p:cNvPr id="3" name="Deep lead">
            <a:extLst xmlns:a="http://schemas.openxmlformats.org/drawingml/2006/main">
              <a:ext uri="{FF2B5EF4-FFF2-40B4-BE49-F238E27FC236}">
                <a16:creationId xmlns:a16="http://schemas.microsoft.com/office/drawing/2014/main" id="{D3112ED8-3F9A-436A-B57B-04D8805D0498}"/>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Cada flecha muestra una referencia directa declarada en los proyectos. Las reglas quedan</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en Domain.</a:t>
            </a:r>
          </a:p>
        </p:txBody>
      </p:sp>
      <p:sp>
        <p:nvSpPr>
          <p:cNvPr id="4" name="Diagram node api">
            <a:extLst xmlns:a="http://schemas.openxmlformats.org/drawingml/2006/main">
              <a:ext uri="{FF2B5EF4-FFF2-40B4-BE49-F238E27FC236}">
                <a16:creationId xmlns:a16="http://schemas.microsoft.com/office/drawing/2014/main" id="{D2FE1058-DA9E-462D-8C1C-C3D7AC0DA4EE}"/>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api">
            <a:extLst xmlns:a="http://schemas.openxmlformats.org/drawingml/2006/main">
              <a:ext uri="{FF2B5EF4-FFF2-40B4-BE49-F238E27FC236}">
                <a16:creationId xmlns:a16="http://schemas.microsoft.com/office/drawing/2014/main" id="{AAEB8052-2FBE-4530-91BC-8885E5469544}"/>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Api</a:t>
            </a:r>
          </a:p>
        </p:txBody>
      </p:sp>
      <p:sp>
        <p:nvSpPr>
          <p:cNvPr id="6" name="Node detail api">
            <a:extLst xmlns:a="http://schemas.openxmlformats.org/drawingml/2006/main">
              <a:ext uri="{FF2B5EF4-FFF2-40B4-BE49-F238E27FC236}">
                <a16:creationId xmlns:a16="http://schemas.microsoft.com/office/drawing/2014/main" id="{6484EA45-FDDE-49F7-BA46-5412E39090AD}"/>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Entrada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composición</a:t>
            </a:r>
          </a:p>
        </p:txBody>
      </p:sp>
      <p:sp>
        <p:nvSpPr>
          <p:cNvPr id="7" name="Diagram node infra">
            <a:extLst xmlns:a="http://schemas.openxmlformats.org/drawingml/2006/main">
              <a:ext uri="{FF2B5EF4-FFF2-40B4-BE49-F238E27FC236}">
                <a16:creationId xmlns:a16="http://schemas.microsoft.com/office/drawing/2014/main" id="{F808E442-21E2-42F2-A49D-0783C9568D72}"/>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infra">
            <a:extLst xmlns:a="http://schemas.openxmlformats.org/drawingml/2006/main">
              <a:ext uri="{FF2B5EF4-FFF2-40B4-BE49-F238E27FC236}">
                <a16:creationId xmlns:a16="http://schemas.microsoft.com/office/drawing/2014/main" id="{D145EC25-1BBE-4B00-8CFF-6E8FB3AF17F5}"/>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Infrastructure</a:t>
            </a:r>
          </a:p>
        </p:txBody>
      </p:sp>
      <p:sp>
        <p:nvSpPr>
          <p:cNvPr id="9" name="Node detail infra">
            <a:extLst xmlns:a="http://schemas.openxmlformats.org/drawingml/2006/main">
              <a:ext uri="{FF2B5EF4-FFF2-40B4-BE49-F238E27FC236}">
                <a16:creationId xmlns:a16="http://schemas.microsoft.com/office/drawing/2014/main" id="{3461531A-B5E9-4B3E-B535-D4BB6A3AE3A5}"/>
              </a:ext>
            </a:extLst>
          </p:cNvPr>
          <p:cNvSpPr>
            <a:spLocks xmlns:a="http://schemas.openxmlformats.org/drawingml/2006/main" noGrp="1"/>
          </p:cNvSpPr>
          <p:nvPr/>
        </p:nvSpPr>
        <p:spPr>
          <a:xfrm xmlns:a="http://schemas.openxmlformats.org/drawingml/2006/main">
            <a:off x="3686175"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Persistencia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adaptadores</a:t>
            </a:r>
          </a:p>
        </p:txBody>
      </p:sp>
      <p:sp>
        <p:nvSpPr>
          <p:cNvPr id="10" name="Diagram node app">
            <a:extLst xmlns:a="http://schemas.openxmlformats.org/drawingml/2006/main">
              <a:ext uri="{FF2B5EF4-FFF2-40B4-BE49-F238E27FC236}">
                <a16:creationId xmlns:a16="http://schemas.microsoft.com/office/drawing/2014/main" id="{30520389-402A-4AD8-BD46-93B608E30D43}"/>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app">
            <a:extLst xmlns:a="http://schemas.openxmlformats.org/drawingml/2006/main">
              <a:ext uri="{FF2B5EF4-FFF2-40B4-BE49-F238E27FC236}">
                <a16:creationId xmlns:a16="http://schemas.microsoft.com/office/drawing/2014/main" id="{F596376E-DC84-4CF0-9F59-728130EEBAC7}"/>
              </a:ext>
            </a:extLst>
          </p:cNvPr>
          <p:cNvSpPr>
            <a:spLocks xmlns:a="http://schemas.openxmlformats.org/drawingml/2006/main" noGrp="1"/>
          </p:cNvSpPr>
          <p:nvPr/>
        </p:nvSpPr>
        <p:spPr>
          <a:xfrm xmlns:a="http://schemas.openxmlformats.org/drawingml/2006/main">
            <a:off x="649605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Application</a:t>
            </a:r>
          </a:p>
        </p:txBody>
      </p:sp>
      <p:sp>
        <p:nvSpPr>
          <p:cNvPr id="12" name="Node detail app">
            <a:extLst xmlns:a="http://schemas.openxmlformats.org/drawingml/2006/main">
              <a:ext uri="{FF2B5EF4-FFF2-40B4-BE49-F238E27FC236}">
                <a16:creationId xmlns:a16="http://schemas.microsoft.com/office/drawing/2014/main" id="{C89748D5-3037-46A6-8193-8C4B130C36BF}"/>
              </a:ext>
            </a:extLst>
          </p:cNvPr>
          <p:cNvSpPr>
            <a:spLocks xmlns:a="http://schemas.openxmlformats.org/drawingml/2006/main" noGrp="1"/>
          </p:cNvSpPr>
          <p:nvPr/>
        </p:nvSpPr>
        <p:spPr>
          <a:xfrm xmlns:a="http://schemas.openxmlformats.org/drawingml/2006/main">
            <a:off x="649605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Casos de uso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contratos</a:t>
            </a:r>
          </a:p>
        </p:txBody>
      </p:sp>
      <p:sp>
        <p:nvSpPr>
          <p:cNvPr id="13" name="Diagram node domain">
            <a:extLst xmlns:a="http://schemas.openxmlformats.org/drawingml/2006/main">
              <a:ext uri="{FF2B5EF4-FFF2-40B4-BE49-F238E27FC236}">
                <a16:creationId xmlns:a16="http://schemas.microsoft.com/office/drawing/2014/main" id="{598AC6CB-1093-4259-9350-75AB49FA068D}"/>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domain">
            <a:extLst xmlns:a="http://schemas.openxmlformats.org/drawingml/2006/main">
              <a:ext uri="{FF2B5EF4-FFF2-40B4-BE49-F238E27FC236}">
                <a16:creationId xmlns:a16="http://schemas.microsoft.com/office/drawing/2014/main" id="{3F0A1697-7F02-4B14-BE51-216C48BC860D}"/>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Domain</a:t>
            </a:r>
          </a:p>
        </p:txBody>
      </p:sp>
      <p:sp>
        <p:nvSpPr>
          <p:cNvPr id="15" name="Node detail domain">
            <a:extLst xmlns:a="http://schemas.openxmlformats.org/drawingml/2006/main">
              <a:ext uri="{FF2B5EF4-FFF2-40B4-BE49-F238E27FC236}">
                <a16:creationId xmlns:a16="http://schemas.microsoft.com/office/drawing/2014/main" id="{A3059540-6D92-4ACE-9944-0865EDD8968C}"/>
              </a:ext>
            </a:extLst>
          </p:cNvPr>
          <p:cNvSpPr>
            <a:spLocks xmlns:a="http://schemas.openxmlformats.org/drawingml/2006/main" noGrp="1"/>
          </p:cNvSpPr>
          <p:nvPr/>
        </p:nvSpPr>
        <p:spPr>
          <a:xfrm xmlns:a="http://schemas.openxmlformats.org/drawingml/2006/main">
            <a:off x="930592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Reglas y entidades</a:t>
            </a:r>
          </a:p>
        </p:txBody>
      </p:sp>
      <p:sp>
        <p:nvSpPr>
          <p:cNvPr id="16" name="Route start api">
            <a:extLst xmlns:a="http://schemas.openxmlformats.org/drawingml/2006/main">
              <a:ext uri="{FF2B5EF4-FFF2-40B4-BE49-F238E27FC236}">
                <a16:creationId xmlns:a16="http://schemas.microsoft.com/office/drawing/2014/main" id="{28610C96-0CA1-4C0E-B8C5-F0D7EFF4E4B8}"/>
              </a:ext>
            </a:extLst>
          </p:cNvPr>
          <p:cNvSpPr>
            <a:spLocks xmlns:a="http://schemas.openxmlformats.org/drawingml/2006/main" noGrp="1"/>
          </p:cNvSpPr>
          <p:nvPr/>
        </p:nvSpPr>
        <p:spPr>
          <a:xfrm xmlns:a="http://schemas.openxmlformats.org/drawingml/2006/main">
            <a:off x="1876425" y="2538413"/>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Route end app">
            <a:extLst xmlns:a="http://schemas.openxmlformats.org/drawingml/2006/main">
              <a:ext uri="{FF2B5EF4-FFF2-40B4-BE49-F238E27FC236}">
                <a16:creationId xmlns:a16="http://schemas.microsoft.com/office/drawing/2014/main" id="{1F4D0F0D-0692-446F-B598-88765A6E647C}"/>
              </a:ext>
            </a:extLst>
          </p:cNvPr>
          <p:cNvSpPr>
            <a:spLocks xmlns:a="http://schemas.openxmlformats.org/drawingml/2006/main" noGrp="1"/>
          </p:cNvSpPr>
          <p:nvPr/>
        </p:nvSpPr>
        <p:spPr>
          <a:xfrm xmlns:a="http://schemas.openxmlformats.org/drawingml/2006/main">
            <a:off x="7496175" y="2538413"/>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Relationship api app">
            <a:extLst xmlns:a="http://schemas.openxmlformats.org/drawingml/2006/main">
              <a:ext uri="{FF2B5EF4-FFF2-40B4-BE49-F238E27FC236}">
                <a16:creationId xmlns:a16="http://schemas.microsoft.com/office/drawing/2014/main" id="{9ADCFF3D-D580-4275-B2CC-CEDADE7E44F6}"/>
              </a:ext>
            </a:extLst>
          </p:cNvPr>
          <p:cNvSpPr>
            <a:spLocks xmlns:a="http://schemas.openxmlformats.org/drawingml/2006/main" noGrp="1"/>
          </p:cNvSpPr>
          <p:nvPr/>
        </p:nvSpPr>
        <p:spPr>
          <a:xfrm xmlns:a="http://schemas.openxmlformats.org/drawingml/2006/main">
            <a:off x="3500438" y="22193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044B6"/>
                </a:solidFill>
                <a:latin typeface="Arial"/>
                <a:ea typeface="Arial"/>
                <a:cs typeface="Arial"/>
              </a:defRPr>
            </a:defPPr>
          </a:lstStyle>
          <a:p xmlns:a="http://schemas.openxmlformats.org/drawingml/2006/main">
            <a:pPr algn="ctr">
              <a:buNone/>
              <a:defRPr sz="1650" b="0">
                <a:solidFill>
                  <a:srgbClr val="6044B6"/>
                </a:solidFill>
                <a:latin typeface="Arial"/>
                <a:ea typeface="Arial"/>
                <a:cs typeface="Arial"/>
              </a:defRPr>
            </a:pPr>
            <a:r>
              <a:rPr sz="1650" b="0">
                <a:solidFill>
                  <a:srgbClr val="6044B6"/>
                </a:solidFill>
                <a:latin typeface="Arial"/>
                <a:ea typeface="Arial"/>
                <a:cs typeface="Arial"/>
              </a:rPr>
              <a:t>referencia</a:t>
            </a:r>
          </a:p>
        </p:txBody>
      </p:sp>
      <p:sp>
        <p:nvSpPr>
          <p:cNvPr id="23" name="Relationship api infra">
            <a:extLst xmlns:a="http://schemas.openxmlformats.org/drawingml/2006/main">
              <a:ext uri="{FF2B5EF4-FFF2-40B4-BE49-F238E27FC236}">
                <a16:creationId xmlns:a16="http://schemas.microsoft.com/office/drawing/2014/main" id="{4E526423-D95A-4E6E-B7C4-E47C7BD0F7A1}"/>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registra</a:t>
            </a:r>
          </a:p>
        </p:txBody>
      </p:sp>
      <p:sp>
        <p:nvSpPr>
          <p:cNvPr id="25" name="Relationship infra app">
            <a:extLst xmlns:a="http://schemas.openxmlformats.org/drawingml/2006/main">
              <a:ext uri="{FF2B5EF4-FFF2-40B4-BE49-F238E27FC236}">
                <a16:creationId xmlns:a16="http://schemas.microsoft.com/office/drawing/2014/main" id="{F0F76F58-6973-4DE8-8868-A6A5902FE082}"/>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implementa puertos</a:t>
            </a:r>
          </a:p>
        </p:txBody>
      </p:sp>
      <p:sp>
        <p:nvSpPr>
          <p:cNvPr id="27" name="Relationship app domain">
            <a:extLst xmlns:a="http://schemas.openxmlformats.org/drawingml/2006/main">
              <a:ext uri="{FF2B5EF4-FFF2-40B4-BE49-F238E27FC236}">
                <a16:creationId xmlns:a16="http://schemas.microsoft.com/office/drawing/2014/main" id="{B748B40B-8DB3-49CE-B951-48722E5FDE43}"/>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usa reglas</a:t>
            </a:r>
          </a:p>
        </p:txBody>
      </p:sp>
      <p:sp>
        <p:nvSpPr>
          <p:cNvPr id="28" name="Analysis 1">
            <a:extLst xmlns:a="http://schemas.openxmlformats.org/drawingml/2006/main">
              <a:ext uri="{FF2B5EF4-FFF2-40B4-BE49-F238E27FC236}">
                <a16:creationId xmlns:a16="http://schemas.microsoft.com/office/drawing/2014/main" id="{33D81254-121D-41E6-A257-C6F29F55D5DB}"/>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Límite comprobable.</a:t>
            </a:r>
            <a:r>
              <a:rPr sz="1800" b="0">
                <a:solidFill>
                  <a:srgbClr val="45516A"/>
                </a:solidFill>
                <a:latin typeface="Arial"/>
                <a:ea typeface="Arial"/>
                <a:cs typeface="Arial"/>
              </a:rPr>
              <a:t> Domain no referencia otros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proyectos. Application expresa casos de uso sin</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conocer el DbContext concreto.</a:t>
            </a:r>
          </a:p>
        </p:txBody>
      </p:sp>
      <p:sp>
        <p:nvSpPr>
          <p:cNvPr id="29" name="Analysis 2">
            <a:extLst xmlns:a="http://schemas.openxmlformats.org/drawingml/2006/main">
              <a:ext uri="{FF2B5EF4-FFF2-40B4-BE49-F238E27FC236}">
                <a16:creationId xmlns:a16="http://schemas.microsoft.com/office/drawing/2014/main" id="{27AC526B-9ED8-4FAE-8815-209E836EF5BE}"/>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Composición.</a:t>
            </a:r>
            <a:r>
              <a:rPr sz="1800" b="0">
                <a:solidFill>
                  <a:srgbClr val="45516A"/>
                </a:solidFill>
                <a:latin typeface="Arial"/>
                <a:ea typeface="Arial"/>
                <a:cs typeface="Arial"/>
              </a:rPr>
              <a:t> Api referencia Infrastructure para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registrar implementaciones; esa referencia no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autoriza trasladar reglas de negocio a los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controladores.</a:t>
            </a:r>
          </a:p>
        </p:txBody>
      </p:sp>
    </p:spTree>
    <p:extLst>
      <p:ext uri="{BB962C8B-B14F-4D97-AF65-F5344CB8AC3E}">
        <p14:creationId xmlns:p14="http://schemas.microsoft.com/office/powerpoint/2010/main" val="1921785727"/>
      </p:ext>
    </p:extLst>
  </p:cSld>
</p:sld>
</file>

<file path=ppt/slides/slide13.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5" name="Deep module">
            <a:extLst xmlns:a="http://schemas.openxmlformats.org/drawingml/2006/main">
              <a:ext uri="{FF2B5EF4-FFF2-40B4-BE49-F238E27FC236}">
                <a16:creationId xmlns:a16="http://schemas.microsoft.com/office/drawing/2014/main" id="{91BE9471-0A1E-4906-A84C-7642E743AC0C}"/>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02</a:t>
            </a:r>
          </a:p>
        </p:txBody>
      </p:sp>
      <p:sp>
        <p:nvSpPr>
          <p:cNvPr id="2" name="Deep title">
            <a:extLst xmlns:a="http://schemas.openxmlformats.org/drawingml/2006/main">
              <a:ext uri="{FF2B5EF4-FFF2-40B4-BE49-F238E27FC236}">
                <a16:creationId xmlns:a16="http://schemas.microsoft.com/office/drawing/2014/main" id="{DD84A3F3-DC6F-44AA-A1C3-4142E38056F5}"/>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La entidad controla cómo cambia su estado</a:t>
            </a:r>
          </a:p>
        </p:txBody>
      </p:sp>
      <p:sp>
        <p:nvSpPr>
          <p:cNvPr id="3" name="Deep lead">
            <a:extLst xmlns:a="http://schemas.openxmlformats.org/drawingml/2006/main">
              <a:ext uri="{FF2B5EF4-FFF2-40B4-BE49-F238E27FC236}">
                <a16:creationId xmlns:a16="http://schemas.microsoft.com/office/drawing/2014/main" id="{BC00D936-1097-4A53-95A8-EE19A6041C26}"/>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Los setters privados obligan a pasar por operaciones del dominio que conservan las reglas</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de un producto válido.</a:t>
            </a:r>
          </a:p>
        </p:txBody>
      </p:sp>
      <p:sp>
        <p:nvSpPr>
          <p:cNvPr id="4" name="Code provenance">
            <a:extLst xmlns:a="http://schemas.openxmlformats.org/drawingml/2006/main">
              <a:ext uri="{FF2B5EF4-FFF2-40B4-BE49-F238E27FC236}">
                <a16:creationId xmlns:a16="http://schemas.microsoft.com/office/drawing/2014/main" id="{C4F9AE61-695F-49EC-A35E-05F945D602EF}"/>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Product.cs</a:t>
            </a:r>
          </a:p>
        </p:txBody>
      </p:sp>
      <p:sp>
        <p:nvSpPr>
          <p:cNvPr id="5" name="Code line 1">
            <a:extLst xmlns:a="http://schemas.openxmlformats.org/drawingml/2006/main">
              <a:ext uri="{FF2B5EF4-FFF2-40B4-BE49-F238E27FC236}">
                <a16:creationId xmlns:a16="http://schemas.microsoft.com/office/drawing/2014/main" id="{55EE056E-B8F7-4064-8B5C-6A0F1A613691}"/>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Guid Id { get; private set; }</a:t>
            </a:r>
          </a:p>
        </p:txBody>
      </p:sp>
      <p:sp>
        <p:nvSpPr>
          <p:cNvPr id="6" name="Code line 2">
            <a:extLst xmlns:a="http://schemas.openxmlformats.org/drawingml/2006/main">
              <a:ext uri="{FF2B5EF4-FFF2-40B4-BE49-F238E27FC236}">
                <a16:creationId xmlns:a16="http://schemas.microsoft.com/office/drawing/2014/main" id="{2AA471D0-676F-481C-A86A-8245DF925B21}"/>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string Sku { get; private set; } = string.Empty;</a:t>
            </a:r>
          </a:p>
        </p:txBody>
      </p:sp>
      <p:sp>
        <p:nvSpPr>
          <p:cNvPr id="7" name="Code line 3">
            <a:extLst xmlns:a="http://schemas.openxmlformats.org/drawingml/2006/main">
              <a:ext uri="{FF2B5EF4-FFF2-40B4-BE49-F238E27FC236}">
                <a16:creationId xmlns:a16="http://schemas.microsoft.com/office/drawing/2014/main" id="{B56C2A26-D0CC-43EC-9616-C11F22C213DD}"/>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string Name { get; private set; } = string.Empty;</a:t>
            </a:r>
          </a:p>
        </p:txBody>
      </p:sp>
      <p:sp>
        <p:nvSpPr>
          <p:cNvPr id="8" name="Code line 4">
            <a:extLst xmlns:a="http://schemas.openxmlformats.org/drawingml/2006/main">
              <a:ext uri="{FF2B5EF4-FFF2-40B4-BE49-F238E27FC236}">
                <a16:creationId xmlns:a16="http://schemas.microsoft.com/office/drawing/2014/main" id="{C6F49AB9-B7DA-4793-82A0-716448C09720}"/>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decimal Price { get; private set; }</a:t>
            </a:r>
          </a:p>
        </p:txBody>
      </p:sp>
      <p:sp>
        <p:nvSpPr>
          <p:cNvPr id="9" name="Code line 5">
            <a:extLst xmlns:a="http://schemas.openxmlformats.org/drawingml/2006/main">
              <a:ext uri="{FF2B5EF4-FFF2-40B4-BE49-F238E27FC236}">
                <a16:creationId xmlns:a16="http://schemas.microsoft.com/office/drawing/2014/main" id="{60AB5DAF-B68B-4337-A93E-4B51CA283EDF}"/>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bool IsDeleted { get; private set; }</a:t>
            </a:r>
          </a:p>
        </p:txBody>
      </p:sp>
      <p:sp>
        <p:nvSpPr>
          <p:cNvPr id="10" name="Code line 6">
            <a:extLst xmlns:a="http://schemas.openxmlformats.org/drawingml/2006/main">
              <a:ext uri="{FF2B5EF4-FFF2-40B4-BE49-F238E27FC236}">
                <a16:creationId xmlns:a16="http://schemas.microsoft.com/office/drawing/2014/main" id="{F511E6D0-079A-473E-8C32-9C5D17BB8294}"/>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DateTimeOffset CreatedAt { get; private set; }</a:t>
            </a:r>
          </a:p>
        </p:txBody>
      </p:sp>
      <p:sp>
        <p:nvSpPr>
          <p:cNvPr id="11" name="Code line 7">
            <a:extLst xmlns:a="http://schemas.openxmlformats.org/drawingml/2006/main">
              <a:ext uri="{FF2B5EF4-FFF2-40B4-BE49-F238E27FC236}">
                <a16:creationId xmlns:a16="http://schemas.microsoft.com/office/drawing/2014/main" id="{01934078-B9FA-49B6-9296-8A98EFFB4ACD}"/>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DateTimeOffset UpdatedAt { get; private set; }</a:t>
            </a:r>
          </a:p>
        </p:txBody>
      </p:sp>
      <p:sp>
        <p:nvSpPr>
          <p:cNvPr id="12" name="Code line 8">
            <a:extLst xmlns:a="http://schemas.openxmlformats.org/drawingml/2006/main">
              <a:ext uri="{FF2B5EF4-FFF2-40B4-BE49-F238E27FC236}">
                <a16:creationId xmlns:a16="http://schemas.microsoft.com/office/drawing/2014/main" id="{0CC22DFA-D99B-49DC-8B74-46B1A05A9268}"/>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Guid Version { get; private set; }</a:t>
            </a:r>
          </a:p>
        </p:txBody>
      </p:sp>
      <p:sp>
        <p:nvSpPr>
          <p:cNvPr id="13" name="Analysis 1">
            <a:extLst xmlns:a="http://schemas.openxmlformats.org/drawingml/2006/main">
              <a:ext uri="{FF2B5EF4-FFF2-40B4-BE49-F238E27FC236}">
                <a16:creationId xmlns:a16="http://schemas.microsoft.com/office/drawing/2014/main" id="{AB28C94E-179E-42B0-86B3-10FFE49CB16B}"/>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Cambios válidos.</a:t>
            </a:r>
            <a:r>
              <a:rPr sz="1725" b="0">
                <a:solidFill>
                  <a:srgbClr val="D0D8E6"/>
                </a:solidFill>
                <a:latin typeface="Arial"/>
                <a:ea typeface="Arial"/>
                <a:cs typeface="Arial"/>
              </a:rPr>
              <a:t> Create y Update validan antes de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asignar. SoftDelete expresa una operación del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negocio con sus propias restricciones.</a:t>
            </a:r>
          </a:p>
        </p:txBody>
      </p:sp>
      <p:sp>
        <p:nvSpPr>
          <p:cNvPr id="14" name="Analysis 2">
            <a:extLst xmlns:a="http://schemas.openxmlformats.org/drawingml/2006/main">
              <a:ext uri="{FF2B5EF4-FFF2-40B4-BE49-F238E27FC236}">
                <a16:creationId xmlns:a16="http://schemas.microsoft.com/office/drawing/2014/main" id="{FAAC2591-FB71-48E8-8BFE-D93340D8D7D4}"/>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Un fallo no deja residuos.</a:t>
            </a:r>
            <a:r>
              <a:rPr sz="1725" b="0">
                <a:solidFill>
                  <a:srgbClr val="D0D8E6"/>
                </a:solidFill>
                <a:latin typeface="Arial"/>
                <a:ea typeface="Arial"/>
                <a:cs typeface="Arial"/>
              </a:rPr>
              <a:t> Si el precio es inválido, 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SKU, nombre y precio anteriores deben permanecer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intactos.</a:t>
            </a:r>
          </a:p>
        </p:txBody>
      </p:sp>
    </p:spTree>
    <p:extLst>
      <p:ext uri="{BB962C8B-B14F-4D97-AF65-F5344CB8AC3E}">
        <p14:creationId xmlns:p14="http://schemas.microsoft.com/office/powerpoint/2010/main" val="1114838358"/>
      </p:ext>
    </p:extLst>
  </p:cSld>
</p:sld>
</file>

<file path=ppt/slides/slide14.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5240F4D2-2FEC-49A9-ABCA-2661C8910C65}"/>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02</a:t>
            </a:r>
          </a:p>
        </p:txBody>
      </p:sp>
      <p:sp>
        <p:nvSpPr>
          <p:cNvPr id="2" name="Deep title">
            <a:extLst xmlns:a="http://schemas.openxmlformats.org/drawingml/2006/main">
              <a:ext uri="{FF2B5EF4-FFF2-40B4-BE49-F238E27FC236}">
                <a16:creationId xmlns:a16="http://schemas.microsoft.com/office/drawing/2014/main" id="{96E200F9-BD90-4200-9BF1-FB6F3DB79C0C}"/>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Usar SOLID para decidir un cambio</a:t>
            </a:r>
          </a:p>
        </p:txBody>
      </p:sp>
      <p:sp>
        <p:nvSpPr>
          <p:cNvPr id="3" name="Deep lead">
            <a:extLst xmlns:a="http://schemas.openxmlformats.org/drawingml/2006/main">
              <a:ext uri="{FF2B5EF4-FFF2-40B4-BE49-F238E27FC236}">
                <a16:creationId xmlns:a16="http://schemas.microsoft.com/office/drawing/2014/main" id="{175A0932-F218-43D2-8866-704E79D0DE1B}"/>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Los principios sirven para evaluar consecuencias concretas de una modificación; contar</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clases o interfaces no mide la calidad.</a:t>
            </a:r>
          </a:p>
        </p:txBody>
      </p:sp>
      <p:sp>
        <p:nvSpPr>
          <p:cNvPr id="4" name="Explanation heading 1">
            <a:extLst xmlns:a="http://schemas.openxmlformats.org/drawingml/2006/main">
              <a:ext uri="{FF2B5EF4-FFF2-40B4-BE49-F238E27FC236}">
                <a16:creationId xmlns:a16="http://schemas.microsoft.com/office/drawing/2014/main" id="{419F0CBB-18C2-499C-B224-1BD5C5D968B8}"/>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Responsabilidad y extensión</a:t>
            </a:r>
          </a:p>
        </p:txBody>
      </p:sp>
      <p:sp>
        <p:nvSpPr>
          <p:cNvPr id="5" name="Explanation body 1">
            <a:extLst xmlns:a="http://schemas.openxmlformats.org/drawingml/2006/main">
              <a:ext uri="{FF2B5EF4-FFF2-40B4-BE49-F238E27FC236}">
                <a16:creationId xmlns:a16="http://schemas.microsoft.com/office/drawing/2014/main" id="{981B4801-0ADD-4A35-805B-BE4BF6378B15}"/>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El handler coordina un pedido; no emite tokens. Otro notificador implementa el puerto sin</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cambiar las reglas.</a:t>
            </a:r>
          </a:p>
        </p:txBody>
      </p:sp>
      <p:sp>
        <p:nvSpPr>
          <p:cNvPr id="6" name="Explanation heading 2">
            <a:extLst xmlns:a="http://schemas.openxmlformats.org/drawingml/2006/main">
              <a:ext uri="{FF2B5EF4-FFF2-40B4-BE49-F238E27FC236}">
                <a16:creationId xmlns:a16="http://schemas.microsoft.com/office/drawing/2014/main" id="{2F0BDD28-64E3-4E59-A3AA-F4D818412A56}"/>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Sustitución e interfaces</a:t>
            </a:r>
          </a:p>
        </p:txBody>
      </p:sp>
      <p:sp>
        <p:nvSpPr>
          <p:cNvPr id="7" name="Explanation body 2">
            <a:extLst xmlns:a="http://schemas.openxmlformats.org/drawingml/2006/main">
              <a:ext uri="{FF2B5EF4-FFF2-40B4-BE49-F238E27FC236}">
                <a16:creationId xmlns:a16="http://schemas.microsoft.com/office/drawing/2014/main" id="{D3F194D6-AE08-4BA5-8B51-E0E9EE12A7F5}"/>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Un repositorio sustituto conserva el contrato de ausencia. Las interfaces específicas</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expresan necesidades del negocio.</a:t>
            </a:r>
          </a:p>
        </p:txBody>
      </p:sp>
      <p:sp>
        <p:nvSpPr>
          <p:cNvPr id="8" name="Explanation heading 3">
            <a:extLst xmlns:a="http://schemas.openxmlformats.org/drawingml/2006/main">
              <a:ext uri="{FF2B5EF4-FFF2-40B4-BE49-F238E27FC236}">
                <a16:creationId xmlns:a16="http://schemas.microsoft.com/office/drawing/2014/main" id="{B8EDF8C1-69C7-4816-9F85-F69AAA9A0F34}"/>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Inversión de dependencias</a:t>
            </a:r>
          </a:p>
        </p:txBody>
      </p:sp>
      <p:sp>
        <p:nvSpPr>
          <p:cNvPr id="9" name="Explanation body 3">
            <a:extLst xmlns:a="http://schemas.openxmlformats.org/drawingml/2006/main">
              <a:ext uri="{FF2B5EF4-FFF2-40B4-BE49-F238E27FC236}">
                <a16:creationId xmlns:a16="http://schemas.microsoft.com/office/drawing/2014/main" id="{B7398B72-4DFC-4EA4-819F-3FDC5C651DBC}"/>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Application consume sus contratos; Infrastructure proporciona las implementaciones que</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se conectan durante el arranque.</a:t>
            </a:r>
          </a:p>
        </p:txBody>
      </p:sp>
    </p:spTree>
    <p:extLst>
      <p:ext uri="{BB962C8B-B14F-4D97-AF65-F5344CB8AC3E}">
        <p14:creationId xmlns:p14="http://schemas.microsoft.com/office/powerpoint/2010/main" val="101051245"/>
      </p:ext>
    </p:extLst>
  </p:cSld>
</p:sld>
</file>

<file path=ppt/slides/slide15.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E2F17ED-52DB-45A3-B2A5-9C8A81B57527}"/>
              </a:ext>
            </a:extLst>
          </p:cNvPr>
          <p:cNvCxnSpPr>
            <a:stCxn xmlns:a="http://schemas.openxmlformats.org/drawingml/2006/main" id="10" idx="3"/>
            <a:endCxn xmlns:a="http://schemas.openxmlformats.org/drawingml/2006/main" id="13" idx="1"/>
          </p:cNvCxnSpPr>
          <p:nvPr/>
        </p:nvCxnSpPr>
        <p:spPr>
          <a:xfrm xmlns:a="http://schemas.openxmlformats.org/drawingml/2006/main">
            <a:off x="7667625" y="3962400"/>
            <a:ext cx="1095375"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F0B3176A-4777-4681-81E7-C16C1CAC8598}"/>
              </a:ext>
            </a:extLst>
          </p:cNvPr>
          <p:cNvCxnSpPr>
            <a:stCxn xmlns:a="http://schemas.openxmlformats.org/drawingml/2006/main" id="7" idx="3"/>
            <a:endCxn xmlns:a="http://schemas.openxmlformats.org/drawingml/2006/main" id="10" idx="1"/>
          </p:cNvCxnSpPr>
          <p:nvPr/>
        </p:nvCxnSpPr>
        <p:spPr>
          <a:xfrm xmlns:a="http://schemas.openxmlformats.org/drawingml/2006/main" flipV="1">
            <a:off x="3667125" y="3962400"/>
            <a:ext cx="1143000" cy="66675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0AC48F58-B0A3-425D-BC72-7D7D3A2EF565}"/>
              </a:ext>
            </a:extLst>
          </p:cNvPr>
          <p:cNvCxnSpPr>
            <a:stCxn xmlns:a="http://schemas.openxmlformats.org/drawingml/2006/main" id="4" idx="3"/>
            <a:endCxn xmlns:a="http://schemas.openxmlformats.org/drawingml/2006/main" id="10" idx="1"/>
          </p:cNvCxnSpPr>
          <p:nvPr/>
        </p:nvCxnSpPr>
        <p:spPr>
          <a:xfrm xmlns:a="http://schemas.openxmlformats.org/drawingml/2006/main">
            <a:off x="3667125" y="3124200"/>
            <a:ext cx="1143000" cy="83820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0BFBCB30-C68C-4641-848B-D253164AC391}"/>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02</a:t>
            </a:r>
          </a:p>
        </p:txBody>
      </p:sp>
      <p:sp>
        <p:nvSpPr>
          <p:cNvPr id="2" name="Deep title">
            <a:extLst xmlns:a="http://schemas.openxmlformats.org/drawingml/2006/main">
              <a:ext uri="{FF2B5EF4-FFF2-40B4-BE49-F238E27FC236}">
                <a16:creationId xmlns:a16="http://schemas.microsoft.com/office/drawing/2014/main" id="{34CAB52A-7FE6-4DAB-83D2-2322F2D01B61}"/>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Dos contratos, una instancia por solicitud</a:t>
            </a:r>
          </a:p>
        </p:txBody>
      </p:sp>
      <p:sp>
        <p:nvSpPr>
          <p:cNvPr id="3" name="Deep lead">
            <a:extLst xmlns:a="http://schemas.openxmlformats.org/drawingml/2006/main">
              <a:ext uri="{FF2B5EF4-FFF2-40B4-BE49-F238E27FC236}">
                <a16:creationId xmlns:a16="http://schemas.microsoft.com/office/drawing/2014/main" id="{F36086CF-D6C9-4D1F-8141-3E6405DF917C}"/>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La inyección conecta interfaces con implementaciones. En un mismo ámbito, los accesos</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genérico y específico comparten el repositorio de pedidos.</a:t>
            </a:r>
          </a:p>
        </p:txBody>
      </p:sp>
      <p:sp>
        <p:nvSpPr>
          <p:cNvPr id="4" name="Diagram node generic">
            <a:extLst xmlns:a="http://schemas.openxmlformats.org/drawingml/2006/main">
              <a:ext uri="{FF2B5EF4-FFF2-40B4-BE49-F238E27FC236}">
                <a16:creationId xmlns:a16="http://schemas.microsoft.com/office/drawing/2014/main" id="{7A9E3D44-3041-4CD6-8D92-E5E5E2752935}"/>
              </a:ext>
            </a:extLst>
          </p:cNvPr>
          <p:cNvSpPr>
            <a:spLocks xmlns:a="http://schemas.openxmlformats.org/drawingml/2006/main" noGrp="1"/>
          </p:cNvSpPr>
          <p:nvPr/>
        </p:nvSpPr>
        <p:spPr>
          <a:xfrm xmlns:a="http://schemas.openxmlformats.org/drawingml/2006/main">
            <a:off x="762000" y="2571750"/>
            <a:ext cx="2905125"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generic">
            <a:extLst xmlns:a="http://schemas.openxmlformats.org/drawingml/2006/main">
              <a:ext uri="{FF2B5EF4-FFF2-40B4-BE49-F238E27FC236}">
                <a16:creationId xmlns:a16="http://schemas.microsoft.com/office/drawing/2014/main" id="{C10506D6-776C-4E59-821F-2097F2D6DB7C}"/>
              </a:ext>
            </a:extLst>
          </p:cNvPr>
          <p:cNvSpPr>
            <a:spLocks xmlns:a="http://schemas.openxmlformats.org/drawingml/2006/main" noGrp="1"/>
          </p:cNvSpPr>
          <p:nvPr/>
        </p:nvSpPr>
        <p:spPr>
          <a:xfrm xmlns:a="http://schemas.openxmlformats.org/drawingml/2006/main">
            <a:off x="876300" y="2695575"/>
            <a:ext cx="2676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IRepository&lt;Order&gt;</a:t>
            </a:r>
          </a:p>
        </p:txBody>
      </p:sp>
      <p:sp>
        <p:nvSpPr>
          <p:cNvPr id="6" name="Node detail generic">
            <a:extLst xmlns:a="http://schemas.openxmlformats.org/drawingml/2006/main">
              <a:ext uri="{FF2B5EF4-FFF2-40B4-BE49-F238E27FC236}">
                <a16:creationId xmlns:a16="http://schemas.microsoft.com/office/drawing/2014/main" id="{244BF213-DE7D-4AB1-B451-4EE73DEE775D}"/>
              </a:ext>
            </a:extLst>
          </p:cNvPr>
          <p:cNvSpPr>
            <a:spLocks xmlns:a="http://schemas.openxmlformats.org/drawingml/2006/main" noGrp="1"/>
          </p:cNvSpPr>
          <p:nvPr/>
        </p:nvSpPr>
        <p:spPr>
          <a:xfrm xmlns:a="http://schemas.openxmlformats.org/drawingml/2006/main">
            <a:off x="876300" y="3009900"/>
            <a:ext cx="2676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Contrato común</a:t>
            </a:r>
          </a:p>
        </p:txBody>
      </p:sp>
      <p:sp>
        <p:nvSpPr>
          <p:cNvPr id="7" name="Diagram node specific">
            <a:extLst xmlns:a="http://schemas.openxmlformats.org/drawingml/2006/main">
              <a:ext uri="{FF2B5EF4-FFF2-40B4-BE49-F238E27FC236}">
                <a16:creationId xmlns:a16="http://schemas.microsoft.com/office/drawing/2014/main" id="{8517B3E3-B048-4337-B381-F6C390514215}"/>
              </a:ext>
            </a:extLst>
          </p:cNvPr>
          <p:cNvSpPr>
            <a:spLocks xmlns:a="http://schemas.openxmlformats.org/drawingml/2006/main" noGrp="1"/>
          </p:cNvSpPr>
          <p:nvPr/>
        </p:nvSpPr>
        <p:spPr>
          <a:xfrm xmlns:a="http://schemas.openxmlformats.org/drawingml/2006/main">
            <a:off x="762000" y="4076700"/>
            <a:ext cx="2905125"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specific">
            <a:extLst xmlns:a="http://schemas.openxmlformats.org/drawingml/2006/main">
              <a:ext uri="{FF2B5EF4-FFF2-40B4-BE49-F238E27FC236}">
                <a16:creationId xmlns:a16="http://schemas.microsoft.com/office/drawing/2014/main" id="{7394DDE2-9FD3-4BCF-BE86-F1864D6D8033}"/>
              </a:ext>
            </a:extLst>
          </p:cNvPr>
          <p:cNvSpPr>
            <a:spLocks xmlns:a="http://schemas.openxmlformats.org/drawingml/2006/main" noGrp="1"/>
          </p:cNvSpPr>
          <p:nvPr/>
        </p:nvSpPr>
        <p:spPr>
          <a:xfrm xmlns:a="http://schemas.openxmlformats.org/drawingml/2006/main">
            <a:off x="876300" y="4200525"/>
            <a:ext cx="2676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IOrderRepository</a:t>
            </a:r>
          </a:p>
        </p:txBody>
      </p:sp>
      <p:sp>
        <p:nvSpPr>
          <p:cNvPr id="9" name="Node detail specific">
            <a:extLst xmlns:a="http://schemas.openxmlformats.org/drawingml/2006/main">
              <a:ext uri="{FF2B5EF4-FFF2-40B4-BE49-F238E27FC236}">
                <a16:creationId xmlns:a16="http://schemas.microsoft.com/office/drawing/2014/main" id="{3137ABA3-E548-4B80-9050-C645FDC5A2BA}"/>
              </a:ext>
            </a:extLst>
          </p:cNvPr>
          <p:cNvSpPr>
            <a:spLocks xmlns:a="http://schemas.openxmlformats.org/drawingml/2006/main" noGrp="1"/>
          </p:cNvSpPr>
          <p:nvPr/>
        </p:nvSpPr>
        <p:spPr>
          <a:xfrm xmlns:a="http://schemas.openxmlformats.org/drawingml/2006/main">
            <a:off x="876300" y="4514850"/>
            <a:ext cx="2676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Consultas por cliente</a:t>
            </a:r>
          </a:p>
        </p:txBody>
      </p:sp>
      <p:sp>
        <p:nvSpPr>
          <p:cNvPr id="10" name="Diagram node repo">
            <a:extLst xmlns:a="http://schemas.openxmlformats.org/drawingml/2006/main">
              <a:ext uri="{FF2B5EF4-FFF2-40B4-BE49-F238E27FC236}">
                <a16:creationId xmlns:a16="http://schemas.microsoft.com/office/drawing/2014/main" id="{0B35CDC9-4615-4CBC-9B7E-2F7B485BA2BD}"/>
              </a:ext>
            </a:extLst>
          </p:cNvPr>
          <p:cNvSpPr>
            <a:spLocks xmlns:a="http://schemas.openxmlformats.org/drawingml/2006/main" noGrp="1"/>
          </p:cNvSpPr>
          <p:nvPr/>
        </p:nvSpPr>
        <p:spPr>
          <a:xfrm xmlns:a="http://schemas.openxmlformats.org/drawingml/2006/main">
            <a:off x="4810125" y="3333750"/>
            <a:ext cx="28575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repo">
            <a:extLst xmlns:a="http://schemas.openxmlformats.org/drawingml/2006/main">
              <a:ext uri="{FF2B5EF4-FFF2-40B4-BE49-F238E27FC236}">
                <a16:creationId xmlns:a16="http://schemas.microsoft.com/office/drawing/2014/main" id="{8335BD52-FA76-4099-91D1-6EF825F440DD}"/>
              </a:ext>
            </a:extLst>
          </p:cNvPr>
          <p:cNvSpPr>
            <a:spLocks xmlns:a="http://schemas.openxmlformats.org/drawingml/2006/main" noGrp="1"/>
          </p:cNvSpPr>
          <p:nvPr/>
        </p:nvSpPr>
        <p:spPr>
          <a:xfrm xmlns:a="http://schemas.openxmlformats.org/drawingml/2006/main">
            <a:off x="4924425" y="3457575"/>
            <a:ext cx="2628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OrderRepository</a:t>
            </a:r>
          </a:p>
        </p:txBody>
      </p:sp>
      <p:sp>
        <p:nvSpPr>
          <p:cNvPr id="12" name="Node detail repo">
            <a:extLst xmlns:a="http://schemas.openxmlformats.org/drawingml/2006/main">
              <a:ext uri="{FF2B5EF4-FFF2-40B4-BE49-F238E27FC236}">
                <a16:creationId xmlns:a16="http://schemas.microsoft.com/office/drawing/2014/main" id="{E94F44AB-8371-45FD-B78B-3B6D1B17BF46}"/>
              </a:ext>
            </a:extLst>
          </p:cNvPr>
          <p:cNvSpPr>
            <a:spLocks xmlns:a="http://schemas.openxmlformats.org/drawingml/2006/main" noGrp="1"/>
          </p:cNvSpPr>
          <p:nvPr/>
        </p:nvSpPr>
        <p:spPr>
          <a:xfrm xmlns:a="http://schemas.openxmlformats.org/drawingml/2006/main">
            <a:off x="4924425" y="3771900"/>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Una instancia scoped</a:t>
            </a:r>
          </a:p>
        </p:txBody>
      </p:sp>
      <p:sp>
        <p:nvSpPr>
          <p:cNvPr id="13" name="Diagram node db">
            <a:extLst xmlns:a="http://schemas.openxmlformats.org/drawingml/2006/main">
              <a:ext uri="{FF2B5EF4-FFF2-40B4-BE49-F238E27FC236}">
                <a16:creationId xmlns:a16="http://schemas.microsoft.com/office/drawing/2014/main" id="{9B61EFBE-66F3-467C-B6ED-C00FC35D1096}"/>
              </a:ext>
            </a:extLst>
          </p:cNvPr>
          <p:cNvSpPr>
            <a:spLocks xmlns:a="http://schemas.openxmlformats.org/drawingml/2006/main" noGrp="1"/>
          </p:cNvSpPr>
          <p:nvPr/>
        </p:nvSpPr>
        <p:spPr>
          <a:xfrm xmlns:a="http://schemas.openxmlformats.org/drawingml/2006/main">
            <a:off x="8763000" y="3333750"/>
            <a:ext cx="26670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db">
            <a:extLst xmlns:a="http://schemas.openxmlformats.org/drawingml/2006/main">
              <a:ext uri="{FF2B5EF4-FFF2-40B4-BE49-F238E27FC236}">
                <a16:creationId xmlns:a16="http://schemas.microsoft.com/office/drawing/2014/main" id="{14A00D82-70B9-4A80-AAA8-95E5B74C8C9D}"/>
              </a:ext>
            </a:extLst>
          </p:cNvPr>
          <p:cNvSpPr>
            <a:spLocks xmlns:a="http://schemas.openxmlformats.org/drawingml/2006/main" noGrp="1"/>
          </p:cNvSpPr>
          <p:nvPr/>
        </p:nvSpPr>
        <p:spPr>
          <a:xfrm xmlns:a="http://schemas.openxmlformats.org/drawingml/2006/main">
            <a:off x="8877300" y="3457575"/>
            <a:ext cx="2438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DbContext</a:t>
            </a:r>
          </a:p>
        </p:txBody>
      </p:sp>
      <p:sp>
        <p:nvSpPr>
          <p:cNvPr id="15" name="Node detail db">
            <a:extLst xmlns:a="http://schemas.openxmlformats.org/drawingml/2006/main">
              <a:ext uri="{FF2B5EF4-FFF2-40B4-BE49-F238E27FC236}">
                <a16:creationId xmlns:a16="http://schemas.microsoft.com/office/drawing/2014/main" id="{5B48FC1B-F22D-4C8B-AA43-BA2B0EB931E2}"/>
              </a:ext>
            </a:extLst>
          </p:cNvPr>
          <p:cNvSpPr>
            <a:spLocks xmlns:a="http://schemas.openxmlformats.org/drawingml/2006/main" noGrp="1"/>
          </p:cNvSpPr>
          <p:nvPr/>
        </p:nvSpPr>
        <p:spPr>
          <a:xfrm xmlns:a="http://schemas.openxmlformats.org/drawingml/2006/main">
            <a:off x="8877300" y="37719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Contexto del ámbito</a:t>
            </a:r>
          </a:p>
        </p:txBody>
      </p:sp>
      <p:sp>
        <p:nvSpPr>
          <p:cNvPr id="17" name="Relationship generic repo">
            <a:extLst xmlns:a="http://schemas.openxmlformats.org/drawingml/2006/main">
              <a:ext uri="{FF2B5EF4-FFF2-40B4-BE49-F238E27FC236}">
                <a16:creationId xmlns:a16="http://schemas.microsoft.com/office/drawing/2014/main" id="{8B7C897B-3167-41C8-AAA4-FBD421BC4B85}"/>
              </a:ext>
            </a:extLst>
          </p:cNvPr>
          <p:cNvSpPr>
            <a:spLocks xmlns:a="http://schemas.openxmlformats.org/drawingml/2006/main" noGrp="1"/>
          </p:cNvSpPr>
          <p:nvPr/>
        </p:nvSpPr>
        <p:spPr>
          <a:xfrm xmlns:a="http://schemas.openxmlformats.org/drawingml/2006/main">
            <a:off x="3590925" y="2752725"/>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resuelve</a:t>
            </a:r>
          </a:p>
        </p:txBody>
      </p:sp>
      <p:sp>
        <p:nvSpPr>
          <p:cNvPr id="19" name="Relationship specific repo">
            <a:extLst xmlns:a="http://schemas.openxmlformats.org/drawingml/2006/main">
              <a:ext uri="{FF2B5EF4-FFF2-40B4-BE49-F238E27FC236}">
                <a16:creationId xmlns:a16="http://schemas.microsoft.com/office/drawing/2014/main" id="{93A55D0A-6210-47FA-9737-611BA7A82F41}"/>
              </a:ext>
            </a:extLst>
          </p:cNvPr>
          <p:cNvSpPr>
            <a:spLocks xmlns:a="http://schemas.openxmlformats.org/drawingml/2006/main" noGrp="1"/>
          </p:cNvSpPr>
          <p:nvPr/>
        </p:nvSpPr>
        <p:spPr>
          <a:xfrm xmlns:a="http://schemas.openxmlformats.org/drawingml/2006/main">
            <a:off x="3590925" y="4705350"/>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resuelve</a:t>
            </a:r>
          </a:p>
        </p:txBody>
      </p:sp>
      <p:sp>
        <p:nvSpPr>
          <p:cNvPr id="21" name="Relationship repo db">
            <a:extLst xmlns:a="http://schemas.openxmlformats.org/drawingml/2006/main">
              <a:ext uri="{FF2B5EF4-FFF2-40B4-BE49-F238E27FC236}">
                <a16:creationId xmlns:a16="http://schemas.microsoft.com/office/drawing/2014/main" id="{929BF567-55E5-4C5B-A0D9-A8E381742896}"/>
              </a:ext>
            </a:extLst>
          </p:cNvPr>
          <p:cNvSpPr>
            <a:spLocks xmlns:a="http://schemas.openxmlformats.org/drawingml/2006/main" noGrp="1"/>
          </p:cNvSpPr>
          <p:nvPr/>
        </p:nvSpPr>
        <p:spPr>
          <a:xfrm xmlns:a="http://schemas.openxmlformats.org/drawingml/2006/main">
            <a:off x="7567613" y="3590925"/>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utiliza</a:t>
            </a:r>
          </a:p>
        </p:txBody>
      </p:sp>
      <p:sp>
        <p:nvSpPr>
          <p:cNvPr id="22" name="Analysis 1">
            <a:extLst xmlns:a="http://schemas.openxmlformats.org/drawingml/2006/main">
              <a:ext uri="{FF2B5EF4-FFF2-40B4-BE49-F238E27FC236}">
                <a16:creationId xmlns:a16="http://schemas.microsoft.com/office/drawing/2014/main" id="{285C754C-AEF3-4CBA-ADB7-5C7138274345}"/>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Mismo agregado.</a:t>
            </a:r>
            <a:r>
              <a:rPr sz="1800" b="0">
                <a:solidFill>
                  <a:srgbClr val="45516A"/>
                </a:solidFill>
                <a:latin typeface="Arial"/>
                <a:ea typeface="Arial"/>
                <a:cs typeface="Arial"/>
              </a:rPr>
              <a:t> IRepository&lt;Order&gt; 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IOrderRepository resuelven OrderRepository, que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incluye las líneas del pedido.</a:t>
            </a:r>
          </a:p>
        </p:txBody>
      </p:sp>
      <p:sp>
        <p:nvSpPr>
          <p:cNvPr id="23" name="Analysis 2">
            <a:extLst xmlns:a="http://schemas.openxmlformats.org/drawingml/2006/main">
              <a:ext uri="{FF2B5EF4-FFF2-40B4-BE49-F238E27FC236}">
                <a16:creationId xmlns:a16="http://schemas.microsoft.com/office/drawing/2014/main" id="{CA99690F-3F5E-4F8E-86EF-5AD60892483E}"/>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Mismo guardado.</a:t>
            </a:r>
            <a:r>
              <a:rPr sz="1800" b="0">
                <a:solidFill>
                  <a:srgbClr val="45516A"/>
                </a:solidFill>
                <a:latin typeface="Arial"/>
                <a:ea typeface="Arial"/>
                <a:cs typeface="Arial"/>
              </a:rPr>
              <a:t> El repositorio usa el DbContext</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del ámbito. La unidad de trabajo confirma los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cambios de ese mismo contexto.</a:t>
            </a:r>
          </a:p>
        </p:txBody>
      </p:sp>
    </p:spTree>
    <p:extLst>
      <p:ext uri="{BB962C8B-B14F-4D97-AF65-F5344CB8AC3E}">
        <p14:creationId xmlns:p14="http://schemas.microsoft.com/office/powerpoint/2010/main" val="2113057394"/>
      </p:ext>
    </p:extLst>
  </p:cSld>
</p:sld>
</file>

<file path=ppt/slides/slide1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6B5E4269-4AC6-4516-B88D-59315AECD7FA}"/>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03</a:t>
            </a:r>
          </a:p>
        </p:txBody>
      </p:sp>
      <p:sp>
        <p:nvSpPr>
          <p:cNvPr id="3" name="Class title">
            <a:extLst xmlns:a="http://schemas.openxmlformats.org/drawingml/2006/main">
              <a:ext uri="{FF2B5EF4-FFF2-40B4-BE49-F238E27FC236}">
                <a16:creationId xmlns:a16="http://schemas.microsoft.com/office/drawing/2014/main" id="{B0A38C35-1A67-42E7-9FAA-4DFA4FA7DF4E}"/>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Patrones</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y repositorios</a:t>
            </a:r>
          </a:p>
        </p:txBody>
      </p:sp>
      <p:sp>
        <p:nvSpPr>
          <p:cNvPr id="5" name="Learning outcome">
            <a:extLst xmlns:a="http://schemas.openxmlformats.org/drawingml/2006/main">
              <a:ext uri="{FF2B5EF4-FFF2-40B4-BE49-F238E27FC236}">
                <a16:creationId xmlns:a16="http://schemas.microsoft.com/office/drawing/2014/main" id="{801B3F05-114B-4BAE-89B8-C81710791C48}"/>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Cómo organizar consultas, cambios</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y acceso a datos.</a:t>
            </a:r>
          </a:p>
        </p:txBody>
      </p:sp>
      <p:sp>
        <p:nvSpPr>
          <p:cNvPr id="7" name="Practice outcome">
            <a:extLst xmlns:a="http://schemas.openxmlformats.org/drawingml/2006/main">
              <a:ext uri="{FF2B5EF4-FFF2-40B4-BE49-F238E27FC236}">
                <a16:creationId xmlns:a16="http://schemas.microsoft.com/office/drawing/2014/main" id="{388C8D6C-5317-4311-8F9E-7C29710A37C5}"/>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Crear un repositorio reutilizable</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con IRepository&lt;T&gt;.</a:t>
            </a:r>
          </a:p>
        </p:txBody>
      </p:sp>
      <p:sp>
        <p:nvSpPr>
          <p:cNvPr id="9" name="Module context">
            <a:extLst xmlns:a="http://schemas.openxmlformats.org/drawingml/2006/main">
              <a:ext uri="{FF2B5EF4-FFF2-40B4-BE49-F238E27FC236}">
                <a16:creationId xmlns:a16="http://schemas.microsoft.com/office/drawing/2014/main" id="{9B268182-1117-4128-B1FD-AA3C8606662B}"/>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Los patrones resuelven problemas frecuentes.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Un repositorio permite trabajar con productos y pedidos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sin depender de cómo se guardan.</a:t>
            </a:r>
          </a:p>
        </p:txBody>
      </p:sp>
    </p:spTree>
    <p:extLst>
      <p:ext uri="{BB962C8B-B14F-4D97-AF65-F5344CB8AC3E}">
        <p14:creationId xmlns:p14="http://schemas.microsoft.com/office/powerpoint/2010/main" val="1746648860"/>
      </p:ext>
    </p:extLst>
  </p:cSld>
</p:sld>
</file>

<file path=ppt/slides/slide17.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BB633B22-579A-40DE-B9B8-DA0985DD2172}"/>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03</a:t>
            </a:r>
          </a:p>
        </p:txBody>
      </p:sp>
      <p:sp>
        <p:nvSpPr>
          <p:cNvPr id="2" name="Concept title">
            <a:extLst xmlns:a="http://schemas.openxmlformats.org/drawingml/2006/main">
              <a:ext uri="{FF2B5EF4-FFF2-40B4-BE49-F238E27FC236}">
                <a16:creationId xmlns:a16="http://schemas.microsoft.com/office/drawing/2014/main" id="{BAAB9697-A66A-464D-8DD0-2D5969A07789}"/>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Repository, CQRS y Mediator</a:t>
            </a:r>
          </a:p>
        </p:txBody>
      </p:sp>
      <p:sp>
        <p:nvSpPr>
          <p:cNvPr id="3" name="Concept definition">
            <a:extLst xmlns:a="http://schemas.openxmlformats.org/drawingml/2006/main">
              <a:ext uri="{FF2B5EF4-FFF2-40B4-BE49-F238E27FC236}">
                <a16:creationId xmlns:a16="http://schemas.microsoft.com/office/drawing/2014/main" id="{F06D213A-2B6C-424E-B074-316F4BA78761}"/>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Repository separa el acceso a datos del negocio.</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En IRepository&lt;T&gt;, T indica el tipo de entidad: Product u Order.</a:t>
            </a:r>
          </a:p>
        </p:txBody>
      </p:sp>
      <p:sp>
        <p:nvSpPr>
          <p:cNvPr id="4" name="Concept explanation">
            <a:extLst xmlns:a="http://schemas.openxmlformats.org/drawingml/2006/main">
              <a:ext uri="{FF2B5EF4-FFF2-40B4-BE49-F238E27FC236}">
                <a16:creationId xmlns:a16="http://schemas.microsoft.com/office/drawing/2014/main" id="{2D9AFCCD-6816-4601-8DFD-20B37EFC0FCB}"/>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CQRS = Command Query Responsibility Segregation:</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separar consultas y cambios. Mediator dirige cada solicitud</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al manejador que ejecuta el caso de uso.</a:t>
            </a:r>
          </a:p>
        </p:txBody>
      </p:sp>
      <p:sp>
        <p:nvSpPr>
          <p:cNvPr id="5" name="Concept example label">
            <a:extLst xmlns:a="http://schemas.openxmlformats.org/drawingml/2006/main">
              <a:ext uri="{FF2B5EF4-FFF2-40B4-BE49-F238E27FC236}">
                <a16:creationId xmlns:a16="http://schemas.microsoft.com/office/drawing/2014/main" id="{F0D420C9-B0DF-4072-80C4-171E795FC1A5}"/>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0DDB4690-4990-491B-9070-7C5FFF4EC155}"/>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Crear un pedido es un comando. Consultarlo es una consulta.</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El repositorio carga datos y la unidad de trabajo los guarda.</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En este curso usamos una sola base de datos.</a:t>
            </a:r>
          </a:p>
        </p:txBody>
      </p:sp>
    </p:spTree>
    <p:extLst>
      <p:ext uri="{BB962C8B-B14F-4D97-AF65-F5344CB8AC3E}">
        <p14:creationId xmlns:p14="http://schemas.microsoft.com/office/powerpoint/2010/main" val="2116411288"/>
      </p:ext>
    </p:extLst>
  </p:cSld>
</p:sld>
</file>

<file path=ppt/slides/slide18.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CD0A2A31-11CF-46C2-95C0-CE884D044CCB}"/>
              </a:ext>
            </a:extLst>
          </p:cNvPr>
          <p:cNvCxnSpPr>
            <a:stCxn xmlns:a="http://schemas.openxmlformats.org/drawingml/2006/main" id="10" idx="3"/>
            <a:endCxn xmlns:a="http://schemas.openxmlformats.org/drawingml/2006/main" id="16" idx="1"/>
          </p:cNvCxnSpPr>
          <p:nvPr/>
        </p:nvCxnSpPr>
        <p:spPr>
          <a:xfrm xmlns:a="http://schemas.openxmlformats.org/drawingml/2006/main">
            <a:off x="7381875" y="4019550"/>
            <a:ext cx="1095375" cy="690563"/>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3" name="">
            <a:extLst xmlns:a="http://schemas.openxmlformats.org/drawingml/2006/main">
              <a:ext uri="{FF2B5EF4-FFF2-40B4-BE49-F238E27FC236}">
                <a16:creationId xmlns:a16="http://schemas.microsoft.com/office/drawing/2014/main" id="{4983FA9D-E28B-4878-A471-8BBD7C239CEA}"/>
              </a:ext>
            </a:extLst>
          </p:cNvPr>
          <p:cNvCxnSpPr>
            <a:stCxn xmlns:a="http://schemas.openxmlformats.org/drawingml/2006/main" id="10" idx="3"/>
            <a:endCxn xmlns:a="http://schemas.openxmlformats.org/drawingml/2006/main" id="13" idx="1"/>
          </p:cNvCxnSpPr>
          <p:nvPr/>
        </p:nvCxnSpPr>
        <p:spPr>
          <a:xfrm xmlns:a="http://schemas.openxmlformats.org/drawingml/2006/main" flipV="1">
            <a:off x="7381875" y="3195638"/>
            <a:ext cx="1095375" cy="823913"/>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1" name="">
            <a:extLst xmlns:a="http://schemas.openxmlformats.org/drawingml/2006/main">
              <a:ext uri="{FF2B5EF4-FFF2-40B4-BE49-F238E27FC236}">
                <a16:creationId xmlns:a16="http://schemas.microsoft.com/office/drawing/2014/main" id="{AD906EA7-72A5-4480-8195-533BA8BF46CD}"/>
              </a:ext>
            </a:extLst>
          </p:cNvPr>
          <p:cNvCxnSpPr>
            <a:stCxn xmlns:a="http://schemas.openxmlformats.org/drawingml/2006/main" id="7" idx="3"/>
            <a:endCxn xmlns:a="http://schemas.openxmlformats.org/drawingml/2006/main" id="10" idx="1"/>
          </p:cNvCxnSpPr>
          <p:nvPr/>
        </p:nvCxnSpPr>
        <p:spPr>
          <a:xfrm xmlns:a="http://schemas.openxmlformats.org/drawingml/2006/main" flipV="1">
            <a:off x="3714750" y="4019550"/>
            <a:ext cx="952500" cy="690563"/>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9" name="">
            <a:extLst xmlns:a="http://schemas.openxmlformats.org/drawingml/2006/main">
              <a:ext uri="{FF2B5EF4-FFF2-40B4-BE49-F238E27FC236}">
                <a16:creationId xmlns:a16="http://schemas.microsoft.com/office/drawing/2014/main" id="{B6EE77EF-931C-457F-9D52-9DA7C08C3BFF}"/>
              </a:ext>
            </a:extLst>
          </p:cNvPr>
          <p:cNvCxnSpPr>
            <a:stCxn xmlns:a="http://schemas.openxmlformats.org/drawingml/2006/main" id="4" idx="3"/>
            <a:endCxn xmlns:a="http://schemas.openxmlformats.org/drawingml/2006/main" id="10" idx="1"/>
          </p:cNvCxnSpPr>
          <p:nvPr/>
        </p:nvCxnSpPr>
        <p:spPr>
          <a:xfrm xmlns:a="http://schemas.openxmlformats.org/drawingml/2006/main">
            <a:off x="3714750" y="3195638"/>
            <a:ext cx="952500" cy="823913"/>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9" name="Deep module">
            <a:extLst xmlns:a="http://schemas.openxmlformats.org/drawingml/2006/main">
              <a:ext uri="{FF2B5EF4-FFF2-40B4-BE49-F238E27FC236}">
                <a16:creationId xmlns:a16="http://schemas.microsoft.com/office/drawing/2014/main" id="{02F83CAD-3E97-4B71-A913-5CED0394124C}"/>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03</a:t>
            </a:r>
          </a:p>
        </p:txBody>
      </p:sp>
      <p:sp>
        <p:nvSpPr>
          <p:cNvPr id="2" name="Deep title">
            <a:extLst xmlns:a="http://schemas.openxmlformats.org/drawingml/2006/main">
              <a:ext uri="{FF2B5EF4-FFF2-40B4-BE49-F238E27FC236}">
                <a16:creationId xmlns:a16="http://schemas.microsoft.com/office/drawing/2014/main" id="{E8B82CEF-8828-4B5C-80AD-DA7EA77F44D8}"/>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El mediador elige quién resuelve la solicitud</a:t>
            </a:r>
          </a:p>
        </p:txBody>
      </p:sp>
      <p:sp>
        <p:nvSpPr>
          <p:cNvPr id="3" name="Deep lead">
            <a:extLst xmlns:a="http://schemas.openxmlformats.org/drawingml/2006/main">
              <a:ext uri="{FF2B5EF4-FFF2-40B4-BE49-F238E27FC236}">
                <a16:creationId xmlns:a16="http://schemas.microsoft.com/office/drawing/2014/main" id="{168F60FB-181B-41E0-980C-F803FDEBB6F1}"/>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CQRS separa solicitudes de escritura y lectura. El mediador despacha cada tipo a su</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manejador registrado.</a:t>
            </a:r>
          </a:p>
        </p:txBody>
      </p:sp>
      <p:sp>
        <p:nvSpPr>
          <p:cNvPr id="4" name="Diagram node command">
            <a:extLst xmlns:a="http://schemas.openxmlformats.org/drawingml/2006/main">
              <a:ext uri="{FF2B5EF4-FFF2-40B4-BE49-F238E27FC236}">
                <a16:creationId xmlns:a16="http://schemas.microsoft.com/office/drawing/2014/main" id="{8DA94410-52E0-4E49-A01B-4C8CFFA5627B}"/>
              </a:ext>
            </a:extLst>
          </p:cNvPr>
          <p:cNvSpPr>
            <a:spLocks xmlns:a="http://schemas.openxmlformats.org/drawingml/2006/main" noGrp="1"/>
          </p:cNvSpPr>
          <p:nvPr/>
        </p:nvSpPr>
        <p:spPr>
          <a:xfrm xmlns:a="http://schemas.openxmlformats.org/drawingml/2006/main">
            <a:off x="762000" y="2657475"/>
            <a:ext cx="29527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command">
            <a:extLst xmlns:a="http://schemas.openxmlformats.org/drawingml/2006/main">
              <a:ext uri="{FF2B5EF4-FFF2-40B4-BE49-F238E27FC236}">
                <a16:creationId xmlns:a16="http://schemas.microsoft.com/office/drawing/2014/main" id="{85EE92C3-6CB5-4124-A125-4D6733926B09}"/>
              </a:ext>
            </a:extLst>
          </p:cNvPr>
          <p:cNvSpPr>
            <a:spLocks xmlns:a="http://schemas.openxmlformats.org/drawingml/2006/main" noGrp="1"/>
          </p:cNvSpPr>
          <p:nvPr/>
        </p:nvSpPr>
        <p:spPr>
          <a:xfrm xmlns:a="http://schemas.openxmlformats.org/drawingml/2006/main">
            <a:off x="876300" y="2781300"/>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CreateOrderCommand</a:t>
            </a:r>
          </a:p>
        </p:txBody>
      </p:sp>
      <p:sp>
        <p:nvSpPr>
          <p:cNvPr id="6" name="Node detail command">
            <a:extLst xmlns:a="http://schemas.openxmlformats.org/drawingml/2006/main">
              <a:ext uri="{FF2B5EF4-FFF2-40B4-BE49-F238E27FC236}">
                <a16:creationId xmlns:a16="http://schemas.microsoft.com/office/drawing/2014/main" id="{8A958060-1347-46EA-830B-745DE7F0D1E8}"/>
              </a:ext>
            </a:extLst>
          </p:cNvPr>
          <p:cNvSpPr>
            <a:spLocks xmlns:a="http://schemas.openxmlformats.org/drawingml/2006/main" noGrp="1"/>
          </p:cNvSpPr>
          <p:nvPr/>
        </p:nvSpPr>
        <p:spPr>
          <a:xfrm xmlns:a="http://schemas.openxmlformats.org/drawingml/2006/main">
            <a:off x="876300" y="3095625"/>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Pide crear</a:t>
            </a:r>
          </a:p>
        </p:txBody>
      </p:sp>
      <p:sp>
        <p:nvSpPr>
          <p:cNvPr id="7" name="Diagram node query">
            <a:extLst xmlns:a="http://schemas.openxmlformats.org/drawingml/2006/main">
              <a:ext uri="{FF2B5EF4-FFF2-40B4-BE49-F238E27FC236}">
                <a16:creationId xmlns:a16="http://schemas.microsoft.com/office/drawing/2014/main" id="{3569A61A-6FAA-4C4E-AB21-B03802615B72}"/>
              </a:ext>
            </a:extLst>
          </p:cNvPr>
          <p:cNvSpPr>
            <a:spLocks xmlns:a="http://schemas.openxmlformats.org/drawingml/2006/main" noGrp="1"/>
          </p:cNvSpPr>
          <p:nvPr/>
        </p:nvSpPr>
        <p:spPr>
          <a:xfrm xmlns:a="http://schemas.openxmlformats.org/drawingml/2006/main">
            <a:off x="762000" y="4171950"/>
            <a:ext cx="29527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query">
            <a:extLst xmlns:a="http://schemas.openxmlformats.org/drawingml/2006/main">
              <a:ext uri="{FF2B5EF4-FFF2-40B4-BE49-F238E27FC236}">
                <a16:creationId xmlns:a16="http://schemas.microsoft.com/office/drawing/2014/main" id="{FCA9BB08-B720-494B-851D-BA198FAE2185}"/>
              </a:ext>
            </a:extLst>
          </p:cNvPr>
          <p:cNvSpPr>
            <a:spLocks xmlns:a="http://schemas.openxmlformats.org/drawingml/2006/main" noGrp="1"/>
          </p:cNvSpPr>
          <p:nvPr/>
        </p:nvSpPr>
        <p:spPr>
          <a:xfrm xmlns:a="http://schemas.openxmlformats.org/drawingml/2006/main">
            <a:off x="876300" y="4295775"/>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GetOrderQuery</a:t>
            </a:r>
          </a:p>
        </p:txBody>
      </p:sp>
      <p:sp>
        <p:nvSpPr>
          <p:cNvPr id="9" name="Node detail query">
            <a:extLst xmlns:a="http://schemas.openxmlformats.org/drawingml/2006/main">
              <a:ext uri="{FF2B5EF4-FFF2-40B4-BE49-F238E27FC236}">
                <a16:creationId xmlns:a16="http://schemas.microsoft.com/office/drawing/2014/main" id="{681A1DFD-C6BF-4002-A181-F2088B0A386F}"/>
              </a:ext>
            </a:extLst>
          </p:cNvPr>
          <p:cNvSpPr>
            <a:spLocks xmlns:a="http://schemas.openxmlformats.org/drawingml/2006/main" noGrp="1"/>
          </p:cNvSpPr>
          <p:nvPr/>
        </p:nvSpPr>
        <p:spPr>
          <a:xfrm xmlns:a="http://schemas.openxmlformats.org/drawingml/2006/main">
            <a:off x="876300" y="4610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Pide consultar</a:t>
            </a:r>
          </a:p>
        </p:txBody>
      </p:sp>
      <p:sp>
        <p:nvSpPr>
          <p:cNvPr id="10" name="Diagram node mediator">
            <a:extLst xmlns:a="http://schemas.openxmlformats.org/drawingml/2006/main">
              <a:ext uri="{FF2B5EF4-FFF2-40B4-BE49-F238E27FC236}">
                <a16:creationId xmlns:a16="http://schemas.microsoft.com/office/drawing/2014/main" id="{EBB9B016-B201-41B2-8F8F-3356CFC93DCD}"/>
              </a:ext>
            </a:extLst>
          </p:cNvPr>
          <p:cNvSpPr>
            <a:spLocks xmlns:a="http://schemas.openxmlformats.org/drawingml/2006/main" noGrp="1"/>
          </p:cNvSpPr>
          <p:nvPr/>
        </p:nvSpPr>
        <p:spPr>
          <a:xfrm xmlns:a="http://schemas.openxmlformats.org/drawingml/2006/main">
            <a:off x="4667250" y="3390900"/>
            <a:ext cx="27146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mediator">
            <a:extLst xmlns:a="http://schemas.openxmlformats.org/drawingml/2006/main">
              <a:ext uri="{FF2B5EF4-FFF2-40B4-BE49-F238E27FC236}">
                <a16:creationId xmlns:a16="http://schemas.microsoft.com/office/drawing/2014/main" id="{D57766C3-3B03-4DBC-8694-1E2886BECFDC}"/>
              </a:ext>
            </a:extLst>
          </p:cNvPr>
          <p:cNvSpPr>
            <a:spLocks xmlns:a="http://schemas.openxmlformats.org/drawingml/2006/main" noGrp="1"/>
          </p:cNvSpPr>
          <p:nvPr/>
        </p:nvSpPr>
        <p:spPr>
          <a:xfrm xmlns:a="http://schemas.openxmlformats.org/drawingml/2006/main">
            <a:off x="4781550" y="3514725"/>
            <a:ext cx="2486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Mediator</a:t>
            </a:r>
          </a:p>
        </p:txBody>
      </p:sp>
      <p:sp>
        <p:nvSpPr>
          <p:cNvPr id="12" name="Node detail mediator">
            <a:extLst xmlns:a="http://schemas.openxmlformats.org/drawingml/2006/main">
              <a:ext uri="{FF2B5EF4-FFF2-40B4-BE49-F238E27FC236}">
                <a16:creationId xmlns:a16="http://schemas.microsoft.com/office/drawing/2014/main" id="{861BE253-BF4B-4C19-A6F9-7D969D0F3DE3}"/>
              </a:ext>
            </a:extLst>
          </p:cNvPr>
          <p:cNvSpPr>
            <a:spLocks xmlns:a="http://schemas.openxmlformats.org/drawingml/2006/main" noGrp="1"/>
          </p:cNvSpPr>
          <p:nvPr/>
        </p:nvSpPr>
        <p:spPr>
          <a:xfrm xmlns:a="http://schemas.openxmlformats.org/drawingml/2006/main">
            <a:off x="4781550" y="3829050"/>
            <a:ext cx="2486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Busca el tipo registrado</a:t>
            </a:r>
          </a:p>
        </p:txBody>
      </p:sp>
      <p:sp>
        <p:nvSpPr>
          <p:cNvPr id="13" name="Diagram node create">
            <a:extLst xmlns:a="http://schemas.openxmlformats.org/drawingml/2006/main">
              <a:ext uri="{FF2B5EF4-FFF2-40B4-BE49-F238E27FC236}">
                <a16:creationId xmlns:a16="http://schemas.microsoft.com/office/drawing/2014/main" id="{A9E6159F-6379-43E2-B380-C59F1075E8D3}"/>
              </a:ext>
            </a:extLst>
          </p:cNvPr>
          <p:cNvSpPr>
            <a:spLocks xmlns:a="http://schemas.openxmlformats.org/drawingml/2006/main" noGrp="1"/>
          </p:cNvSpPr>
          <p:nvPr/>
        </p:nvSpPr>
        <p:spPr>
          <a:xfrm xmlns:a="http://schemas.openxmlformats.org/drawingml/2006/main">
            <a:off x="8477250" y="2657475"/>
            <a:ext cx="29527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create">
            <a:extLst xmlns:a="http://schemas.openxmlformats.org/drawingml/2006/main">
              <a:ext uri="{FF2B5EF4-FFF2-40B4-BE49-F238E27FC236}">
                <a16:creationId xmlns:a16="http://schemas.microsoft.com/office/drawing/2014/main" id="{C4C81C2B-ACD7-4991-9A2C-A4C7B0317FE1}"/>
              </a:ext>
            </a:extLst>
          </p:cNvPr>
          <p:cNvSpPr>
            <a:spLocks xmlns:a="http://schemas.openxmlformats.org/drawingml/2006/main" noGrp="1"/>
          </p:cNvSpPr>
          <p:nvPr/>
        </p:nvSpPr>
        <p:spPr>
          <a:xfrm xmlns:a="http://schemas.openxmlformats.org/drawingml/2006/main">
            <a:off x="8591550" y="2781300"/>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CreateOrderHandler</a:t>
            </a:r>
          </a:p>
        </p:txBody>
      </p:sp>
      <p:sp>
        <p:nvSpPr>
          <p:cNvPr id="15" name="Node detail create">
            <a:extLst xmlns:a="http://schemas.openxmlformats.org/drawingml/2006/main">
              <a:ext uri="{FF2B5EF4-FFF2-40B4-BE49-F238E27FC236}">
                <a16:creationId xmlns:a16="http://schemas.microsoft.com/office/drawing/2014/main" id="{93F68A87-2BF8-4861-89F5-094BAF80D5B1}"/>
              </a:ext>
            </a:extLst>
          </p:cNvPr>
          <p:cNvSpPr>
            <a:spLocks xmlns:a="http://schemas.openxmlformats.org/drawingml/2006/main" noGrp="1"/>
          </p:cNvSpPr>
          <p:nvPr/>
        </p:nvSpPr>
        <p:spPr>
          <a:xfrm xmlns:a="http://schemas.openxmlformats.org/drawingml/2006/main">
            <a:off x="8591550" y="3095625"/>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Ejecuta escritura</a:t>
            </a:r>
          </a:p>
        </p:txBody>
      </p:sp>
      <p:sp>
        <p:nvSpPr>
          <p:cNvPr id="16" name="Diagram node get">
            <a:extLst xmlns:a="http://schemas.openxmlformats.org/drawingml/2006/main">
              <a:ext uri="{FF2B5EF4-FFF2-40B4-BE49-F238E27FC236}">
                <a16:creationId xmlns:a16="http://schemas.microsoft.com/office/drawing/2014/main" id="{B09A91F3-B6E2-4C23-8887-E5B343736370}"/>
              </a:ext>
            </a:extLst>
          </p:cNvPr>
          <p:cNvSpPr>
            <a:spLocks xmlns:a="http://schemas.openxmlformats.org/drawingml/2006/main" noGrp="1"/>
          </p:cNvSpPr>
          <p:nvPr/>
        </p:nvSpPr>
        <p:spPr>
          <a:xfrm xmlns:a="http://schemas.openxmlformats.org/drawingml/2006/main">
            <a:off x="8477250" y="4171950"/>
            <a:ext cx="29527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7" name="Node label get">
            <a:extLst xmlns:a="http://schemas.openxmlformats.org/drawingml/2006/main">
              <a:ext uri="{FF2B5EF4-FFF2-40B4-BE49-F238E27FC236}">
                <a16:creationId xmlns:a16="http://schemas.microsoft.com/office/drawing/2014/main" id="{CACA1383-D47B-4BE1-A053-BD2FDBBA26A9}"/>
              </a:ext>
            </a:extLst>
          </p:cNvPr>
          <p:cNvSpPr>
            <a:spLocks xmlns:a="http://schemas.openxmlformats.org/drawingml/2006/main" noGrp="1"/>
          </p:cNvSpPr>
          <p:nvPr/>
        </p:nvSpPr>
        <p:spPr>
          <a:xfrm xmlns:a="http://schemas.openxmlformats.org/drawingml/2006/main">
            <a:off x="8591550" y="4295775"/>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GetOrderHandler</a:t>
            </a:r>
          </a:p>
        </p:txBody>
      </p:sp>
      <p:sp>
        <p:nvSpPr>
          <p:cNvPr id="18" name="Node detail get">
            <a:extLst xmlns:a="http://schemas.openxmlformats.org/drawingml/2006/main">
              <a:ext uri="{FF2B5EF4-FFF2-40B4-BE49-F238E27FC236}">
                <a16:creationId xmlns:a16="http://schemas.microsoft.com/office/drawing/2014/main" id="{0E6A7814-961E-4DAF-B934-9DBE7BF499F4}"/>
              </a:ext>
            </a:extLst>
          </p:cNvPr>
          <p:cNvSpPr>
            <a:spLocks xmlns:a="http://schemas.openxmlformats.org/drawingml/2006/main" noGrp="1"/>
          </p:cNvSpPr>
          <p:nvPr/>
        </p:nvSpPr>
        <p:spPr>
          <a:xfrm xmlns:a="http://schemas.openxmlformats.org/drawingml/2006/main">
            <a:off x="8591550" y="4610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Ejecuta lectura</a:t>
            </a:r>
          </a:p>
        </p:txBody>
      </p:sp>
      <p:sp>
        <p:nvSpPr>
          <p:cNvPr id="20" name="Relationship command mediator">
            <a:extLst xmlns:a="http://schemas.openxmlformats.org/drawingml/2006/main">
              <a:ext uri="{FF2B5EF4-FFF2-40B4-BE49-F238E27FC236}">
                <a16:creationId xmlns:a16="http://schemas.microsoft.com/office/drawing/2014/main" id="{7A77F279-40ED-407F-B26C-A9A7BE355DC6}"/>
              </a:ext>
            </a:extLst>
          </p:cNvPr>
          <p:cNvSpPr>
            <a:spLocks xmlns:a="http://schemas.openxmlformats.org/drawingml/2006/main" noGrp="1"/>
          </p:cNvSpPr>
          <p:nvPr/>
        </p:nvSpPr>
        <p:spPr>
          <a:xfrm xmlns:a="http://schemas.openxmlformats.org/drawingml/2006/main">
            <a:off x="3543300" y="2824163"/>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Send</a:t>
            </a:r>
          </a:p>
        </p:txBody>
      </p:sp>
      <p:sp>
        <p:nvSpPr>
          <p:cNvPr id="22" name="Relationship query mediator">
            <a:extLst xmlns:a="http://schemas.openxmlformats.org/drawingml/2006/main">
              <a:ext uri="{FF2B5EF4-FFF2-40B4-BE49-F238E27FC236}">
                <a16:creationId xmlns:a16="http://schemas.microsoft.com/office/drawing/2014/main" id="{3EB08EC6-7AA2-4DA6-8FEA-F379D279F380}"/>
              </a:ext>
            </a:extLst>
          </p:cNvPr>
          <p:cNvSpPr>
            <a:spLocks xmlns:a="http://schemas.openxmlformats.org/drawingml/2006/main" noGrp="1"/>
          </p:cNvSpPr>
          <p:nvPr/>
        </p:nvSpPr>
        <p:spPr>
          <a:xfrm xmlns:a="http://schemas.openxmlformats.org/drawingml/2006/main">
            <a:off x="3543300" y="4786313"/>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Send</a:t>
            </a:r>
          </a:p>
        </p:txBody>
      </p:sp>
      <p:sp>
        <p:nvSpPr>
          <p:cNvPr id="24" name="Relationship mediator create">
            <a:extLst xmlns:a="http://schemas.openxmlformats.org/drawingml/2006/main">
              <a:ext uri="{FF2B5EF4-FFF2-40B4-BE49-F238E27FC236}">
                <a16:creationId xmlns:a16="http://schemas.microsoft.com/office/drawing/2014/main" id="{AAC39350-1F18-473E-A49A-C33F2CAC011D}"/>
              </a:ext>
            </a:extLst>
          </p:cNvPr>
          <p:cNvSpPr>
            <a:spLocks xmlns:a="http://schemas.openxmlformats.org/drawingml/2006/main" noGrp="1"/>
          </p:cNvSpPr>
          <p:nvPr/>
        </p:nvSpPr>
        <p:spPr>
          <a:xfrm xmlns:a="http://schemas.openxmlformats.org/drawingml/2006/main">
            <a:off x="7281863" y="2824163"/>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Handle</a:t>
            </a:r>
          </a:p>
        </p:txBody>
      </p:sp>
      <p:sp>
        <p:nvSpPr>
          <p:cNvPr id="26" name="Relationship mediator get">
            <a:extLst xmlns:a="http://schemas.openxmlformats.org/drawingml/2006/main">
              <a:ext uri="{FF2B5EF4-FFF2-40B4-BE49-F238E27FC236}">
                <a16:creationId xmlns:a16="http://schemas.microsoft.com/office/drawing/2014/main" id="{F2FC4B43-1AEA-4063-AACE-346CB1EADCE1}"/>
              </a:ext>
            </a:extLst>
          </p:cNvPr>
          <p:cNvSpPr>
            <a:spLocks xmlns:a="http://schemas.openxmlformats.org/drawingml/2006/main" noGrp="1"/>
          </p:cNvSpPr>
          <p:nvPr/>
        </p:nvSpPr>
        <p:spPr>
          <a:xfrm xmlns:a="http://schemas.openxmlformats.org/drawingml/2006/main">
            <a:off x="7281863" y="4786313"/>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Handle</a:t>
            </a:r>
          </a:p>
        </p:txBody>
      </p:sp>
      <p:sp>
        <p:nvSpPr>
          <p:cNvPr id="27" name="Analysis 1">
            <a:extLst xmlns:a="http://schemas.openxmlformats.org/drawingml/2006/main">
              <a:ext uri="{FF2B5EF4-FFF2-40B4-BE49-F238E27FC236}">
                <a16:creationId xmlns:a16="http://schemas.microsoft.com/office/drawing/2014/main" id="{8B63D71A-599B-451F-8F2D-52FA00DFF2C5}"/>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Escritura.</a:t>
            </a:r>
            <a:r>
              <a:rPr sz="1800" b="0">
                <a:solidFill>
                  <a:srgbClr val="45516A"/>
                </a:solidFill>
                <a:latin typeface="Arial"/>
                <a:ea typeface="Arial"/>
                <a:cs typeface="Arial"/>
              </a:rPr>
              <a:t> CreateOrderHandler coordina cargar</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productos, aplicar reglas, registrar el pedido y</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guardar.</a:t>
            </a:r>
          </a:p>
        </p:txBody>
      </p:sp>
      <p:sp>
        <p:nvSpPr>
          <p:cNvPr id="28" name="Analysis 2">
            <a:extLst xmlns:a="http://schemas.openxmlformats.org/drawingml/2006/main">
              <a:ext uri="{FF2B5EF4-FFF2-40B4-BE49-F238E27FC236}">
                <a16:creationId xmlns:a16="http://schemas.microsoft.com/office/drawing/2014/main" id="{B3839E84-68F0-4F51-AB49-0957F89F2C84}"/>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Lectura.</a:t>
            </a:r>
            <a:r>
              <a:rPr sz="1800" b="0">
                <a:solidFill>
                  <a:srgbClr val="45516A"/>
                </a:solidFill>
                <a:latin typeface="Arial"/>
                <a:ea typeface="Arial"/>
                <a:cs typeface="Arial"/>
              </a:rPr>
              <a:t> GetOrderHandler comprueba pertenencia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y devuelve un DTO. Ambas operaciones utilizan la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misma base.</a:t>
            </a:r>
          </a:p>
        </p:txBody>
      </p:sp>
    </p:spTree>
    <p:extLst>
      <p:ext uri="{BB962C8B-B14F-4D97-AF65-F5344CB8AC3E}">
        <p14:creationId xmlns:p14="http://schemas.microsoft.com/office/powerpoint/2010/main" val="1260780385"/>
      </p:ext>
    </p:extLst>
  </p:cSld>
</p:sld>
</file>

<file path=ppt/slides/slide1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2" name="Deep module">
            <a:extLst xmlns:a="http://schemas.openxmlformats.org/drawingml/2006/main">
              <a:ext uri="{FF2B5EF4-FFF2-40B4-BE49-F238E27FC236}">
                <a16:creationId xmlns:a16="http://schemas.microsoft.com/office/drawing/2014/main" id="{C95CCF13-5EAB-417E-8D00-84D04939ACA5}"/>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03</a:t>
            </a:r>
          </a:p>
        </p:txBody>
      </p:sp>
      <p:sp>
        <p:nvSpPr>
          <p:cNvPr id="2" name="Deep title">
            <a:extLst xmlns:a="http://schemas.openxmlformats.org/drawingml/2006/main">
              <a:ext uri="{FF2B5EF4-FFF2-40B4-BE49-F238E27FC236}">
                <a16:creationId xmlns:a16="http://schemas.microsoft.com/office/drawing/2014/main" id="{D8AB0A97-244B-48E8-970F-CADFB04DB681}"/>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IRepository&lt;T&gt;: registrar sin guardar</a:t>
            </a:r>
          </a:p>
        </p:txBody>
      </p:sp>
      <p:sp>
        <p:nvSpPr>
          <p:cNvPr id="3" name="Deep lead">
            <a:extLst xmlns:a="http://schemas.openxmlformats.org/drawingml/2006/main">
              <a:ext uri="{FF2B5EF4-FFF2-40B4-BE49-F238E27FC236}">
                <a16:creationId xmlns:a16="http://schemas.microsoft.com/office/drawing/2014/main" id="{CA564491-DC9C-467E-935F-EE02154BB211}"/>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operación Add agrega una entidad al contexto. La decisión de confirmar todos los</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cambios pertenece a la unidad de trabajo.</a:t>
            </a:r>
          </a:p>
        </p:txBody>
      </p:sp>
      <p:sp>
        <p:nvSpPr>
          <p:cNvPr id="4" name="Code provenance">
            <a:extLst xmlns:a="http://schemas.openxmlformats.org/drawingml/2006/main">
              <a:ext uri="{FF2B5EF4-FFF2-40B4-BE49-F238E27FC236}">
                <a16:creationId xmlns:a16="http://schemas.microsoft.com/office/drawing/2014/main" id="{62673B39-3F85-49B6-868D-5369E1B9672A}"/>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Repository.cs</a:t>
            </a:r>
          </a:p>
        </p:txBody>
      </p:sp>
      <p:sp>
        <p:nvSpPr>
          <p:cNvPr id="5" name="Code line 1">
            <a:extLst xmlns:a="http://schemas.openxmlformats.org/drawingml/2006/main">
              <a:ext uri="{FF2B5EF4-FFF2-40B4-BE49-F238E27FC236}">
                <a16:creationId xmlns:a16="http://schemas.microsoft.com/office/drawing/2014/main" id="{C31565D9-CE73-4305-8006-50963319D925}"/>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public void Add(T entity)</a:t>
            </a:r>
          </a:p>
        </p:txBody>
      </p:sp>
      <p:sp>
        <p:nvSpPr>
          <p:cNvPr id="6" name="Code line 2">
            <a:extLst xmlns:a="http://schemas.openxmlformats.org/drawingml/2006/main">
              <a:ext uri="{FF2B5EF4-FFF2-40B4-BE49-F238E27FC236}">
                <a16:creationId xmlns:a16="http://schemas.microsoft.com/office/drawing/2014/main" id="{7F099AD7-DA53-4FFC-939E-C53778DF5837}"/>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t>
            </a:r>
          </a:p>
        </p:txBody>
      </p:sp>
      <p:sp>
        <p:nvSpPr>
          <p:cNvPr id="7" name="Code line 3">
            <a:extLst xmlns:a="http://schemas.openxmlformats.org/drawingml/2006/main">
              <a:ext uri="{FF2B5EF4-FFF2-40B4-BE49-F238E27FC236}">
                <a16:creationId xmlns:a16="http://schemas.microsoft.com/office/drawing/2014/main" id="{8195A294-6825-4D11-9F90-0E110B584ADD}"/>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ArgumentNullException.ThrowIfNull(entity);</a:t>
            </a:r>
          </a:p>
        </p:txBody>
      </p:sp>
      <p:sp>
        <p:nvSpPr>
          <p:cNvPr id="8" name="Code line 4">
            <a:extLst xmlns:a="http://schemas.openxmlformats.org/drawingml/2006/main">
              <a:ext uri="{FF2B5EF4-FFF2-40B4-BE49-F238E27FC236}">
                <a16:creationId xmlns:a16="http://schemas.microsoft.com/office/drawing/2014/main" id="{137F71F6-5E74-4BDE-8681-090C1C8FFEB2}"/>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Context.Set&lt;T&gt;().Add(entity);</a:t>
            </a:r>
          </a:p>
        </p:txBody>
      </p:sp>
      <p:sp>
        <p:nvSpPr>
          <p:cNvPr id="9" name="Code line 5">
            <a:extLst xmlns:a="http://schemas.openxmlformats.org/drawingml/2006/main">
              <a:ext uri="{FF2B5EF4-FFF2-40B4-BE49-F238E27FC236}">
                <a16:creationId xmlns:a16="http://schemas.microsoft.com/office/drawing/2014/main" id="{6344F695-44DB-4E26-8FB5-6F69EAE3615C}"/>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t>
            </a:r>
          </a:p>
        </p:txBody>
      </p:sp>
      <p:sp>
        <p:nvSpPr>
          <p:cNvPr id="10" name="Analysis 1">
            <a:extLst xmlns:a="http://schemas.openxmlformats.org/drawingml/2006/main">
              <a:ext uri="{FF2B5EF4-FFF2-40B4-BE49-F238E27FC236}">
                <a16:creationId xmlns:a16="http://schemas.microsoft.com/office/drawing/2014/main" id="{C4986498-2055-4EBA-899A-696C784351A0}"/>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Contrato acotado.</a:t>
            </a:r>
            <a:r>
              <a:rPr sz="1725" b="0">
                <a:solidFill>
                  <a:srgbClr val="D0D8E6"/>
                </a:solidFill>
                <a:latin typeface="Arial"/>
                <a:ea typeface="Arial"/>
                <a:cs typeface="Arial"/>
              </a:rPr>
              <a:t> T debe implementar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IAggregateRoot. Product y Order son entradas del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repositorio; OrderItem pertenece al pedido.</a:t>
            </a:r>
          </a:p>
        </p:txBody>
      </p:sp>
      <p:sp>
        <p:nvSpPr>
          <p:cNvPr id="11" name="Analysis 2">
            <a:extLst xmlns:a="http://schemas.openxmlformats.org/drawingml/2006/main">
              <a:ext uri="{FF2B5EF4-FFF2-40B4-BE49-F238E27FC236}">
                <a16:creationId xmlns:a16="http://schemas.microsoft.com/office/drawing/2014/main" id="{A96EA3BD-DDAB-4289-81AB-40031F6B325D}"/>
              </a:ext>
            </a:extLst>
          </p:cNvPr>
          <p:cNvSpPr>
            <a:spLocks xmlns:a="http://schemas.openxmlformats.org/drawingml/2006/main" noGrp="1"/>
          </p:cNvSpPr>
          <p:nvPr/>
        </p:nvSpPr>
        <p:spPr>
          <a:xfrm xmlns:a="http://schemas.openxmlformats.org/drawingml/2006/main">
            <a:off x="6238875" y="5581650"/>
            <a:ext cx="5191125"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Semántica explícita.</a:t>
            </a:r>
            <a:r>
              <a:rPr sz="1725" b="0">
                <a:solidFill>
                  <a:srgbClr val="D0D8E6"/>
                </a:solidFill>
                <a:latin typeface="Arial"/>
                <a:ea typeface="Arial"/>
                <a:cs typeface="Arial"/>
              </a:rPr>
              <a:t> GetByIdAsync conserva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seguimiento; GetByIdsAsync lee sin seguimiento.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Las consultas especializadas permanecen en</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contratos específicos.</a:t>
            </a:r>
          </a:p>
        </p:txBody>
      </p:sp>
    </p:spTree>
    <p:extLst>
      <p:ext uri="{BB962C8B-B14F-4D97-AF65-F5344CB8AC3E}">
        <p14:creationId xmlns:p14="http://schemas.microsoft.com/office/powerpoint/2010/main" val="941622813"/>
      </p:ext>
    </p:extLst>
  </p:cSld>
</p:sld>
</file>

<file path=ppt/slides/slide2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3" name="Deep module">
            <a:extLst xmlns:a="http://schemas.openxmlformats.org/drawingml/2006/main">
              <a:ext uri="{FF2B5EF4-FFF2-40B4-BE49-F238E27FC236}">
                <a16:creationId xmlns:a16="http://schemas.microsoft.com/office/drawing/2014/main" id="{A62DEC4A-4BFB-4507-8476-293764827671}"/>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03</a:t>
            </a:r>
          </a:p>
        </p:txBody>
      </p:sp>
      <p:sp>
        <p:nvSpPr>
          <p:cNvPr id="2" name="Deep title">
            <a:extLst xmlns:a="http://schemas.openxmlformats.org/drawingml/2006/main">
              <a:ext uri="{FF2B5EF4-FFF2-40B4-BE49-F238E27FC236}">
                <a16:creationId xmlns:a16="http://schemas.microsoft.com/office/drawing/2014/main" id="{8765C0FE-18F5-48F8-8CF3-35236916FFFE}"/>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Confirmar el pedido junto con su evento</a:t>
            </a:r>
          </a:p>
        </p:txBody>
      </p:sp>
      <p:sp>
        <p:nvSpPr>
          <p:cNvPr id="3" name="Deep lead">
            <a:extLst xmlns:a="http://schemas.openxmlformats.org/drawingml/2006/main">
              <a:ext uri="{FF2B5EF4-FFF2-40B4-BE49-F238E27FC236}">
                <a16:creationId xmlns:a16="http://schemas.microsoft.com/office/drawing/2014/main" id="{53F3D0A7-CCAA-4311-9691-518DB8406C95}"/>
              </a:ext>
            </a:extLst>
          </p:cNvPr>
          <p:cNvSpPr>
            <a:spLocks xmlns:a="http://schemas.openxmlformats.org/drawingml/2006/main" noGrp="1"/>
          </p:cNvSpPr>
          <p:nvPr/>
        </p:nvSpPr>
        <p:spPr>
          <a:xfrm xmlns:a="http://schemas.openxmlformats.org/drawingml/2006/main">
            <a:off x="781050" y="1457325"/>
            <a:ext cx="10629900" cy="384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Una sola unidad de trabajo conserva juntos el pedido y la intención de notificar su creación.</a:t>
            </a:r>
          </a:p>
        </p:txBody>
      </p:sp>
      <p:sp>
        <p:nvSpPr>
          <p:cNvPr id="4" name="Code provenance">
            <a:extLst xmlns:a="http://schemas.openxmlformats.org/drawingml/2006/main">
              <a:ext uri="{FF2B5EF4-FFF2-40B4-BE49-F238E27FC236}">
                <a16:creationId xmlns:a16="http://schemas.microsoft.com/office/drawing/2014/main" id="{247CD394-741F-4CEA-ABD3-ECC505313B6D}"/>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Esquema didáctico</a:t>
            </a:r>
          </a:p>
        </p:txBody>
      </p:sp>
      <p:sp>
        <p:nvSpPr>
          <p:cNvPr id="5" name="Code line 1">
            <a:extLst xmlns:a="http://schemas.openxmlformats.org/drawingml/2006/main">
              <a:ext uri="{FF2B5EF4-FFF2-40B4-BE49-F238E27FC236}">
                <a16:creationId xmlns:a16="http://schemas.microsoft.com/office/drawing/2014/main" id="{EA537698-1839-4335-B7F2-F2A504A0BDAC}"/>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A7E2D7"/>
                </a:solidFill>
                <a:latin typeface="Consolas"/>
                <a:ea typeface="Consolas"/>
                <a:cs typeface="Consolas"/>
              </a:defRPr>
            </a:defPPr>
          </a:lstStyle>
          <a:p xmlns:a="http://schemas.openxmlformats.org/drawingml/2006/main">
            <a:pPr algn="l">
              <a:buNone/>
              <a:defRPr sz="1875" b="0">
                <a:solidFill>
                  <a:srgbClr val="A7E2D7"/>
                </a:solidFill>
                <a:latin typeface="Consolas"/>
                <a:ea typeface="Consolas"/>
                <a:cs typeface="Consolas"/>
              </a:defRPr>
            </a:pPr>
            <a:r>
              <a:rPr sz="1875" b="0">
                <a:solidFill>
                  <a:srgbClr val="A7E2D7"/>
                </a:solidFill>
                <a:latin typeface="Consolas"/>
                <a:ea typeface="Consolas"/>
                <a:cs typeface="Consolas"/>
              </a:rPr>
              <a:t>// Cierre del caso de uso, tras validar y cargar productos.</a:t>
            </a:r>
          </a:p>
        </p:txBody>
      </p:sp>
      <p:sp>
        <p:nvSpPr>
          <p:cNvPr id="6" name="Code line 2">
            <a:extLst xmlns:a="http://schemas.openxmlformats.org/drawingml/2006/main">
              <a:ext uri="{FF2B5EF4-FFF2-40B4-BE49-F238E27FC236}">
                <a16:creationId xmlns:a16="http://schemas.microsoft.com/office/drawing/2014/main" id="{B2478585-DAEE-40A9-B95E-B123DA51F164}"/>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order = Order.Create(request.CustomerId, items);</a:t>
            </a:r>
          </a:p>
        </p:txBody>
      </p:sp>
      <p:sp>
        <p:nvSpPr>
          <p:cNvPr id="7" name="Code line 3">
            <a:extLst xmlns:a="http://schemas.openxmlformats.org/drawingml/2006/main">
              <a:ext uri="{FF2B5EF4-FFF2-40B4-BE49-F238E27FC236}">
                <a16:creationId xmlns:a16="http://schemas.microsoft.com/office/drawing/2014/main" id="{69EEE5A1-5FCB-400A-9FFE-92FE3332D773}"/>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orders.Add(order);</a:t>
            </a:r>
          </a:p>
        </p:txBody>
      </p:sp>
      <p:sp>
        <p:nvSpPr>
          <p:cNvPr id="8" name="Code line 4">
            <a:extLst xmlns:a="http://schemas.openxmlformats.org/drawingml/2006/main">
              <a:ext uri="{FF2B5EF4-FFF2-40B4-BE49-F238E27FC236}">
                <a16:creationId xmlns:a16="http://schemas.microsoft.com/office/drawing/2014/main" id="{DBA46100-9856-4009-8E76-7A534BA7F4AC}"/>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await unitOfWork.SaveChangesAsync(cancellationToken);</a:t>
            </a:r>
          </a:p>
        </p:txBody>
      </p:sp>
      <p:sp>
        <p:nvSpPr>
          <p:cNvPr id="9" name="Code line 5">
            <a:extLst xmlns:a="http://schemas.openxmlformats.org/drawingml/2006/main">
              <a:ext uri="{FF2B5EF4-FFF2-40B4-BE49-F238E27FC236}">
                <a16:creationId xmlns:a16="http://schemas.microsoft.com/office/drawing/2014/main" id="{C5C4A6DB-B467-423E-B4F4-405359A3308F}"/>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return Result&lt;OrderDto&gt;.Success(</a:t>
            </a:r>
          </a:p>
        </p:txBody>
      </p:sp>
      <p:sp>
        <p:nvSpPr>
          <p:cNvPr id="10" name="Code line 6">
            <a:extLst xmlns:a="http://schemas.openxmlformats.org/drawingml/2006/main">
              <a:ext uri="{FF2B5EF4-FFF2-40B4-BE49-F238E27FC236}">
                <a16:creationId xmlns:a16="http://schemas.microsoft.com/office/drawing/2014/main" id="{66D76611-ECAE-4698-8C53-0F106DEDCA2D}"/>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OrderDto.From(order));</a:t>
            </a:r>
          </a:p>
        </p:txBody>
      </p:sp>
      <p:sp>
        <p:nvSpPr>
          <p:cNvPr id="11" name="Analysis 1">
            <a:extLst xmlns:a="http://schemas.openxmlformats.org/drawingml/2006/main">
              <a:ext uri="{FF2B5EF4-FFF2-40B4-BE49-F238E27FC236}">
                <a16:creationId xmlns:a16="http://schemas.microsoft.com/office/drawing/2014/main" id="{25132052-2667-48AE-9600-FEB1A82434DD}"/>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Una confirmación.</a:t>
            </a:r>
            <a:r>
              <a:rPr sz="1725" b="0">
                <a:solidFill>
                  <a:srgbClr val="D0D8E6"/>
                </a:solidFill>
                <a:latin typeface="Arial"/>
                <a:ea typeface="Arial"/>
                <a:cs typeface="Arial"/>
              </a:rPr>
              <a:t> El contexto convierte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OrderSubmitted en un mensaje Outbox y guarda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pedido y mensaje dentro de la misma transacción.</a:t>
            </a:r>
          </a:p>
        </p:txBody>
      </p:sp>
      <p:sp>
        <p:nvSpPr>
          <p:cNvPr id="12" name="Analysis 2">
            <a:extLst xmlns:a="http://schemas.openxmlformats.org/drawingml/2006/main">
              <a:ext uri="{FF2B5EF4-FFF2-40B4-BE49-F238E27FC236}">
                <a16:creationId xmlns:a16="http://schemas.microsoft.com/office/drawing/2014/main" id="{506D72F3-4009-4553-917E-143E004A909C}"/>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Envío posterior.</a:t>
            </a:r>
            <a:r>
              <a:rPr sz="1725" b="0">
                <a:solidFill>
                  <a:srgbClr val="D0D8E6"/>
                </a:solidFill>
                <a:latin typeface="Arial"/>
                <a:ea typeface="Arial"/>
                <a:cs typeface="Arial"/>
              </a:rPr>
              <a:t> Guardar el mensaje no envía la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notificación. Un proceso posterior intenta entregarla y</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puede repetirla.</a:t>
            </a:r>
          </a:p>
        </p:txBody>
      </p:sp>
    </p:spTree>
    <p:extLst>
      <p:ext uri="{BB962C8B-B14F-4D97-AF65-F5344CB8AC3E}">
        <p14:creationId xmlns:p14="http://schemas.microsoft.com/office/powerpoint/2010/main" val="141358070"/>
      </p:ext>
    </p:extLst>
  </p:cSld>
</p:sld>
</file>

<file path=ppt/slides/slide21.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C00A6238-6BA4-407C-9DF9-80BD59464AC1}"/>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03</a:t>
            </a:r>
          </a:p>
        </p:txBody>
      </p:sp>
      <p:sp>
        <p:nvSpPr>
          <p:cNvPr id="2" name="Deep title">
            <a:extLst xmlns:a="http://schemas.openxmlformats.org/drawingml/2006/main">
              <a:ext uri="{FF2B5EF4-FFF2-40B4-BE49-F238E27FC236}">
                <a16:creationId xmlns:a16="http://schemas.microsoft.com/office/drawing/2014/main" id="{EAF469F8-D22E-42AF-BC77-5EB271D05B0F}"/>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Result y evento responden preguntas distintas</a:t>
            </a:r>
          </a:p>
        </p:txBody>
      </p:sp>
      <p:sp>
        <p:nvSpPr>
          <p:cNvPr id="3" name="Deep lead">
            <a:extLst xmlns:a="http://schemas.openxmlformats.org/drawingml/2006/main">
              <a:ext uri="{FF2B5EF4-FFF2-40B4-BE49-F238E27FC236}">
                <a16:creationId xmlns:a16="http://schemas.microsoft.com/office/drawing/2014/main" id="{316992F8-05D4-4488-9E7F-BFE0B6FEA2EA}"/>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Result informa al solicitante qué pasó con su operación; un evento de dominio registra un</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hecho que otras partes podrán procesar.</a:t>
            </a:r>
          </a:p>
        </p:txBody>
      </p:sp>
      <p:sp>
        <p:nvSpPr>
          <p:cNvPr id="4" name="Explanation heading 1">
            <a:extLst xmlns:a="http://schemas.openxmlformats.org/drawingml/2006/main">
              <a:ext uri="{FF2B5EF4-FFF2-40B4-BE49-F238E27FC236}">
                <a16:creationId xmlns:a16="http://schemas.microsoft.com/office/drawing/2014/main" id="{1462ED86-5E9A-4886-BD43-1E9BF957F473}"/>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Result</a:t>
            </a:r>
          </a:p>
        </p:txBody>
      </p:sp>
      <p:sp>
        <p:nvSpPr>
          <p:cNvPr id="5" name="Explanation body 1">
            <a:extLst xmlns:a="http://schemas.openxmlformats.org/drawingml/2006/main">
              <a:ext uri="{FF2B5EF4-FFF2-40B4-BE49-F238E27FC236}">
                <a16:creationId xmlns:a16="http://schemas.microsoft.com/office/drawing/2014/main" id="{F7D2FA0F-5E8E-4B02-B929-39ABFDB3DB12}"/>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Pedido ausente devuelve NotFound; pedido ajeno devuelve Forbidden. Un fallo técnico</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inesperado conserva su tratamiento de excepción.</a:t>
            </a:r>
          </a:p>
        </p:txBody>
      </p:sp>
      <p:sp>
        <p:nvSpPr>
          <p:cNvPr id="6" name="Explanation heading 2">
            <a:extLst xmlns:a="http://schemas.openxmlformats.org/drawingml/2006/main">
              <a:ext uri="{FF2B5EF4-FFF2-40B4-BE49-F238E27FC236}">
                <a16:creationId xmlns:a16="http://schemas.microsoft.com/office/drawing/2014/main" id="{46066833-4DC7-4331-8567-6A7585466752}"/>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Evento</a:t>
            </a:r>
          </a:p>
        </p:txBody>
      </p:sp>
      <p:sp>
        <p:nvSpPr>
          <p:cNvPr id="7" name="Explanation body 2">
            <a:extLst xmlns:a="http://schemas.openxmlformats.org/drawingml/2006/main">
              <a:ext uri="{FF2B5EF4-FFF2-40B4-BE49-F238E27FC236}">
                <a16:creationId xmlns:a16="http://schemas.microsoft.com/office/drawing/2014/main" id="{AC0337A2-226B-47C5-B390-C26993122E14}"/>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OrderSubmitted describe un pedido creado. No realiza llamadas de red dentro de la</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entidad.</a:t>
            </a:r>
          </a:p>
        </p:txBody>
      </p:sp>
      <p:sp>
        <p:nvSpPr>
          <p:cNvPr id="8" name="Explanation heading 3">
            <a:extLst xmlns:a="http://schemas.openxmlformats.org/drawingml/2006/main">
              <a:ext uri="{FF2B5EF4-FFF2-40B4-BE49-F238E27FC236}">
                <a16:creationId xmlns:a16="http://schemas.microsoft.com/office/drawing/2014/main" id="{CF59793A-B720-4B3A-AD02-E2AE300584CA}"/>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Decisión</a:t>
            </a:r>
          </a:p>
        </p:txBody>
      </p:sp>
      <p:sp>
        <p:nvSpPr>
          <p:cNvPr id="9" name="Explanation body 3">
            <a:extLst xmlns:a="http://schemas.openxmlformats.org/drawingml/2006/main">
              <a:ext uri="{FF2B5EF4-FFF2-40B4-BE49-F238E27FC236}">
                <a16:creationId xmlns:a16="http://schemas.microsoft.com/office/drawing/2014/main" id="{67713282-9C51-4DBA-84CF-CD49ABED1D70}"/>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GetOrder devuelve un resultado; crear el pedido también genera un evento. Cada uno</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cumple una función diferente.</a:t>
            </a:r>
          </a:p>
        </p:txBody>
      </p:sp>
    </p:spTree>
    <p:extLst>
      <p:ext uri="{BB962C8B-B14F-4D97-AF65-F5344CB8AC3E}">
        <p14:creationId xmlns:p14="http://schemas.microsoft.com/office/powerpoint/2010/main" val="981639957"/>
      </p:ext>
    </p:extLst>
  </p:cSld>
</p:sld>
</file>

<file path=ppt/slides/slide22.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11475FDA-9604-47F5-8487-D569DB8209F0}"/>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04</a:t>
            </a:r>
          </a:p>
        </p:txBody>
      </p:sp>
      <p:sp>
        <p:nvSpPr>
          <p:cNvPr id="3" name="Class title">
            <a:extLst xmlns:a="http://schemas.openxmlformats.org/drawingml/2006/main">
              <a:ext uri="{FF2B5EF4-FFF2-40B4-BE49-F238E27FC236}">
                <a16:creationId xmlns:a16="http://schemas.microsoft.com/office/drawing/2014/main" id="{DBF0EBC2-9690-4C05-BD64-7FD4E356D1E6}"/>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API y contratos</a:t>
            </a:r>
          </a:p>
        </p:txBody>
      </p:sp>
      <p:sp>
        <p:nvSpPr>
          <p:cNvPr id="5" name="Learning outcome">
            <a:extLst xmlns:a="http://schemas.openxmlformats.org/drawingml/2006/main">
              <a:ext uri="{FF2B5EF4-FFF2-40B4-BE49-F238E27FC236}">
                <a16:creationId xmlns:a16="http://schemas.microsoft.com/office/drawing/2014/main" id="{8240C012-6631-479E-842D-0A4CC1CADC75}"/>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Peticiones y respuestas claras</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entre aplicaciones.</a:t>
            </a:r>
          </a:p>
        </p:txBody>
      </p:sp>
      <p:sp>
        <p:nvSpPr>
          <p:cNvPr id="7" name="Practice outcome">
            <a:extLst xmlns:a="http://schemas.openxmlformats.org/drawingml/2006/main">
              <a:ext uri="{FF2B5EF4-FFF2-40B4-BE49-F238E27FC236}">
                <a16:creationId xmlns:a16="http://schemas.microsoft.com/office/drawing/2014/main" id="{737089ED-5143-40A7-BDB1-D7DD87BC5E4B}"/>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Crear rutas, validar entradas</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y documentar errores con OpenAPI.</a:t>
            </a:r>
          </a:p>
        </p:txBody>
      </p:sp>
      <p:sp>
        <p:nvSpPr>
          <p:cNvPr id="9" name="Module context">
            <a:extLst xmlns:a="http://schemas.openxmlformats.org/drawingml/2006/main">
              <a:ext uri="{FF2B5EF4-FFF2-40B4-BE49-F238E27FC236}">
                <a16:creationId xmlns:a16="http://schemas.microsoft.com/office/drawing/2014/main" id="{320223D1-B857-4632-B2C3-62984DA30488}"/>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 API es la puerta de entrada de la aplicación.</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Define qué pueden solicitar otros sistemas y cómo</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recibirán resultados o errores.</a:t>
            </a:r>
          </a:p>
        </p:txBody>
      </p:sp>
    </p:spTree>
    <p:extLst>
      <p:ext uri="{BB962C8B-B14F-4D97-AF65-F5344CB8AC3E}">
        <p14:creationId xmlns:p14="http://schemas.microsoft.com/office/powerpoint/2010/main" val="10906725"/>
      </p:ext>
    </p:extLst>
  </p:cSld>
</p:sld>
</file>

<file path=ppt/slides/slide23.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380BDF16-602F-4D33-882D-E582E75C2999}"/>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04</a:t>
            </a:r>
          </a:p>
        </p:txBody>
      </p:sp>
      <p:sp>
        <p:nvSpPr>
          <p:cNvPr id="2" name="Concept title">
            <a:extLst xmlns:a="http://schemas.openxmlformats.org/drawingml/2006/main">
              <a:ext uri="{FF2B5EF4-FFF2-40B4-BE49-F238E27FC236}">
                <a16:creationId xmlns:a16="http://schemas.microsoft.com/office/drawing/2014/main" id="{71AAF27D-BA5A-424D-B6D5-6B7914AB9E70}"/>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El lenguaje de una API</a:t>
            </a:r>
          </a:p>
        </p:txBody>
      </p:sp>
      <p:sp>
        <p:nvSpPr>
          <p:cNvPr id="3" name="Concept definition">
            <a:extLst xmlns:a="http://schemas.openxmlformats.org/drawingml/2006/main">
              <a:ext uri="{FF2B5EF4-FFF2-40B4-BE49-F238E27FC236}">
                <a16:creationId xmlns:a16="http://schemas.microsoft.com/office/drawing/2014/main" id="{6A1BC899-EDA8-4316-A00C-9967025B79D6}"/>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API = Application Programming Interface:</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 contrato para que dos programas se comuniquen.</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DTO = Data Transfer Object: los datos que intercambian.</a:t>
            </a:r>
          </a:p>
        </p:txBody>
      </p:sp>
      <p:sp>
        <p:nvSpPr>
          <p:cNvPr id="4" name="Concept explanation">
            <a:extLst xmlns:a="http://schemas.openxmlformats.org/drawingml/2006/main">
              <a:ext uri="{FF2B5EF4-FFF2-40B4-BE49-F238E27FC236}">
                <a16:creationId xmlns:a16="http://schemas.microsoft.com/office/drawing/2014/main" id="{9B3722E0-E78D-4790-A2EB-149C5C3B3C24}"/>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REST = Representational State Transfer: estilo basado en recursos.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OpenAPI describe rutas, entradas y respuestas.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Swagger UI permite explorar la documentación y probar la API.</a:t>
            </a:r>
          </a:p>
        </p:txBody>
      </p:sp>
      <p:sp>
        <p:nvSpPr>
          <p:cNvPr id="5" name="Concept example label">
            <a:extLst xmlns:a="http://schemas.openxmlformats.org/drawingml/2006/main">
              <a:ext uri="{FF2B5EF4-FFF2-40B4-BE49-F238E27FC236}">
                <a16:creationId xmlns:a16="http://schemas.microsoft.com/office/drawing/2014/main" id="{9432098E-C0B8-4DA8-A71A-A21CBE131E36}"/>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9A326AF1-AF79-4129-B4B3-A51CBF482BE7}"/>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POST /api/v1/products crea un producto y devuelve 201 (creado).</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Consultar un producto inexistente devuelve 404 (no encontrado).</a:t>
            </a:r>
          </a:p>
        </p:txBody>
      </p:sp>
    </p:spTree>
    <p:extLst>
      <p:ext uri="{BB962C8B-B14F-4D97-AF65-F5344CB8AC3E}">
        <p14:creationId xmlns:p14="http://schemas.microsoft.com/office/powerpoint/2010/main" val="1476417388"/>
      </p:ext>
    </p:extLst>
  </p:cSld>
</p:sld>
</file>

<file path=ppt/slides/slide24.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F2286552-9428-47D3-A1B3-31A12377748B}"/>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BB952AFE-5AC2-49DE-B043-2F7FE5768AF9}"/>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D7479153-98DC-4E0B-BDC0-C7468EDCDE89}"/>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CE81D1E9-5091-41B9-849D-FC6F72DA1CC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04</a:t>
            </a:r>
          </a:p>
        </p:txBody>
      </p:sp>
      <p:sp>
        <p:nvSpPr>
          <p:cNvPr id="2" name="Deep title">
            <a:extLst xmlns:a="http://schemas.openxmlformats.org/drawingml/2006/main">
              <a:ext uri="{FF2B5EF4-FFF2-40B4-BE49-F238E27FC236}">
                <a16:creationId xmlns:a16="http://schemas.microsoft.com/office/drawing/2014/main" id="{409554A1-E395-4606-B609-B6C888583D8A}"/>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El recorrido de una petición</a:t>
            </a:r>
          </a:p>
        </p:txBody>
      </p:sp>
      <p:sp>
        <p:nvSpPr>
          <p:cNvPr id="3" name="Deep lead">
            <a:extLst xmlns:a="http://schemas.openxmlformats.org/drawingml/2006/main">
              <a:ext uri="{FF2B5EF4-FFF2-40B4-BE49-F238E27FC236}">
                <a16:creationId xmlns:a16="http://schemas.microsoft.com/office/drawing/2014/main" id="{6CF1C53B-9047-4DA1-AC95-DC4F594FC5C9}"/>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Una API es una interfaz entre programas. En AulaPedidos, HTTP transporta la solicitud y</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JSON representa los datos.</a:t>
            </a:r>
          </a:p>
        </p:txBody>
      </p:sp>
      <p:sp>
        <p:nvSpPr>
          <p:cNvPr id="4" name="Diagram node http">
            <a:extLst xmlns:a="http://schemas.openxmlformats.org/drawingml/2006/main">
              <a:ext uri="{FF2B5EF4-FFF2-40B4-BE49-F238E27FC236}">
                <a16:creationId xmlns:a16="http://schemas.microsoft.com/office/drawing/2014/main" id="{DAD65A8C-BFDB-41C1-AB8C-07EF39D299DF}"/>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http">
            <a:extLst xmlns:a="http://schemas.openxmlformats.org/drawingml/2006/main">
              <a:ext uri="{FF2B5EF4-FFF2-40B4-BE49-F238E27FC236}">
                <a16:creationId xmlns:a16="http://schemas.microsoft.com/office/drawing/2014/main" id="{9B1BB358-FB90-4E82-B519-AEE535303610}"/>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Solicitud</a:t>
            </a:r>
          </a:p>
        </p:txBody>
      </p:sp>
      <p:sp>
        <p:nvSpPr>
          <p:cNvPr id="6" name="Node detail http">
            <a:extLst xmlns:a="http://schemas.openxmlformats.org/drawingml/2006/main">
              <a:ext uri="{FF2B5EF4-FFF2-40B4-BE49-F238E27FC236}">
                <a16:creationId xmlns:a16="http://schemas.microsoft.com/office/drawing/2014/main" id="{C16F349A-85D9-4353-8334-DDA2DD12DFC9}"/>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POST</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/api/v1/products</a:t>
            </a:r>
          </a:p>
        </p:txBody>
      </p:sp>
      <p:sp>
        <p:nvSpPr>
          <p:cNvPr id="7" name="Diagram node dto">
            <a:extLst xmlns:a="http://schemas.openxmlformats.org/drawingml/2006/main">
              <a:ext uri="{FF2B5EF4-FFF2-40B4-BE49-F238E27FC236}">
                <a16:creationId xmlns:a16="http://schemas.microsoft.com/office/drawing/2014/main" id="{C552FE5D-E645-4CCD-945A-B052999A3503}"/>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dto">
            <a:extLst xmlns:a="http://schemas.openxmlformats.org/drawingml/2006/main">
              <a:ext uri="{FF2B5EF4-FFF2-40B4-BE49-F238E27FC236}">
                <a16:creationId xmlns:a16="http://schemas.microsoft.com/office/drawing/2014/main" id="{BCEC4793-D99F-4B42-8175-38A11BBB9859}"/>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Entrada</a:t>
            </a:r>
          </a:p>
        </p:txBody>
      </p:sp>
      <p:sp>
        <p:nvSpPr>
          <p:cNvPr id="9" name="Node detail dto">
            <a:extLst xmlns:a="http://schemas.openxmlformats.org/drawingml/2006/main">
              <a:ext uri="{FF2B5EF4-FFF2-40B4-BE49-F238E27FC236}">
                <a16:creationId xmlns:a16="http://schemas.microsoft.com/office/drawing/2014/main" id="{3B547688-4E90-4C8D-8880-50CF2FC77584}"/>
              </a:ext>
            </a:extLst>
          </p:cNvPr>
          <p:cNvSpPr>
            <a:spLocks xmlns:a="http://schemas.openxmlformats.org/drawingml/2006/main" noGrp="1"/>
          </p:cNvSpPr>
          <p:nvPr/>
        </p:nvSpPr>
        <p:spPr>
          <a:xfrm xmlns:a="http://schemas.openxmlformats.org/drawingml/2006/main">
            <a:off x="368617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ProductInput</a:t>
            </a:r>
          </a:p>
        </p:txBody>
      </p:sp>
      <p:sp>
        <p:nvSpPr>
          <p:cNvPr id="10" name="Diagram node handler">
            <a:extLst xmlns:a="http://schemas.openxmlformats.org/drawingml/2006/main">
              <a:ext uri="{FF2B5EF4-FFF2-40B4-BE49-F238E27FC236}">
                <a16:creationId xmlns:a16="http://schemas.microsoft.com/office/drawing/2014/main" id="{E9AB3E10-CC68-43C2-9D0C-58DB3102904E}"/>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handler">
            <a:extLst xmlns:a="http://schemas.openxmlformats.org/drawingml/2006/main">
              <a:ext uri="{FF2B5EF4-FFF2-40B4-BE49-F238E27FC236}">
                <a16:creationId xmlns:a16="http://schemas.microsoft.com/office/drawing/2014/main" id="{9FB2D825-32E1-4E94-A1F5-9E96C0CE20B0}"/>
              </a:ext>
            </a:extLst>
          </p:cNvPr>
          <p:cNvSpPr>
            <a:spLocks xmlns:a="http://schemas.openxmlformats.org/drawingml/2006/main" noGrp="1"/>
          </p:cNvSpPr>
          <p:nvPr/>
        </p:nvSpPr>
        <p:spPr>
          <a:xfrm xmlns:a="http://schemas.openxmlformats.org/drawingml/2006/main">
            <a:off x="649605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Caso de uso</a:t>
            </a:r>
          </a:p>
        </p:txBody>
      </p:sp>
      <p:sp>
        <p:nvSpPr>
          <p:cNvPr id="12" name="Node detail handler">
            <a:extLst xmlns:a="http://schemas.openxmlformats.org/drawingml/2006/main">
              <a:ext uri="{FF2B5EF4-FFF2-40B4-BE49-F238E27FC236}">
                <a16:creationId xmlns:a16="http://schemas.microsoft.com/office/drawing/2014/main" id="{B013030F-95CE-4A2B-A254-F361DBA3477C}"/>
              </a:ext>
            </a:extLst>
          </p:cNvPr>
          <p:cNvSpPr>
            <a:spLocks xmlns:a="http://schemas.openxmlformats.org/drawingml/2006/main" noGrp="1"/>
          </p:cNvSpPr>
          <p:nvPr/>
        </p:nvSpPr>
        <p:spPr>
          <a:xfrm xmlns:a="http://schemas.openxmlformats.org/drawingml/2006/main">
            <a:off x="649605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CreateProduct</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Handler</a:t>
            </a:r>
          </a:p>
        </p:txBody>
      </p:sp>
      <p:sp>
        <p:nvSpPr>
          <p:cNvPr id="13" name="Diagram node response">
            <a:extLst xmlns:a="http://schemas.openxmlformats.org/drawingml/2006/main">
              <a:ext uri="{FF2B5EF4-FFF2-40B4-BE49-F238E27FC236}">
                <a16:creationId xmlns:a16="http://schemas.microsoft.com/office/drawing/2014/main" id="{152840E6-6144-4C11-9D45-FF435E077093}"/>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response">
            <a:extLst xmlns:a="http://schemas.openxmlformats.org/drawingml/2006/main">
              <a:ext uri="{FF2B5EF4-FFF2-40B4-BE49-F238E27FC236}">
                <a16:creationId xmlns:a16="http://schemas.microsoft.com/office/drawing/2014/main" id="{39622E04-3BA0-490C-AA8A-A4F75C6CE38F}"/>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Respuesta</a:t>
            </a:r>
          </a:p>
        </p:txBody>
      </p:sp>
      <p:sp>
        <p:nvSpPr>
          <p:cNvPr id="15" name="Node detail response">
            <a:extLst xmlns:a="http://schemas.openxmlformats.org/drawingml/2006/main">
              <a:ext uri="{FF2B5EF4-FFF2-40B4-BE49-F238E27FC236}">
                <a16:creationId xmlns:a16="http://schemas.microsoft.com/office/drawing/2014/main" id="{83FE61C4-6919-4E4A-9462-9A286FBA878F}"/>
              </a:ext>
            </a:extLst>
          </p:cNvPr>
          <p:cNvSpPr>
            <a:spLocks xmlns:a="http://schemas.openxmlformats.org/drawingml/2006/main" noGrp="1"/>
          </p:cNvSpPr>
          <p:nvPr/>
        </p:nvSpPr>
        <p:spPr>
          <a:xfrm xmlns:a="http://schemas.openxmlformats.org/drawingml/2006/main">
            <a:off x="930592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201 o error</a:t>
            </a:r>
          </a:p>
        </p:txBody>
      </p:sp>
      <p:sp>
        <p:nvSpPr>
          <p:cNvPr id="17" name="Relationship http dto">
            <a:extLst xmlns:a="http://schemas.openxmlformats.org/drawingml/2006/main">
              <a:ext uri="{FF2B5EF4-FFF2-40B4-BE49-F238E27FC236}">
                <a16:creationId xmlns:a16="http://schemas.microsoft.com/office/drawing/2014/main" id="{F8C36EE1-6856-43F4-9A7A-FAF6B75AC80F}"/>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JSON</a:t>
            </a:r>
          </a:p>
        </p:txBody>
      </p:sp>
      <p:sp>
        <p:nvSpPr>
          <p:cNvPr id="19" name="Relationship dto handler">
            <a:extLst xmlns:a="http://schemas.openxmlformats.org/drawingml/2006/main">
              <a:ext uri="{FF2B5EF4-FFF2-40B4-BE49-F238E27FC236}">
                <a16:creationId xmlns:a16="http://schemas.microsoft.com/office/drawing/2014/main" id="{C2959A6C-31DA-43DB-AE5E-7CD64A842919}"/>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Comando</a:t>
            </a:r>
          </a:p>
        </p:txBody>
      </p:sp>
      <p:sp>
        <p:nvSpPr>
          <p:cNvPr id="21" name="Relationship handler response">
            <a:extLst xmlns:a="http://schemas.openxmlformats.org/drawingml/2006/main">
              <a:ext uri="{FF2B5EF4-FFF2-40B4-BE49-F238E27FC236}">
                <a16:creationId xmlns:a16="http://schemas.microsoft.com/office/drawing/2014/main" id="{4FB86EBD-6FB0-4F0D-B6F8-D0C59A7D4215}"/>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Result</a:t>
            </a:r>
          </a:p>
        </p:txBody>
      </p:sp>
      <p:sp>
        <p:nvSpPr>
          <p:cNvPr id="22" name="Analysis 1">
            <a:extLst xmlns:a="http://schemas.openxmlformats.org/drawingml/2006/main">
              <a:ext uri="{FF2B5EF4-FFF2-40B4-BE49-F238E27FC236}">
                <a16:creationId xmlns:a16="http://schemas.microsoft.com/office/drawing/2014/main" id="{0B589248-6F65-4AF0-B2AB-354528B9E3F2}"/>
              </a:ext>
            </a:extLst>
          </p:cNvPr>
          <p:cNvSpPr>
            <a:spLocks xmlns:a="http://schemas.openxmlformats.org/drawingml/2006/main" noGrp="1"/>
          </p:cNvSpPr>
          <p:nvPr/>
        </p:nvSpPr>
        <p:spPr>
          <a:xfrm xmlns:a="http://schemas.openxmlformats.org/drawingml/2006/main">
            <a:off x="762000" y="5514975"/>
            <a:ext cx="5191125" cy="624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DTO.</a:t>
            </a:r>
            <a:r>
              <a:rPr sz="1800" b="0">
                <a:solidFill>
                  <a:srgbClr val="45516A"/>
                </a:solidFill>
                <a:latin typeface="Arial"/>
                <a:ea typeface="Arial"/>
                <a:cs typeface="Arial"/>
              </a:rPr>
              <a:t> Data Transfer Object: define los datos que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entran y salen de la API.</a:t>
            </a:r>
          </a:p>
        </p:txBody>
      </p:sp>
      <p:sp>
        <p:nvSpPr>
          <p:cNvPr id="23" name="Analysis 2">
            <a:extLst xmlns:a="http://schemas.openxmlformats.org/drawingml/2006/main">
              <a:ext uri="{FF2B5EF4-FFF2-40B4-BE49-F238E27FC236}">
                <a16:creationId xmlns:a16="http://schemas.microsoft.com/office/drawing/2014/main" id="{15B87F44-92E7-482F-ACE4-50577A0D27C3}"/>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Responsabilidades.</a:t>
            </a:r>
            <a:r>
              <a:rPr sz="1800" b="0">
                <a:solidFill>
                  <a:srgbClr val="45516A"/>
                </a:solidFill>
                <a:latin typeface="Arial"/>
                <a:ea typeface="Arial"/>
                <a:cs typeface="Arial"/>
              </a:rPr>
              <a:t> El controller atiende HTTP. El</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handler coordina el caso de uso. El dominio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protege sus reglas.</a:t>
            </a:r>
          </a:p>
        </p:txBody>
      </p:sp>
    </p:spTree>
    <p:extLst>
      <p:ext uri="{BB962C8B-B14F-4D97-AF65-F5344CB8AC3E}">
        <p14:creationId xmlns:p14="http://schemas.microsoft.com/office/powerpoint/2010/main" val="2044658325"/>
      </p:ext>
    </p:extLst>
  </p:cSld>
</p:sld>
</file>

<file path=ppt/slides/slide25.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7821D311-1D40-4694-BB8E-5833339EABDC}"/>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04</a:t>
            </a:r>
          </a:p>
        </p:txBody>
      </p:sp>
      <p:sp>
        <p:nvSpPr>
          <p:cNvPr id="2" name="Deep title">
            <a:extLst xmlns:a="http://schemas.openxmlformats.org/drawingml/2006/main">
              <a:ext uri="{FF2B5EF4-FFF2-40B4-BE49-F238E27FC236}">
                <a16:creationId xmlns:a16="http://schemas.microsoft.com/office/drawing/2014/main" id="{0D8A9A84-1F80-4FA6-AD33-FF8076FB8CF4}"/>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Validación de entrada</a:t>
            </a:r>
          </a:p>
        </p:txBody>
      </p:sp>
      <p:sp>
        <p:nvSpPr>
          <p:cNvPr id="3" name="Deep lead">
            <a:extLst xmlns:a="http://schemas.openxmlformats.org/drawingml/2006/main">
              <a:ext uri="{FF2B5EF4-FFF2-40B4-BE49-F238E27FC236}">
                <a16:creationId xmlns:a16="http://schemas.microsoft.com/office/drawing/2014/main" id="{C1A37836-318A-4BE7-BFA2-60A003717FA2}"/>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El contrato rechaza datos incompletos antes de ejecutar el caso de uso. Las reglas del</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negocio también se protegen en el dominio.</a:t>
            </a:r>
          </a:p>
        </p:txBody>
      </p:sp>
      <p:sp>
        <p:nvSpPr>
          <p:cNvPr id="4" name="Code provenance">
            <a:extLst xmlns:a="http://schemas.openxmlformats.org/drawingml/2006/main">
              <a:ext uri="{FF2B5EF4-FFF2-40B4-BE49-F238E27FC236}">
                <a16:creationId xmlns:a16="http://schemas.microsoft.com/office/drawing/2014/main" id="{605AD450-AFCD-4E75-875C-AD94CB157BF9}"/>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ProductsController.cs</a:t>
            </a:r>
          </a:p>
        </p:txBody>
      </p:sp>
      <p:sp>
        <p:nvSpPr>
          <p:cNvPr id="5" name="Code line 1">
            <a:extLst xmlns:a="http://schemas.openxmlformats.org/drawingml/2006/main">
              <a:ext uri="{FF2B5EF4-FFF2-40B4-BE49-F238E27FC236}">
                <a16:creationId xmlns:a16="http://schemas.microsoft.com/office/drawing/2014/main" id="{BB700032-82CC-4160-948D-E7F3F9FB1849}"/>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public sealed record ProductInput(</a:t>
            </a:r>
          </a:p>
        </p:txBody>
      </p:sp>
      <p:sp>
        <p:nvSpPr>
          <p:cNvPr id="6" name="Code line 2">
            <a:extLst xmlns:a="http://schemas.openxmlformats.org/drawingml/2006/main">
              <a:ext uri="{FF2B5EF4-FFF2-40B4-BE49-F238E27FC236}">
                <a16:creationId xmlns:a16="http://schemas.microsoft.com/office/drawing/2014/main" id="{C246E03A-3B7E-4DA0-8F46-74C068D8004C}"/>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[Required, StringLength(32, MinimumLength = 3)]</a:t>
            </a:r>
          </a:p>
        </p:txBody>
      </p:sp>
      <p:sp>
        <p:nvSpPr>
          <p:cNvPr id="7" name="Code line 3">
            <a:extLst xmlns:a="http://schemas.openxmlformats.org/drawingml/2006/main">
              <a:ext uri="{FF2B5EF4-FFF2-40B4-BE49-F238E27FC236}">
                <a16:creationId xmlns:a16="http://schemas.microsoft.com/office/drawing/2014/main" id="{B3034148-45D1-4255-87C6-D0D646C4872B}"/>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string Sku,</a:t>
            </a:r>
          </a:p>
        </p:txBody>
      </p:sp>
      <p:sp>
        <p:nvSpPr>
          <p:cNvPr id="8" name="Code line 4">
            <a:extLst xmlns:a="http://schemas.openxmlformats.org/drawingml/2006/main">
              <a:ext uri="{FF2B5EF4-FFF2-40B4-BE49-F238E27FC236}">
                <a16:creationId xmlns:a16="http://schemas.microsoft.com/office/drawing/2014/main" id="{A561A491-96EC-4D75-B8E6-59D7AF3B13C5}"/>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[Required, StringLength(120, MinimumLength = 3)]</a:t>
            </a:r>
          </a:p>
        </p:txBody>
      </p:sp>
      <p:sp>
        <p:nvSpPr>
          <p:cNvPr id="9" name="Code line 5">
            <a:extLst xmlns:a="http://schemas.openxmlformats.org/drawingml/2006/main">
              <a:ext uri="{FF2B5EF4-FFF2-40B4-BE49-F238E27FC236}">
                <a16:creationId xmlns:a16="http://schemas.microsoft.com/office/drawing/2014/main" id="{D6EF9363-79DA-4637-AD6D-EAA87569D6A4}"/>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string Name,</a:t>
            </a:r>
          </a:p>
        </p:txBody>
      </p:sp>
      <p:sp>
        <p:nvSpPr>
          <p:cNvPr id="10" name="Code line 6">
            <a:extLst xmlns:a="http://schemas.openxmlformats.org/drawingml/2006/main">
              <a:ext uri="{FF2B5EF4-FFF2-40B4-BE49-F238E27FC236}">
                <a16:creationId xmlns:a16="http://schemas.microsoft.com/office/drawing/2014/main" id="{686EC172-86EC-4419-98DB-B89B2547F41A}"/>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[Range(typeof(decimal), "0.01", "1000000")]</a:t>
            </a:r>
          </a:p>
        </p:txBody>
      </p:sp>
      <p:sp>
        <p:nvSpPr>
          <p:cNvPr id="11" name="Code line 7">
            <a:extLst xmlns:a="http://schemas.openxmlformats.org/drawingml/2006/main">
              <a:ext uri="{FF2B5EF4-FFF2-40B4-BE49-F238E27FC236}">
                <a16:creationId xmlns:a16="http://schemas.microsoft.com/office/drawing/2014/main" id="{E37E7064-878F-439A-A689-87DDD152816A}"/>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decimal Price);</a:t>
            </a:r>
          </a:p>
        </p:txBody>
      </p:sp>
      <p:sp>
        <p:nvSpPr>
          <p:cNvPr id="12" name="Analysis 1">
            <a:extLst xmlns:a="http://schemas.openxmlformats.org/drawingml/2006/main">
              <a:ext uri="{FF2B5EF4-FFF2-40B4-BE49-F238E27FC236}">
                <a16:creationId xmlns:a16="http://schemas.microsoft.com/office/drawing/2014/main" id="{B6CEC661-5AC6-46A5-9451-C0FE8807D7ED}"/>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Entrada inválida.</a:t>
            </a:r>
            <a:r>
              <a:rPr sz="1725" b="0">
                <a:solidFill>
                  <a:srgbClr val="D0D8E6"/>
                </a:solidFill>
                <a:latin typeface="Arial"/>
                <a:ea typeface="Arial"/>
                <a:cs typeface="Arial"/>
              </a:rPr>
              <a:t> Un nombre demasiado corto o un</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precio fuera de rango produce 400 con</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[ApiController].</a:t>
            </a:r>
          </a:p>
        </p:txBody>
      </p:sp>
      <p:sp>
        <p:nvSpPr>
          <p:cNvPr id="13" name="Analysis 2">
            <a:extLst xmlns:a="http://schemas.openxmlformats.org/drawingml/2006/main">
              <a:ext uri="{FF2B5EF4-FFF2-40B4-BE49-F238E27FC236}">
                <a16:creationId xmlns:a16="http://schemas.microsoft.com/office/drawing/2014/main" id="{7EC10008-95C5-4184-AAFB-48930E2FDB30}"/>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Regla de negocio.</a:t>
            </a:r>
            <a:r>
              <a:rPr sz="1725" b="0">
                <a:solidFill>
                  <a:srgbClr val="D0D8E6"/>
                </a:solidFill>
                <a:latin typeface="Arial"/>
                <a:ea typeface="Arial"/>
                <a:cs typeface="Arial"/>
              </a:rPr>
              <a:t> El SKU duplicado se comprueba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en Application y se protege con un índice único en la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base.</a:t>
            </a:r>
          </a:p>
        </p:txBody>
      </p:sp>
    </p:spTree>
    <p:extLst>
      <p:ext uri="{BB962C8B-B14F-4D97-AF65-F5344CB8AC3E}">
        <p14:creationId xmlns:p14="http://schemas.microsoft.com/office/powerpoint/2010/main" val="1905772900"/>
      </p:ext>
    </p:extLst>
  </p:cSld>
</p:sld>
</file>

<file path=ppt/slides/slide26.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5" name="Deep module">
            <a:extLst xmlns:a="http://schemas.openxmlformats.org/drawingml/2006/main">
              <a:ext uri="{FF2B5EF4-FFF2-40B4-BE49-F238E27FC236}">
                <a16:creationId xmlns:a16="http://schemas.microsoft.com/office/drawing/2014/main" id="{6A2C1B40-1971-4493-A362-5D4FA3FFBE33}"/>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04</a:t>
            </a:r>
          </a:p>
        </p:txBody>
      </p:sp>
      <p:sp>
        <p:nvSpPr>
          <p:cNvPr id="2" name="Deep title">
            <a:extLst xmlns:a="http://schemas.openxmlformats.org/drawingml/2006/main">
              <a:ext uri="{FF2B5EF4-FFF2-40B4-BE49-F238E27FC236}">
                <a16:creationId xmlns:a16="http://schemas.microsoft.com/office/drawing/2014/main" id="{DA49088B-B2EE-4FD9-A862-63E6D9300CE7}"/>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Errores que el cliente entiende</a:t>
            </a:r>
          </a:p>
        </p:txBody>
      </p:sp>
      <p:sp>
        <p:nvSpPr>
          <p:cNvPr id="3" name="Deep lead">
            <a:extLst xmlns:a="http://schemas.openxmlformats.org/drawingml/2006/main">
              <a:ext uri="{FF2B5EF4-FFF2-40B4-BE49-F238E27FC236}">
                <a16:creationId xmlns:a16="http://schemas.microsoft.com/office/drawing/2014/main" id="{A20AAF53-720D-479E-9E68-5DDF5CF91B76}"/>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ProblemDetails da estructura a los errores. El estado HTTP indica la categoría y el código</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permite reaccionar desde el cliente.</a:t>
            </a:r>
          </a:p>
        </p:txBody>
      </p:sp>
      <p:sp>
        <p:nvSpPr>
          <p:cNvPr id="4" name="Code provenance">
            <a:extLst xmlns:a="http://schemas.openxmlformats.org/drawingml/2006/main">
              <a:ext uri="{FF2B5EF4-FFF2-40B4-BE49-F238E27FC236}">
                <a16:creationId xmlns:a16="http://schemas.microsoft.com/office/drawing/2014/main" id="{D21D566A-DDBA-4D9F-BFB9-5090BF4129B2}"/>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ResultExtensions.cs</a:t>
            </a:r>
          </a:p>
        </p:txBody>
      </p:sp>
      <p:sp>
        <p:nvSpPr>
          <p:cNvPr id="5" name="Code line 1">
            <a:extLst xmlns:a="http://schemas.openxmlformats.org/drawingml/2006/main">
              <a:ext uri="{FF2B5EF4-FFF2-40B4-BE49-F238E27FC236}">
                <a16:creationId xmlns:a16="http://schemas.microsoft.com/office/drawing/2014/main" id="{59C4F62B-0BB0-46FD-87C3-BAC76C66516C}"/>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statusCode: error.Kind switch</a:t>
            </a:r>
          </a:p>
        </p:txBody>
      </p:sp>
      <p:sp>
        <p:nvSpPr>
          <p:cNvPr id="6" name="Code line 2">
            <a:extLst xmlns:a="http://schemas.openxmlformats.org/drawingml/2006/main">
              <a:ext uri="{FF2B5EF4-FFF2-40B4-BE49-F238E27FC236}">
                <a16:creationId xmlns:a16="http://schemas.microsoft.com/office/drawing/2014/main" id="{90E2769A-5D77-4FF8-A425-C91631D70209}"/>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7" name="Code line 3">
            <a:extLst xmlns:a="http://schemas.openxmlformats.org/drawingml/2006/main">
              <a:ext uri="{FF2B5EF4-FFF2-40B4-BE49-F238E27FC236}">
                <a16:creationId xmlns:a16="http://schemas.microsoft.com/office/drawing/2014/main" id="{FCF2C886-6120-44DA-BF28-4B80A42D420B}"/>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ErrorKind.Validation =&gt; 400,</a:t>
            </a:r>
          </a:p>
        </p:txBody>
      </p:sp>
      <p:sp>
        <p:nvSpPr>
          <p:cNvPr id="8" name="Code line 4">
            <a:extLst xmlns:a="http://schemas.openxmlformats.org/drawingml/2006/main">
              <a:ext uri="{FF2B5EF4-FFF2-40B4-BE49-F238E27FC236}">
                <a16:creationId xmlns:a16="http://schemas.microsoft.com/office/drawing/2014/main" id="{C3CFD365-B312-4999-B45C-3025E501808E}"/>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ErrorKind.NotFound =&gt; 404,</a:t>
            </a:r>
          </a:p>
        </p:txBody>
      </p:sp>
      <p:sp>
        <p:nvSpPr>
          <p:cNvPr id="9" name="Code line 5">
            <a:extLst xmlns:a="http://schemas.openxmlformats.org/drawingml/2006/main">
              <a:ext uri="{FF2B5EF4-FFF2-40B4-BE49-F238E27FC236}">
                <a16:creationId xmlns:a16="http://schemas.microsoft.com/office/drawing/2014/main" id="{FD2ACE0F-7D2E-4715-9CC6-4E6EA5F31B45}"/>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ErrorKind.Conflict =&gt; 409,</a:t>
            </a:r>
          </a:p>
        </p:txBody>
      </p:sp>
      <p:sp>
        <p:nvSpPr>
          <p:cNvPr id="10" name="Code line 6">
            <a:extLst xmlns:a="http://schemas.openxmlformats.org/drawingml/2006/main">
              <a:ext uri="{FF2B5EF4-FFF2-40B4-BE49-F238E27FC236}">
                <a16:creationId xmlns:a16="http://schemas.microsoft.com/office/drawing/2014/main" id="{F95F709D-7EDC-4709-8CFF-4536CE52461C}"/>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ErrorKind.Forbidden =&gt; 403,</a:t>
            </a:r>
          </a:p>
        </p:txBody>
      </p:sp>
      <p:sp>
        <p:nvSpPr>
          <p:cNvPr id="11" name="Code line 7">
            <a:extLst xmlns:a="http://schemas.openxmlformats.org/drawingml/2006/main">
              <a:ext uri="{FF2B5EF4-FFF2-40B4-BE49-F238E27FC236}">
                <a16:creationId xmlns:a16="http://schemas.microsoft.com/office/drawing/2014/main" id="{BCF7B084-1174-4F90-B729-4B5A93F6842A}"/>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_ =&gt; 500</a:t>
            </a:r>
          </a:p>
        </p:txBody>
      </p:sp>
      <p:sp>
        <p:nvSpPr>
          <p:cNvPr id="12" name="Code line 8">
            <a:extLst xmlns:a="http://schemas.openxmlformats.org/drawingml/2006/main">
              <a:ext uri="{FF2B5EF4-FFF2-40B4-BE49-F238E27FC236}">
                <a16:creationId xmlns:a16="http://schemas.microsoft.com/office/drawing/2014/main" id="{66588B8C-02B9-411D-9A99-CDAB406F5944}"/>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13" name="Analysis 1">
            <a:extLst xmlns:a="http://schemas.openxmlformats.org/drawingml/2006/main">
              <a:ext uri="{FF2B5EF4-FFF2-40B4-BE49-F238E27FC236}">
                <a16:creationId xmlns:a16="http://schemas.microsoft.com/office/drawing/2014/main" id="{54AF3F7B-D5D7-4460-87A3-0C552EF3E1FF}"/>
              </a:ext>
            </a:extLst>
          </p:cNvPr>
          <p:cNvSpPr>
            <a:spLocks xmlns:a="http://schemas.openxmlformats.org/drawingml/2006/main" noGrp="1"/>
          </p:cNvSpPr>
          <p:nvPr/>
        </p:nvSpPr>
        <p:spPr>
          <a:xfrm xmlns:a="http://schemas.openxmlformats.org/drawingml/2006/main">
            <a:off x="762000"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400 y 404.</a:t>
            </a:r>
            <a:r>
              <a:rPr sz="1725" b="0">
                <a:solidFill>
                  <a:srgbClr val="D0D8E6"/>
                </a:solidFill>
                <a:latin typeface="Arial"/>
                <a:ea typeface="Arial"/>
                <a:cs typeface="Arial"/>
              </a:rPr>
              <a:t> Datos inválidos y recurso ausente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necesitan respuestas distintas.</a:t>
            </a:r>
          </a:p>
        </p:txBody>
      </p:sp>
      <p:sp>
        <p:nvSpPr>
          <p:cNvPr id="14" name="Analysis 2">
            <a:extLst xmlns:a="http://schemas.openxmlformats.org/drawingml/2006/main">
              <a:ext uri="{FF2B5EF4-FFF2-40B4-BE49-F238E27FC236}">
                <a16:creationId xmlns:a16="http://schemas.microsoft.com/office/drawing/2014/main" id="{D16A5AAE-B012-4CB9-9917-8ACD8DA8E15D}"/>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409 y 500.</a:t>
            </a:r>
            <a:r>
              <a:rPr sz="1725" b="0">
                <a:solidFill>
                  <a:srgbClr val="D0D8E6"/>
                </a:solidFill>
                <a:latin typeface="Arial"/>
                <a:ea typeface="Arial"/>
                <a:cs typeface="Arial"/>
              </a:rPr>
              <a:t> Un conflicto requiere una decisión del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cliente. Un fallo inesperado devuelve un mensaje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sanitizado.</a:t>
            </a:r>
          </a:p>
        </p:txBody>
      </p:sp>
    </p:spTree>
    <p:extLst>
      <p:ext uri="{BB962C8B-B14F-4D97-AF65-F5344CB8AC3E}">
        <p14:creationId xmlns:p14="http://schemas.microsoft.com/office/powerpoint/2010/main" val="676546111"/>
      </p:ext>
    </p:extLst>
  </p:cSld>
</p:sld>
</file>

<file path=ppt/slides/slide27.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FF432DD4-05EC-4F17-B2AC-CC4799BC3D69}"/>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04</a:t>
            </a:r>
          </a:p>
        </p:txBody>
      </p:sp>
      <p:sp>
        <p:nvSpPr>
          <p:cNvPr id="2" name="Deep title">
            <a:extLst xmlns:a="http://schemas.openxmlformats.org/drawingml/2006/main">
              <a:ext uri="{FF2B5EF4-FFF2-40B4-BE49-F238E27FC236}">
                <a16:creationId xmlns:a16="http://schemas.microsoft.com/office/drawing/2014/main" id="{A7B211C2-7A29-488F-B500-24D6C0CF22F6}"/>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El contrato visible en OpenAPI</a:t>
            </a:r>
          </a:p>
        </p:txBody>
      </p:sp>
      <p:sp>
        <p:nvSpPr>
          <p:cNvPr id="3" name="Deep lead">
            <a:extLst xmlns:a="http://schemas.openxmlformats.org/drawingml/2006/main">
              <a:ext uri="{FF2B5EF4-FFF2-40B4-BE49-F238E27FC236}">
                <a16:creationId xmlns:a16="http://schemas.microsoft.com/office/drawing/2014/main" id="{96A22A38-D6C1-4C44-907A-0D97CDBEDB37}"/>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OpenAPI describe rutas, entradas y respuestas. Swagger UI permite explorar ese contrato y</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enviar solicitudes durante el laboratorio.</a:t>
            </a:r>
          </a:p>
        </p:txBody>
      </p:sp>
      <p:sp>
        <p:nvSpPr>
          <p:cNvPr id="4" name="Explanation heading 1">
            <a:extLst xmlns:a="http://schemas.openxmlformats.org/drawingml/2006/main">
              <a:ext uri="{FF2B5EF4-FFF2-40B4-BE49-F238E27FC236}">
                <a16:creationId xmlns:a16="http://schemas.microsoft.com/office/drawing/2014/main" id="{4598EA50-E8C9-4A60-A00F-E219B18C612B}"/>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Crear un producto</a:t>
            </a:r>
          </a:p>
        </p:txBody>
      </p:sp>
      <p:sp>
        <p:nvSpPr>
          <p:cNvPr id="5" name="Explanation body 1">
            <a:extLst xmlns:a="http://schemas.openxmlformats.org/drawingml/2006/main">
              <a:ext uri="{FF2B5EF4-FFF2-40B4-BE49-F238E27FC236}">
                <a16:creationId xmlns:a16="http://schemas.microsoft.com/office/drawing/2014/main" id="{F7423A95-B691-421F-BDA8-52F6A02EBF6F}"/>
              </a:ext>
            </a:extLst>
          </p:cNvPr>
          <p:cNvSpPr>
            <a:spLocks xmlns:a="http://schemas.openxmlformats.org/drawingml/2006/main" noGrp="1"/>
          </p:cNvSpPr>
          <p:nvPr/>
        </p:nvSpPr>
        <p:spPr>
          <a:xfrm xmlns:a="http://schemas.openxmlformats.org/drawingml/2006/main">
            <a:off x="781050" y="3067050"/>
            <a:ext cx="106299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POST /api/v1/products devuelve 201 y Location para consultar el recurso creado.</a:t>
            </a:r>
          </a:p>
        </p:txBody>
      </p:sp>
      <p:sp>
        <p:nvSpPr>
          <p:cNvPr id="6" name="Explanation heading 2">
            <a:extLst xmlns:a="http://schemas.openxmlformats.org/drawingml/2006/main">
              <a:ext uri="{FF2B5EF4-FFF2-40B4-BE49-F238E27FC236}">
                <a16:creationId xmlns:a16="http://schemas.microsoft.com/office/drawing/2014/main" id="{AE7C103B-B524-41DF-A430-67EAE1A8B3E1}"/>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Borrar lógicamente</a:t>
            </a:r>
          </a:p>
        </p:txBody>
      </p:sp>
      <p:sp>
        <p:nvSpPr>
          <p:cNvPr id="7" name="Explanation body 2">
            <a:extLst xmlns:a="http://schemas.openxmlformats.org/drawingml/2006/main">
              <a:ext uri="{FF2B5EF4-FFF2-40B4-BE49-F238E27FC236}">
                <a16:creationId xmlns:a16="http://schemas.microsoft.com/office/drawing/2014/main" id="{2948A6A1-84B9-4862-9F49-4F550FABA4A2}"/>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DELETE devuelve 204 sin cuerpo. Requiere la versión actual y conserva el registro</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histórico.</a:t>
            </a:r>
          </a:p>
        </p:txBody>
      </p:sp>
      <p:sp>
        <p:nvSpPr>
          <p:cNvPr id="8" name="Explanation heading 3">
            <a:extLst xmlns:a="http://schemas.openxmlformats.org/drawingml/2006/main">
              <a:ext uri="{FF2B5EF4-FFF2-40B4-BE49-F238E27FC236}">
                <a16:creationId xmlns:a16="http://schemas.microsoft.com/office/drawing/2014/main" id="{E44D1B46-39F0-4137-9348-A528149C8C34}"/>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Explorar</a:t>
            </a:r>
          </a:p>
        </p:txBody>
      </p:sp>
      <p:sp>
        <p:nvSpPr>
          <p:cNvPr id="9" name="Explanation body 3">
            <a:extLst xmlns:a="http://schemas.openxmlformats.org/drawingml/2006/main">
              <a:ext uri="{FF2B5EF4-FFF2-40B4-BE49-F238E27FC236}">
                <a16:creationId xmlns:a16="http://schemas.microsoft.com/office/drawing/2014/main" id="{8E7FD360-0CE1-46CA-9E93-1D6417954BB0}"/>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En Development: /openapi/v1.json contiene el contrato y /swagger muestra la interfaz</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interactiva.</a:t>
            </a:r>
          </a:p>
        </p:txBody>
      </p:sp>
    </p:spTree>
    <p:extLst>
      <p:ext uri="{BB962C8B-B14F-4D97-AF65-F5344CB8AC3E}">
        <p14:creationId xmlns:p14="http://schemas.microsoft.com/office/powerpoint/2010/main" val="1603059500"/>
      </p:ext>
    </p:extLst>
  </p:cSld>
</p:sld>
</file>

<file path=ppt/slides/slide28.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099DEBAA-3FC9-4BC6-9F7D-003BBDC1478C}"/>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05</a:t>
            </a:r>
          </a:p>
        </p:txBody>
      </p:sp>
      <p:sp>
        <p:nvSpPr>
          <p:cNvPr id="3" name="Class title">
            <a:extLst xmlns:a="http://schemas.openxmlformats.org/drawingml/2006/main">
              <a:ext uri="{FF2B5EF4-FFF2-40B4-BE49-F238E27FC236}">
                <a16:creationId xmlns:a16="http://schemas.microsoft.com/office/drawing/2014/main" id="{96576AAE-DBCC-460D-86BE-A0200F412607}"/>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Datos con EF Core</a:t>
            </a:r>
          </a:p>
        </p:txBody>
      </p:sp>
      <p:sp>
        <p:nvSpPr>
          <p:cNvPr id="5" name="Learning outcome">
            <a:extLst xmlns:a="http://schemas.openxmlformats.org/drawingml/2006/main">
              <a:ext uri="{FF2B5EF4-FFF2-40B4-BE49-F238E27FC236}">
                <a16:creationId xmlns:a16="http://schemas.microsoft.com/office/drawing/2014/main" id="{1B882379-1090-412A-BD58-E8ACD9D3CB42}"/>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Cómo guardar datos y evolucionar</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la base mediante migraciones.</a:t>
            </a:r>
          </a:p>
        </p:txBody>
      </p:sp>
      <p:sp>
        <p:nvSpPr>
          <p:cNvPr id="7" name="Practice outcome">
            <a:extLst xmlns:a="http://schemas.openxmlformats.org/drawingml/2006/main">
              <a:ext uri="{FF2B5EF4-FFF2-40B4-BE49-F238E27FC236}">
                <a16:creationId xmlns:a16="http://schemas.microsoft.com/office/drawing/2014/main" id="{E21DA0C0-4399-4741-8659-670EED9F032C}"/>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Crear relaciones, optimizar consultas</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y registrar cambios.</a:t>
            </a:r>
          </a:p>
        </p:txBody>
      </p:sp>
      <p:sp>
        <p:nvSpPr>
          <p:cNvPr id="9" name="Module context">
            <a:extLst xmlns:a="http://schemas.openxmlformats.org/drawingml/2006/main">
              <a:ext uri="{FF2B5EF4-FFF2-40B4-BE49-F238E27FC236}">
                <a16:creationId xmlns:a16="http://schemas.microsoft.com/office/drawing/2014/main" id="{C7C1FA40-2050-4A2B-BAC7-A2513D23DE77}"/>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EF Core conecta el código con la base de datos.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Las migraciones permiten cambiar su estructura</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de forma controlada.</a:t>
            </a:r>
          </a:p>
        </p:txBody>
      </p:sp>
    </p:spTree>
    <p:extLst>
      <p:ext uri="{BB962C8B-B14F-4D97-AF65-F5344CB8AC3E}">
        <p14:creationId xmlns:p14="http://schemas.microsoft.com/office/powerpoint/2010/main" val="249054924"/>
      </p:ext>
    </p:extLst>
  </p:cSld>
</p:sld>
</file>

<file path=ppt/slides/slide2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74FCF27F-4448-415D-A815-4F2041E99B27}"/>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05</a:t>
            </a:r>
          </a:p>
        </p:txBody>
      </p:sp>
      <p:sp>
        <p:nvSpPr>
          <p:cNvPr id="2" name="Concept title">
            <a:extLst xmlns:a="http://schemas.openxmlformats.org/drawingml/2006/main">
              <a:ext uri="{FF2B5EF4-FFF2-40B4-BE49-F238E27FC236}">
                <a16:creationId xmlns:a16="http://schemas.microsoft.com/office/drawing/2014/main" id="{107D82A4-4124-43EC-BF3C-6ACC2428B7E0}"/>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EF Core y el ORM</a:t>
            </a:r>
          </a:p>
        </p:txBody>
      </p:sp>
      <p:sp>
        <p:nvSpPr>
          <p:cNvPr id="3" name="Concept definition">
            <a:extLst xmlns:a="http://schemas.openxmlformats.org/drawingml/2006/main">
              <a:ext uri="{FF2B5EF4-FFF2-40B4-BE49-F238E27FC236}">
                <a16:creationId xmlns:a16="http://schemas.microsoft.com/office/drawing/2014/main" id="{DE5BF63C-B0ED-42D1-92AE-951CFCCDBD0D}"/>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EF Core significa Entity Framework Core.</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Es un ORM: Object-Relational Mapping,</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o mapeo objeto-relacional.</a:t>
            </a:r>
          </a:p>
        </p:txBody>
      </p:sp>
      <p:sp>
        <p:nvSpPr>
          <p:cNvPr id="4" name="Concept explanation">
            <a:extLst xmlns:a="http://schemas.openxmlformats.org/drawingml/2006/main">
              <a:ext uri="{FF2B5EF4-FFF2-40B4-BE49-F238E27FC236}">
                <a16:creationId xmlns:a16="http://schemas.microsoft.com/office/drawing/2014/main" id="{002447EC-DAD6-4549-962E-1E5DD499D490}"/>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Relaciona objetos de C# con tablas y genera SQL para leer</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y guardar datos. DbContext coordina el acceso y los cambios.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Una migración registra un cambio en la estructura de la base.</a:t>
            </a:r>
          </a:p>
        </p:txBody>
      </p:sp>
      <p:sp>
        <p:nvSpPr>
          <p:cNvPr id="5" name="Concept example label">
            <a:extLst xmlns:a="http://schemas.openxmlformats.org/drawingml/2006/main">
              <a:ext uri="{FF2B5EF4-FFF2-40B4-BE49-F238E27FC236}">
                <a16:creationId xmlns:a16="http://schemas.microsoft.com/office/drawing/2014/main" id="{A2685A51-772A-425D-8E08-4F2DD2DAE621}"/>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7660ABD7-3CBE-40E0-81A3-10C4F70F06FD}"/>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Un objeto Product se guarda como una fila de Products.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Al llamar a SaveChangesAsync, EF Core genera el INSERT</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que guarda el nuevo producto.</a:t>
            </a:r>
          </a:p>
        </p:txBody>
      </p:sp>
    </p:spTree>
    <p:extLst>
      <p:ext uri="{BB962C8B-B14F-4D97-AF65-F5344CB8AC3E}">
        <p14:creationId xmlns:p14="http://schemas.microsoft.com/office/powerpoint/2010/main" val="538667788"/>
      </p:ext>
    </p:extLst>
  </p:cSld>
</p:sld>
</file>

<file path=ppt/slides/slide3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74B1C98C-1AD8-4957-97D7-666D6065F680}"/>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05</a:t>
            </a:r>
          </a:p>
        </p:txBody>
      </p:sp>
      <p:sp>
        <p:nvSpPr>
          <p:cNvPr id="2" name="Deep title">
            <a:extLst xmlns:a="http://schemas.openxmlformats.org/drawingml/2006/main">
              <a:ext uri="{FF2B5EF4-FFF2-40B4-BE49-F238E27FC236}">
                <a16:creationId xmlns:a16="http://schemas.microsoft.com/office/drawing/2014/main" id="{66DDF25D-BA68-4A3C-8701-49628F120D53}"/>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EF Core relaciona objetos y tablas</a:t>
            </a:r>
          </a:p>
        </p:txBody>
      </p:sp>
      <p:sp>
        <p:nvSpPr>
          <p:cNvPr id="3" name="Deep lead">
            <a:extLst xmlns:a="http://schemas.openxmlformats.org/drawingml/2006/main">
              <a:ext uri="{FF2B5EF4-FFF2-40B4-BE49-F238E27FC236}">
                <a16:creationId xmlns:a16="http://schemas.microsoft.com/office/drawing/2014/main" id="{514BC69B-3335-4A0D-B587-213CEC137949}"/>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Entity Framework Core es un ORM: Object-Relational Mapper. Traduce el modelo de objetos</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y las operaciones a una base de datos relacional.</a:t>
            </a:r>
          </a:p>
        </p:txBody>
      </p:sp>
      <p:sp>
        <p:nvSpPr>
          <p:cNvPr id="4" name="Code provenance">
            <a:extLst xmlns:a="http://schemas.openxmlformats.org/drawingml/2006/main">
              <a:ext uri="{FF2B5EF4-FFF2-40B4-BE49-F238E27FC236}">
                <a16:creationId xmlns:a16="http://schemas.microsoft.com/office/drawing/2014/main" id="{8644FB11-7D56-4B86-8267-CA5152BDC325}"/>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EntityConfigurations.cs</a:t>
            </a:r>
          </a:p>
        </p:txBody>
      </p:sp>
      <p:sp>
        <p:nvSpPr>
          <p:cNvPr id="5" name="Code line 1">
            <a:extLst xmlns:a="http://schemas.openxmlformats.org/drawingml/2006/main">
              <a:ext uri="{FF2B5EF4-FFF2-40B4-BE49-F238E27FC236}">
                <a16:creationId xmlns:a16="http://schemas.microsoft.com/office/drawing/2014/main" id="{AA6C7E69-544B-432B-8F5D-D95112276D05}"/>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builder.ToTable("Products");</a:t>
            </a:r>
          </a:p>
        </p:txBody>
      </p:sp>
      <p:sp>
        <p:nvSpPr>
          <p:cNvPr id="6" name="Code line 2">
            <a:extLst xmlns:a="http://schemas.openxmlformats.org/drawingml/2006/main">
              <a:ext uri="{FF2B5EF4-FFF2-40B4-BE49-F238E27FC236}">
                <a16:creationId xmlns:a16="http://schemas.microsoft.com/office/drawing/2014/main" id="{1A87204E-69FB-43EF-BB59-4BE5DAA763BF}"/>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builder.HasKey(product =&gt; product.Id);</a:t>
            </a:r>
          </a:p>
        </p:txBody>
      </p:sp>
      <p:sp>
        <p:nvSpPr>
          <p:cNvPr id="7" name="Code line 3">
            <a:extLst xmlns:a="http://schemas.openxmlformats.org/drawingml/2006/main">
              <a:ext uri="{FF2B5EF4-FFF2-40B4-BE49-F238E27FC236}">
                <a16:creationId xmlns:a16="http://schemas.microsoft.com/office/drawing/2014/main" id="{C58938EB-052B-4134-9A42-A6BD1661A835}"/>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builder.Property(product =&gt; product.Id).ValueGeneratedNever();</a:t>
            </a:r>
          </a:p>
        </p:txBody>
      </p:sp>
      <p:sp>
        <p:nvSpPr>
          <p:cNvPr id="8" name="Code line 4">
            <a:extLst xmlns:a="http://schemas.openxmlformats.org/drawingml/2006/main">
              <a:ext uri="{FF2B5EF4-FFF2-40B4-BE49-F238E27FC236}">
                <a16:creationId xmlns:a16="http://schemas.microsoft.com/office/drawing/2014/main" id="{46E88194-4033-4829-A46C-D8E5AC0431B4}"/>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builder.Property(product =&gt; product.Price).HasPrecision(18, 2);</a:t>
            </a:r>
          </a:p>
        </p:txBody>
      </p:sp>
      <p:sp>
        <p:nvSpPr>
          <p:cNvPr id="9" name="Code line 5">
            <a:extLst xmlns:a="http://schemas.openxmlformats.org/drawingml/2006/main">
              <a:ext uri="{FF2B5EF4-FFF2-40B4-BE49-F238E27FC236}">
                <a16:creationId xmlns:a16="http://schemas.microsoft.com/office/drawing/2014/main" id="{AAFCC711-D420-4F40-8216-BCFC9B8A9C5F}"/>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builder.Property(product =&gt; product.Version).IsConcurrencyToken();</a:t>
            </a:r>
          </a:p>
        </p:txBody>
      </p:sp>
      <p:sp>
        <p:nvSpPr>
          <p:cNvPr id="10" name="Code line 6">
            <a:extLst xmlns:a="http://schemas.openxmlformats.org/drawingml/2006/main">
              <a:ext uri="{FF2B5EF4-FFF2-40B4-BE49-F238E27FC236}">
                <a16:creationId xmlns:a16="http://schemas.microsoft.com/office/drawing/2014/main" id="{A235DBAF-95ED-4CC7-A733-89DCF97626BA}"/>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builder.HasIndex(product =&gt; product.Sku).IsUnique();</a:t>
            </a:r>
          </a:p>
        </p:txBody>
      </p:sp>
      <p:sp>
        <p:nvSpPr>
          <p:cNvPr id="11" name="Code line 7">
            <a:extLst xmlns:a="http://schemas.openxmlformats.org/drawingml/2006/main">
              <a:ext uri="{FF2B5EF4-FFF2-40B4-BE49-F238E27FC236}">
                <a16:creationId xmlns:a16="http://schemas.microsoft.com/office/drawing/2014/main" id="{873FDF40-EB64-411B-B72A-455B2DAE98F7}"/>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builder.HasQueryFilter(product =&gt; !product.IsDeleted);</a:t>
            </a:r>
          </a:p>
        </p:txBody>
      </p:sp>
      <p:sp>
        <p:nvSpPr>
          <p:cNvPr id="12" name="Analysis 1">
            <a:extLst xmlns:a="http://schemas.openxmlformats.org/drawingml/2006/main">
              <a:ext uri="{FF2B5EF4-FFF2-40B4-BE49-F238E27FC236}">
                <a16:creationId xmlns:a16="http://schemas.microsoft.com/office/drawing/2014/main" id="{C155544F-32D1-4340-BBC3-1A3039CDE05B}"/>
              </a:ext>
            </a:extLst>
          </p:cNvPr>
          <p:cNvSpPr>
            <a:spLocks xmlns:a="http://schemas.openxmlformats.org/drawingml/2006/main" noGrp="1"/>
          </p:cNvSpPr>
          <p:nvPr/>
        </p:nvSpPr>
        <p:spPr>
          <a:xfrm xmlns:a="http://schemas.openxmlformats.org/drawingml/2006/main">
            <a:off x="762000"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Mapeo.</a:t>
            </a:r>
            <a:r>
              <a:rPr sz="1725" b="0">
                <a:solidFill>
                  <a:srgbClr val="D0D8E6"/>
                </a:solidFill>
                <a:latin typeface="Arial"/>
                <a:ea typeface="Arial"/>
                <a:cs typeface="Arial"/>
              </a:rPr>
              <a:t> Product se guarda en Products. Id identifica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filas y Price declara precisión decimal.</a:t>
            </a:r>
          </a:p>
        </p:txBody>
      </p:sp>
      <p:sp>
        <p:nvSpPr>
          <p:cNvPr id="13" name="Analysis 2">
            <a:extLst xmlns:a="http://schemas.openxmlformats.org/drawingml/2006/main">
              <a:ext uri="{FF2B5EF4-FFF2-40B4-BE49-F238E27FC236}">
                <a16:creationId xmlns:a16="http://schemas.microsoft.com/office/drawing/2014/main" id="{0330B9E0-EC8E-4DAA-AA16-1822061AE9D7}"/>
              </a:ext>
            </a:extLst>
          </p:cNvPr>
          <p:cNvSpPr>
            <a:spLocks xmlns:a="http://schemas.openxmlformats.org/drawingml/2006/main" noGrp="1"/>
          </p:cNvSpPr>
          <p:nvPr/>
        </p:nvSpPr>
        <p:spPr>
          <a:xfrm xmlns:a="http://schemas.openxmlformats.org/drawingml/2006/main">
            <a:off x="6238875"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Restricciones.</a:t>
            </a:r>
            <a:r>
              <a:rPr sz="1725" b="0">
                <a:solidFill>
                  <a:srgbClr val="D0D8E6"/>
                </a:solidFill>
                <a:latin typeface="Arial"/>
                <a:ea typeface="Arial"/>
                <a:cs typeface="Arial"/>
              </a:rPr>
              <a:t> El SKU es único. El filtro oculta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productos borrados en consultas normales.</a:t>
            </a:r>
          </a:p>
        </p:txBody>
      </p:sp>
    </p:spTree>
    <p:extLst>
      <p:ext uri="{BB962C8B-B14F-4D97-AF65-F5344CB8AC3E}">
        <p14:creationId xmlns:p14="http://schemas.microsoft.com/office/powerpoint/2010/main" val="1316656964"/>
      </p:ext>
    </p:extLst>
  </p:cSld>
</p:sld>
</file>

<file path=ppt/slides/slide31.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8928E58-07A0-4A30-996A-CDC2D9D553A3}"/>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1D50102F-05FE-462D-AAFB-730DBEB8F898}"/>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A4D2BDB1-3F82-4B77-BFFC-3A8D559D4F81}"/>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4699DD32-0259-4CA3-9E0D-88692CCCADA3}"/>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05</a:t>
            </a:r>
          </a:p>
        </p:txBody>
      </p:sp>
      <p:sp>
        <p:nvSpPr>
          <p:cNvPr id="2" name="Deep title">
            <a:extLst xmlns:a="http://schemas.openxmlformats.org/drawingml/2006/main">
              <a:ext uri="{FF2B5EF4-FFF2-40B4-BE49-F238E27FC236}">
                <a16:creationId xmlns:a16="http://schemas.microsoft.com/office/drawing/2014/main" id="{73DBAD1C-FC27-4D2B-967F-ED9407548D7D}"/>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DbContext sigue los cambios</a:t>
            </a:r>
          </a:p>
        </p:txBody>
      </p:sp>
      <p:sp>
        <p:nvSpPr>
          <p:cNvPr id="3" name="Deep lead">
            <a:extLst xmlns:a="http://schemas.openxmlformats.org/drawingml/2006/main">
              <a:ext uri="{FF2B5EF4-FFF2-40B4-BE49-F238E27FC236}">
                <a16:creationId xmlns:a16="http://schemas.microsoft.com/office/drawing/2014/main" id="{9F93EBD1-BEF3-4A5F-A092-F8BF90AAFD6B}"/>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DbContext reúne entidades y cambios de una unidad de trabajo. SaveChangesAsync</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confirma los cambios pendientes en la base.</a:t>
            </a:r>
          </a:p>
        </p:txBody>
      </p:sp>
      <p:sp>
        <p:nvSpPr>
          <p:cNvPr id="4" name="Diagram node load">
            <a:extLst xmlns:a="http://schemas.openxmlformats.org/drawingml/2006/main">
              <a:ext uri="{FF2B5EF4-FFF2-40B4-BE49-F238E27FC236}">
                <a16:creationId xmlns:a16="http://schemas.microsoft.com/office/drawing/2014/main" id="{7953A763-7F09-4279-BF83-FA53E339D34F}"/>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load">
            <a:extLst xmlns:a="http://schemas.openxmlformats.org/drawingml/2006/main">
              <a:ext uri="{FF2B5EF4-FFF2-40B4-BE49-F238E27FC236}">
                <a16:creationId xmlns:a16="http://schemas.microsoft.com/office/drawing/2014/main" id="{9A920E8A-2BDD-4EB7-975F-692A292AA87C}"/>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Cargar</a:t>
            </a:r>
          </a:p>
        </p:txBody>
      </p:sp>
      <p:sp>
        <p:nvSpPr>
          <p:cNvPr id="6" name="Node detail load">
            <a:extLst xmlns:a="http://schemas.openxmlformats.org/drawingml/2006/main">
              <a:ext uri="{FF2B5EF4-FFF2-40B4-BE49-F238E27FC236}">
                <a16:creationId xmlns:a16="http://schemas.microsoft.com/office/drawing/2014/main" id="{C96A982E-4AAF-4D8A-9402-1909C3F8A774}"/>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Entidad con</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seguimiento</a:t>
            </a:r>
          </a:p>
        </p:txBody>
      </p:sp>
      <p:sp>
        <p:nvSpPr>
          <p:cNvPr id="7" name="Diagram node change">
            <a:extLst xmlns:a="http://schemas.openxmlformats.org/drawingml/2006/main">
              <a:ext uri="{FF2B5EF4-FFF2-40B4-BE49-F238E27FC236}">
                <a16:creationId xmlns:a16="http://schemas.microsoft.com/office/drawing/2014/main" id="{F5FEDADF-3510-466B-A63E-737E6AD2A82D}"/>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change">
            <a:extLst xmlns:a="http://schemas.openxmlformats.org/drawingml/2006/main">
              <a:ext uri="{FF2B5EF4-FFF2-40B4-BE49-F238E27FC236}">
                <a16:creationId xmlns:a16="http://schemas.microsoft.com/office/drawing/2014/main" id="{6BD01D68-53AA-4218-A424-AAE454AEF96D}"/>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Cambiar</a:t>
            </a:r>
          </a:p>
        </p:txBody>
      </p:sp>
      <p:sp>
        <p:nvSpPr>
          <p:cNvPr id="9" name="Node detail change">
            <a:extLst xmlns:a="http://schemas.openxmlformats.org/drawingml/2006/main">
              <a:ext uri="{FF2B5EF4-FFF2-40B4-BE49-F238E27FC236}">
                <a16:creationId xmlns:a16="http://schemas.microsoft.com/office/drawing/2014/main" id="{2988C50E-81DD-4418-A871-D9D703FBAED3}"/>
              </a:ext>
            </a:extLst>
          </p:cNvPr>
          <p:cNvSpPr>
            <a:spLocks xmlns:a="http://schemas.openxmlformats.org/drawingml/2006/main" noGrp="1"/>
          </p:cNvSpPr>
          <p:nvPr/>
        </p:nvSpPr>
        <p:spPr>
          <a:xfrm xmlns:a="http://schemas.openxmlformats.org/drawingml/2006/main">
            <a:off x="368617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Product.Update</a:t>
            </a:r>
          </a:p>
        </p:txBody>
      </p:sp>
      <p:sp>
        <p:nvSpPr>
          <p:cNvPr id="10" name="Diagram node track">
            <a:extLst xmlns:a="http://schemas.openxmlformats.org/drawingml/2006/main">
              <a:ext uri="{FF2B5EF4-FFF2-40B4-BE49-F238E27FC236}">
                <a16:creationId xmlns:a16="http://schemas.microsoft.com/office/drawing/2014/main" id="{A51C8035-16E4-4A83-95E8-EC7587996BBA}"/>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track">
            <a:extLst xmlns:a="http://schemas.openxmlformats.org/drawingml/2006/main">
              <a:ext uri="{FF2B5EF4-FFF2-40B4-BE49-F238E27FC236}">
                <a16:creationId xmlns:a16="http://schemas.microsoft.com/office/drawing/2014/main" id="{C95F6E5A-92A9-4073-B545-F3AFD60320DF}"/>
              </a:ext>
            </a:extLst>
          </p:cNvPr>
          <p:cNvSpPr>
            <a:spLocks xmlns:a="http://schemas.openxmlformats.org/drawingml/2006/main" noGrp="1"/>
          </p:cNvSpPr>
          <p:nvPr/>
        </p:nvSpPr>
        <p:spPr>
          <a:xfrm xmlns:a="http://schemas.openxmlformats.org/drawingml/2006/main">
            <a:off x="649605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Detectar</a:t>
            </a:r>
          </a:p>
        </p:txBody>
      </p:sp>
      <p:sp>
        <p:nvSpPr>
          <p:cNvPr id="12" name="Node detail track">
            <a:extLst xmlns:a="http://schemas.openxmlformats.org/drawingml/2006/main">
              <a:ext uri="{FF2B5EF4-FFF2-40B4-BE49-F238E27FC236}">
                <a16:creationId xmlns:a16="http://schemas.microsoft.com/office/drawing/2014/main" id="{B9F4ED34-EDA7-4796-834E-30869316F205}"/>
              </a:ext>
            </a:extLst>
          </p:cNvPr>
          <p:cNvSpPr>
            <a:spLocks xmlns:a="http://schemas.openxmlformats.org/drawingml/2006/main" noGrp="1"/>
          </p:cNvSpPr>
          <p:nvPr/>
        </p:nvSpPr>
        <p:spPr>
          <a:xfrm xmlns:a="http://schemas.openxmlformats.org/drawingml/2006/main">
            <a:off x="6496050"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ChangeTracker</a:t>
            </a:r>
          </a:p>
        </p:txBody>
      </p:sp>
      <p:sp>
        <p:nvSpPr>
          <p:cNvPr id="13" name="Diagram node save">
            <a:extLst xmlns:a="http://schemas.openxmlformats.org/drawingml/2006/main">
              <a:ext uri="{FF2B5EF4-FFF2-40B4-BE49-F238E27FC236}">
                <a16:creationId xmlns:a16="http://schemas.microsoft.com/office/drawing/2014/main" id="{23C3F74C-7770-4621-A5C8-38AA9B81F9A7}"/>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save">
            <a:extLst xmlns:a="http://schemas.openxmlformats.org/drawingml/2006/main">
              <a:ext uri="{FF2B5EF4-FFF2-40B4-BE49-F238E27FC236}">
                <a16:creationId xmlns:a16="http://schemas.microsoft.com/office/drawing/2014/main" id="{426F4D2F-C518-4E63-923E-9C6660533749}"/>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Confirmar</a:t>
            </a:r>
          </a:p>
        </p:txBody>
      </p:sp>
      <p:sp>
        <p:nvSpPr>
          <p:cNvPr id="15" name="Node detail save">
            <a:extLst xmlns:a="http://schemas.openxmlformats.org/drawingml/2006/main">
              <a:ext uri="{FF2B5EF4-FFF2-40B4-BE49-F238E27FC236}">
                <a16:creationId xmlns:a16="http://schemas.microsoft.com/office/drawing/2014/main" id="{93B1E0A0-9E51-4BFC-8F2B-15E321AD5407}"/>
              </a:ext>
            </a:extLst>
          </p:cNvPr>
          <p:cNvSpPr>
            <a:spLocks xmlns:a="http://schemas.openxmlformats.org/drawingml/2006/main" noGrp="1"/>
          </p:cNvSpPr>
          <p:nvPr/>
        </p:nvSpPr>
        <p:spPr>
          <a:xfrm xmlns:a="http://schemas.openxmlformats.org/drawingml/2006/main">
            <a:off x="930592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SaveChangesAsync</a:t>
            </a:r>
          </a:p>
        </p:txBody>
      </p:sp>
      <p:sp>
        <p:nvSpPr>
          <p:cNvPr id="17" name="Relationship load change">
            <a:extLst xmlns:a="http://schemas.openxmlformats.org/drawingml/2006/main">
              <a:ext uri="{FF2B5EF4-FFF2-40B4-BE49-F238E27FC236}">
                <a16:creationId xmlns:a16="http://schemas.microsoft.com/office/drawing/2014/main" id="{2CA6D777-D506-41A8-B106-408ABD7DD1A8}"/>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Objeto</a:t>
            </a:r>
          </a:p>
        </p:txBody>
      </p:sp>
      <p:sp>
        <p:nvSpPr>
          <p:cNvPr id="19" name="Relationship change track">
            <a:extLst xmlns:a="http://schemas.openxmlformats.org/drawingml/2006/main">
              <a:ext uri="{FF2B5EF4-FFF2-40B4-BE49-F238E27FC236}">
                <a16:creationId xmlns:a16="http://schemas.microsoft.com/office/drawing/2014/main" id="{C9CA793C-9DA1-4288-B6BB-D0CCFF68E977}"/>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Cambio</a:t>
            </a:r>
          </a:p>
        </p:txBody>
      </p:sp>
      <p:sp>
        <p:nvSpPr>
          <p:cNvPr id="21" name="Relationship track save">
            <a:extLst xmlns:a="http://schemas.openxmlformats.org/drawingml/2006/main">
              <a:ext uri="{FF2B5EF4-FFF2-40B4-BE49-F238E27FC236}">
                <a16:creationId xmlns:a16="http://schemas.microsoft.com/office/drawing/2014/main" id="{4E91B45C-CD36-4625-9D54-76D12A688F76}"/>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Confirmación</a:t>
            </a:r>
          </a:p>
        </p:txBody>
      </p:sp>
      <p:sp>
        <p:nvSpPr>
          <p:cNvPr id="22" name="Analysis 1">
            <a:extLst xmlns:a="http://schemas.openxmlformats.org/drawingml/2006/main">
              <a:ext uri="{FF2B5EF4-FFF2-40B4-BE49-F238E27FC236}">
                <a16:creationId xmlns:a16="http://schemas.microsoft.com/office/drawing/2014/main" id="{4AC99698-5DA6-48D6-8A87-957ADA0207D6}"/>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Seguimiento.</a:t>
            </a:r>
            <a:r>
              <a:rPr sz="1800" b="0">
                <a:solidFill>
                  <a:srgbClr val="45516A"/>
                </a:solidFill>
                <a:latin typeface="Arial"/>
                <a:ea typeface="Arial"/>
                <a:cs typeface="Arial"/>
              </a:rPr>
              <a:t> GetByIdAsync carga para modificar.</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GetByIdsAsync y listados usan AsNoTracking para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lectura.</a:t>
            </a:r>
          </a:p>
        </p:txBody>
      </p:sp>
      <p:sp>
        <p:nvSpPr>
          <p:cNvPr id="23" name="Analysis 2">
            <a:extLst xmlns:a="http://schemas.openxmlformats.org/drawingml/2006/main">
              <a:ext uri="{FF2B5EF4-FFF2-40B4-BE49-F238E27FC236}">
                <a16:creationId xmlns:a16="http://schemas.microsoft.com/office/drawing/2014/main" id="{1ABD47B8-AE24-4E9B-B7C5-0C297F0F5A97}"/>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Confirmación.</a:t>
            </a:r>
            <a:r>
              <a:rPr sz="1800" b="0">
                <a:solidFill>
                  <a:srgbClr val="45516A"/>
                </a:solidFill>
                <a:latin typeface="Arial"/>
                <a:ea typeface="Arial"/>
                <a:cs typeface="Arial"/>
              </a:rPr>
              <a:t> Add registra la entidad. IUnitOfWork</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guarda mediante el mismo DbContext compartido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por los repositorios.</a:t>
            </a:r>
          </a:p>
        </p:txBody>
      </p:sp>
    </p:spTree>
    <p:extLst>
      <p:ext uri="{BB962C8B-B14F-4D97-AF65-F5344CB8AC3E}">
        <p14:creationId xmlns:p14="http://schemas.microsoft.com/office/powerpoint/2010/main" val="460679444"/>
      </p:ext>
    </p:extLst>
  </p:cSld>
</p:sld>
</file>

<file path=ppt/slides/slide32.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6" name="Deep module">
            <a:extLst xmlns:a="http://schemas.openxmlformats.org/drawingml/2006/main">
              <a:ext uri="{FF2B5EF4-FFF2-40B4-BE49-F238E27FC236}">
                <a16:creationId xmlns:a16="http://schemas.microsoft.com/office/drawing/2014/main" id="{30C463C8-D28B-491F-B097-89E88C042F5D}"/>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05</a:t>
            </a:r>
          </a:p>
        </p:txBody>
      </p:sp>
      <p:sp>
        <p:nvSpPr>
          <p:cNvPr id="2" name="Deep title">
            <a:extLst xmlns:a="http://schemas.openxmlformats.org/drawingml/2006/main">
              <a:ext uri="{FF2B5EF4-FFF2-40B4-BE49-F238E27FC236}">
                <a16:creationId xmlns:a16="http://schemas.microsoft.com/office/drawing/2014/main" id="{87D4D012-F519-4529-A2AA-434BBAB36645}"/>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Consultas con un tamaño controlado</a:t>
            </a:r>
          </a:p>
        </p:txBody>
      </p:sp>
      <p:sp>
        <p:nvSpPr>
          <p:cNvPr id="3" name="Deep lead">
            <a:extLst xmlns:a="http://schemas.openxmlformats.org/drawingml/2006/main">
              <a:ext uri="{FF2B5EF4-FFF2-40B4-BE49-F238E27FC236}">
                <a16:creationId xmlns:a16="http://schemas.microsoft.com/office/drawing/2014/main" id="{0126A059-FAE2-449B-B699-D19E1B050A63}"/>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LINQ expresa la consulta en C#. Filtrar, ordenar y paginar antes de materializar evita cargar</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todos los registros.</a:t>
            </a:r>
          </a:p>
        </p:txBody>
      </p:sp>
      <p:sp>
        <p:nvSpPr>
          <p:cNvPr id="4" name="Code provenance">
            <a:extLst xmlns:a="http://schemas.openxmlformats.org/drawingml/2006/main">
              <a:ext uri="{FF2B5EF4-FFF2-40B4-BE49-F238E27FC236}">
                <a16:creationId xmlns:a16="http://schemas.microsoft.com/office/drawing/2014/main" id="{28B44540-8960-4589-995A-243CB9012C37}"/>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Repositories.cs</a:t>
            </a:r>
          </a:p>
        </p:txBody>
      </p:sp>
      <p:sp>
        <p:nvSpPr>
          <p:cNvPr id="5" name="Code line 1">
            <a:extLst xmlns:a="http://schemas.openxmlformats.org/drawingml/2006/main">
              <a:ext uri="{FF2B5EF4-FFF2-40B4-BE49-F238E27FC236}">
                <a16:creationId xmlns:a16="http://schemas.microsoft.com/office/drawing/2014/main" id="{267D9D22-C342-4873-828A-21328484CBC5}"/>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query = Query.AsNoTracking();</a:t>
            </a:r>
          </a:p>
        </p:txBody>
      </p:sp>
      <p:sp>
        <p:nvSpPr>
          <p:cNvPr id="6" name="Code line 2">
            <a:extLst xmlns:a="http://schemas.openxmlformats.org/drawingml/2006/main">
              <a:ext uri="{FF2B5EF4-FFF2-40B4-BE49-F238E27FC236}">
                <a16:creationId xmlns:a16="http://schemas.microsoft.com/office/drawing/2014/main" id="{6724CC5E-280E-48B4-992C-F58B566E0600}"/>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count = await query.CountAsync(cancellationToken);</a:t>
            </a:r>
          </a:p>
        </p:txBody>
      </p:sp>
      <p:sp>
        <p:nvSpPr>
          <p:cNvPr id="7" name="Code line 3">
            <a:extLst xmlns:a="http://schemas.openxmlformats.org/drawingml/2006/main">
              <a:ext uri="{FF2B5EF4-FFF2-40B4-BE49-F238E27FC236}">
                <a16:creationId xmlns:a16="http://schemas.microsoft.com/office/drawing/2014/main" id="{7F710882-29E0-4F92-A054-A1A447F54310}"/>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products = await query</a:t>
            </a:r>
          </a:p>
        </p:txBody>
      </p:sp>
      <p:sp>
        <p:nvSpPr>
          <p:cNvPr id="8" name="Code line 4">
            <a:extLst xmlns:a="http://schemas.openxmlformats.org/drawingml/2006/main">
              <a:ext uri="{FF2B5EF4-FFF2-40B4-BE49-F238E27FC236}">
                <a16:creationId xmlns:a16="http://schemas.microsoft.com/office/drawing/2014/main" id="{AF64E362-7547-4764-B06F-B0B08FCC2D40}"/>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.OrderBy(product =&gt; product.Sku)</a:t>
            </a:r>
          </a:p>
        </p:txBody>
      </p:sp>
      <p:sp>
        <p:nvSpPr>
          <p:cNvPr id="9" name="Code line 5">
            <a:extLst xmlns:a="http://schemas.openxmlformats.org/drawingml/2006/main">
              <a:ext uri="{FF2B5EF4-FFF2-40B4-BE49-F238E27FC236}">
                <a16:creationId xmlns:a16="http://schemas.microsoft.com/office/drawing/2014/main" id="{4544585E-1A34-44CC-B997-F346DF451F13}"/>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.Skip(page.Skip)</a:t>
            </a:r>
          </a:p>
        </p:txBody>
      </p:sp>
      <p:sp>
        <p:nvSpPr>
          <p:cNvPr id="10" name="Code line 6">
            <a:extLst xmlns:a="http://schemas.openxmlformats.org/drawingml/2006/main">
              <a:ext uri="{FF2B5EF4-FFF2-40B4-BE49-F238E27FC236}">
                <a16:creationId xmlns:a16="http://schemas.microsoft.com/office/drawing/2014/main" id="{441A5C6B-3C47-4F90-9ED0-5544FFEB006C}"/>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.Take(page.PageSize)</a:t>
            </a:r>
          </a:p>
        </p:txBody>
      </p:sp>
      <p:sp>
        <p:nvSpPr>
          <p:cNvPr id="11" name="Code line 7">
            <a:extLst xmlns:a="http://schemas.openxmlformats.org/drawingml/2006/main">
              <a:ext uri="{FF2B5EF4-FFF2-40B4-BE49-F238E27FC236}">
                <a16:creationId xmlns:a16="http://schemas.microsoft.com/office/drawing/2014/main" id="{2FE1E03F-9B32-4360-BAAC-51E5EE3723F9}"/>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.ToListAsync(cancellationToken);</a:t>
            </a:r>
          </a:p>
        </p:txBody>
      </p:sp>
      <p:sp>
        <p:nvSpPr>
          <p:cNvPr id="12" name="Code line 8">
            <a:extLst xmlns:a="http://schemas.openxmlformats.org/drawingml/2006/main">
              <a:ext uri="{FF2B5EF4-FFF2-40B4-BE49-F238E27FC236}">
                <a16:creationId xmlns:a16="http://schemas.microsoft.com/office/drawing/2014/main" id="{5ECF3C12-7F7C-493D-854C-DA89B0D2F722}"/>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return new Page&lt;Product&gt;(</a:t>
            </a:r>
          </a:p>
        </p:txBody>
      </p:sp>
      <p:sp>
        <p:nvSpPr>
          <p:cNvPr id="13" name="Code line 9">
            <a:extLst xmlns:a="http://schemas.openxmlformats.org/drawingml/2006/main">
              <a:ext uri="{FF2B5EF4-FFF2-40B4-BE49-F238E27FC236}">
                <a16:creationId xmlns:a16="http://schemas.microsoft.com/office/drawing/2014/main" id="{2A8719C1-56D6-473E-8677-E9EA1937B4E6}"/>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products, count, page.PageNumber, page.PageSize);</a:t>
            </a:r>
          </a:p>
        </p:txBody>
      </p:sp>
      <p:sp>
        <p:nvSpPr>
          <p:cNvPr id="14" name="Analysis 1">
            <a:extLst xmlns:a="http://schemas.openxmlformats.org/drawingml/2006/main">
              <a:ext uri="{FF2B5EF4-FFF2-40B4-BE49-F238E27FC236}">
                <a16:creationId xmlns:a16="http://schemas.microsoft.com/office/drawing/2014/main" id="{59E7C71E-805D-4B98-B48F-EFD5D05CBCCF}"/>
              </a:ext>
            </a:extLst>
          </p:cNvPr>
          <p:cNvSpPr>
            <a:spLocks xmlns:a="http://schemas.openxmlformats.org/drawingml/2006/main" noGrp="1"/>
          </p:cNvSpPr>
          <p:nvPr/>
        </p:nvSpPr>
        <p:spPr>
          <a:xfrm xmlns:a="http://schemas.openxmlformats.org/drawingml/2006/main">
            <a:off x="762000"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Página 2, tamaño 20.</a:t>
            </a:r>
            <a:r>
              <a:rPr sz="1725" b="0">
                <a:solidFill>
                  <a:srgbClr val="D0D8E6"/>
                </a:solidFill>
                <a:latin typeface="Arial"/>
                <a:ea typeface="Arial"/>
                <a:cs typeface="Arial"/>
              </a:rPr>
              <a:t> Skip omite 20 registros y Take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solicita los siguientes 20, ordenados por SKU.</a:t>
            </a:r>
          </a:p>
        </p:txBody>
      </p:sp>
      <p:sp>
        <p:nvSpPr>
          <p:cNvPr id="15" name="Analysis 2">
            <a:extLst xmlns:a="http://schemas.openxmlformats.org/drawingml/2006/main">
              <a:ext uri="{FF2B5EF4-FFF2-40B4-BE49-F238E27FC236}">
                <a16:creationId xmlns:a16="http://schemas.microsoft.com/office/drawing/2014/main" id="{0D478DFD-6BDE-4338-A518-B2C1AAD3A05D}"/>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Costo real.</a:t>
            </a:r>
            <a:r>
              <a:rPr sz="1725" b="0">
                <a:solidFill>
                  <a:srgbClr val="D0D8E6"/>
                </a:solidFill>
                <a:latin typeface="Arial"/>
                <a:ea typeface="Arial"/>
                <a:cs typeface="Arial"/>
              </a:rPr>
              <a:t> CountAsync cuenta y ToListAsync</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materializa. Revisamos SQL, índices y tiempos en 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proveedor utilizado.</a:t>
            </a:r>
          </a:p>
        </p:txBody>
      </p:sp>
    </p:spTree>
    <p:extLst>
      <p:ext uri="{BB962C8B-B14F-4D97-AF65-F5344CB8AC3E}">
        <p14:creationId xmlns:p14="http://schemas.microsoft.com/office/powerpoint/2010/main" val="1582679061"/>
      </p:ext>
    </p:extLst>
  </p:cSld>
</p:sld>
</file>

<file path=ppt/slides/slide33.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6A4F4290-C109-45BF-87D9-5808326EF400}"/>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05</a:t>
            </a:r>
          </a:p>
        </p:txBody>
      </p:sp>
      <p:sp>
        <p:nvSpPr>
          <p:cNvPr id="2" name="Deep title">
            <a:extLst xmlns:a="http://schemas.openxmlformats.org/drawingml/2006/main">
              <a:ext uri="{FF2B5EF4-FFF2-40B4-BE49-F238E27FC236}">
                <a16:creationId xmlns:a16="http://schemas.microsoft.com/office/drawing/2014/main" id="{18AC47E6-6F11-4472-932F-2B43C7C285AB}"/>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Dos cambios que debemos controlar</a:t>
            </a:r>
          </a:p>
        </p:txBody>
      </p:sp>
      <p:sp>
        <p:nvSpPr>
          <p:cNvPr id="3" name="Deep lead">
            <a:extLst xmlns:a="http://schemas.openxmlformats.org/drawingml/2006/main">
              <a:ext uri="{FF2B5EF4-FFF2-40B4-BE49-F238E27FC236}">
                <a16:creationId xmlns:a16="http://schemas.microsoft.com/office/drawing/2014/main" id="{BC362BB8-13D5-4627-8ACD-C0441BF8AF73}"/>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Una migración cambia el esquema. El token Version detecta que otra solicitud modificó un</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registro antes de guardar.</a:t>
            </a:r>
          </a:p>
        </p:txBody>
      </p:sp>
      <p:sp>
        <p:nvSpPr>
          <p:cNvPr id="4" name="Explanation heading 1">
            <a:extLst xmlns:a="http://schemas.openxmlformats.org/drawingml/2006/main">
              <a:ext uri="{FF2B5EF4-FFF2-40B4-BE49-F238E27FC236}">
                <a16:creationId xmlns:a16="http://schemas.microsoft.com/office/drawing/2014/main" id="{FAC442A4-A985-495D-AA0D-CEAA8544D917}"/>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Esquema</a:t>
            </a:r>
          </a:p>
        </p:txBody>
      </p:sp>
      <p:sp>
        <p:nvSpPr>
          <p:cNvPr id="5" name="Explanation body 1">
            <a:extLst xmlns:a="http://schemas.openxmlformats.org/drawingml/2006/main">
              <a:ext uri="{FF2B5EF4-FFF2-40B4-BE49-F238E27FC236}">
                <a16:creationId xmlns:a16="http://schemas.microsoft.com/office/drawing/2014/main" id="{C15724DF-5A13-457B-AB2F-81C30F8019A3}"/>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La migración ExactCustomerIdentity ajusta la comparación de CustomerId en SQL</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Server. El script se revisa antes de aplicarlo.</a:t>
            </a:r>
          </a:p>
        </p:txBody>
      </p:sp>
      <p:sp>
        <p:nvSpPr>
          <p:cNvPr id="6" name="Explanation heading 2">
            <a:extLst xmlns:a="http://schemas.openxmlformats.org/drawingml/2006/main">
              <a:ext uri="{FF2B5EF4-FFF2-40B4-BE49-F238E27FC236}">
                <a16:creationId xmlns:a16="http://schemas.microsoft.com/office/drawing/2014/main" id="{647BB824-E5E9-49EB-A356-F4CCA0BF7AE6}"/>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Datos</a:t>
            </a:r>
          </a:p>
        </p:txBody>
      </p:sp>
      <p:sp>
        <p:nvSpPr>
          <p:cNvPr id="7" name="Explanation body 2">
            <a:extLst xmlns:a="http://schemas.openxmlformats.org/drawingml/2006/main">
              <a:ext uri="{FF2B5EF4-FFF2-40B4-BE49-F238E27FC236}">
                <a16:creationId xmlns:a16="http://schemas.microsoft.com/office/drawing/2014/main" id="{F38EA959-F5A0-4AD8-8DB9-F7B41575B612}"/>
              </a:ext>
            </a:extLst>
          </p:cNvPr>
          <p:cNvSpPr>
            <a:spLocks xmlns:a="http://schemas.openxmlformats.org/drawingml/2006/main" noGrp="1"/>
          </p:cNvSpPr>
          <p:nvPr/>
        </p:nvSpPr>
        <p:spPr>
          <a:xfrm xmlns:a="http://schemas.openxmlformats.org/drawingml/2006/main">
            <a:off x="781050" y="4371975"/>
            <a:ext cx="106299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Ana y Luis leen la versión A. Ana guarda B. El intento de Luis con A recibe 409.</a:t>
            </a:r>
          </a:p>
        </p:txBody>
      </p:sp>
      <p:sp>
        <p:nvSpPr>
          <p:cNvPr id="8" name="Explanation heading 3">
            <a:extLst xmlns:a="http://schemas.openxmlformats.org/drawingml/2006/main">
              <a:ext uri="{FF2B5EF4-FFF2-40B4-BE49-F238E27FC236}">
                <a16:creationId xmlns:a16="http://schemas.microsoft.com/office/drawing/2014/main" id="{18C17096-5E14-49FA-AB30-3B0A1C04D5F5}"/>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Recuperación</a:t>
            </a:r>
          </a:p>
        </p:txBody>
      </p:sp>
      <p:sp>
        <p:nvSpPr>
          <p:cNvPr id="9" name="Explanation body 3">
            <a:extLst xmlns:a="http://schemas.openxmlformats.org/drawingml/2006/main">
              <a:ext uri="{FF2B5EF4-FFF2-40B4-BE49-F238E27FC236}">
                <a16:creationId xmlns:a16="http://schemas.microsoft.com/office/drawing/2014/main" id="{12D32345-82D1-4978-AD77-C4B6714E22D3}"/>
              </a:ext>
            </a:extLst>
          </p:cNvPr>
          <p:cNvSpPr>
            <a:spLocks xmlns:a="http://schemas.openxmlformats.org/drawingml/2006/main" noGrp="1"/>
          </p:cNvSpPr>
          <p:nvPr/>
        </p:nvSpPr>
        <p:spPr>
          <a:xfrm xmlns:a="http://schemas.openxmlformats.org/drawingml/2006/main">
            <a:off x="781050" y="5676900"/>
            <a:ext cx="10629900" cy="396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Luis recarga y decide cómo resolver el conflicto. Version es un GUID, no un contador.</a:t>
            </a:r>
          </a:p>
        </p:txBody>
      </p:sp>
    </p:spTree>
    <p:extLst>
      <p:ext uri="{BB962C8B-B14F-4D97-AF65-F5344CB8AC3E}">
        <p14:creationId xmlns:p14="http://schemas.microsoft.com/office/powerpoint/2010/main" val="1670229836"/>
      </p:ext>
    </p:extLst>
  </p:cSld>
</p:sld>
</file>

<file path=ppt/slides/slide34.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41580874-D747-4C55-AFD8-FDEAF31AC483}"/>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06</a:t>
            </a:r>
          </a:p>
        </p:txBody>
      </p:sp>
      <p:sp>
        <p:nvSpPr>
          <p:cNvPr id="3" name="Class title">
            <a:extLst xmlns:a="http://schemas.openxmlformats.org/drawingml/2006/main">
              <a:ext uri="{FF2B5EF4-FFF2-40B4-BE49-F238E27FC236}">
                <a16:creationId xmlns:a16="http://schemas.microsoft.com/office/drawing/2014/main" id="{BE80DB4A-6237-452D-AA4B-CD2EA89D58FE}"/>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Seguridad</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y permisos</a:t>
            </a:r>
          </a:p>
        </p:txBody>
      </p:sp>
      <p:sp>
        <p:nvSpPr>
          <p:cNvPr id="5" name="Learning outcome">
            <a:extLst xmlns:a="http://schemas.openxmlformats.org/drawingml/2006/main">
              <a:ext uri="{FF2B5EF4-FFF2-40B4-BE49-F238E27FC236}">
                <a16:creationId xmlns:a16="http://schemas.microsoft.com/office/drawing/2014/main" id="{AA67A093-ED6F-4CFB-B7CD-46926AA1F5B0}"/>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Tokens JWT y reglas</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para proteger el acceso.</a:t>
            </a:r>
          </a:p>
        </p:txBody>
      </p:sp>
      <p:sp>
        <p:nvSpPr>
          <p:cNvPr id="7" name="Practice outcome">
            <a:extLst xmlns:a="http://schemas.openxmlformats.org/drawingml/2006/main">
              <a:ext uri="{FF2B5EF4-FFF2-40B4-BE49-F238E27FC236}">
                <a16:creationId xmlns:a16="http://schemas.microsoft.com/office/drawing/2014/main" id="{786E7889-3892-400D-8AE8-BB13D7F034AD}"/>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Controlar quién puede consultar</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o modificar cada pedido.</a:t>
            </a:r>
          </a:p>
        </p:txBody>
      </p:sp>
      <p:sp>
        <p:nvSpPr>
          <p:cNvPr id="9" name="Module context">
            <a:extLst xmlns:a="http://schemas.openxmlformats.org/drawingml/2006/main">
              <a:ext uri="{FF2B5EF4-FFF2-40B4-BE49-F238E27FC236}">
                <a16:creationId xmlns:a16="http://schemas.microsoft.com/office/drawing/2014/main" id="{16A341A1-90D9-48A4-B3AA-6BE5443CC4F1}"/>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 autenticación identifica al usuario. Los permisos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definen qué puede hacer. En AulaPedidos también</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comprobamos a quién pertenece cada pedido.</a:t>
            </a:r>
          </a:p>
        </p:txBody>
      </p:sp>
    </p:spTree>
    <p:extLst>
      <p:ext uri="{BB962C8B-B14F-4D97-AF65-F5344CB8AC3E}">
        <p14:creationId xmlns:p14="http://schemas.microsoft.com/office/powerpoint/2010/main" val="1889825276"/>
      </p:ext>
    </p:extLst>
  </p:cSld>
</p:sld>
</file>

<file path=ppt/slides/slide35.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18FB775D-5C9F-4CBB-BC76-352EA1747BD6}"/>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06</a:t>
            </a:r>
          </a:p>
        </p:txBody>
      </p:sp>
      <p:sp>
        <p:nvSpPr>
          <p:cNvPr id="2" name="Concept title">
            <a:extLst xmlns:a="http://schemas.openxmlformats.org/drawingml/2006/main">
              <a:ext uri="{FF2B5EF4-FFF2-40B4-BE49-F238E27FC236}">
                <a16:creationId xmlns:a16="http://schemas.microsoft.com/office/drawing/2014/main" id="{EBCCC933-11E3-4DB1-812C-8172FA76AD21}"/>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JWT y control de acceso</a:t>
            </a:r>
          </a:p>
        </p:txBody>
      </p:sp>
      <p:sp>
        <p:nvSpPr>
          <p:cNvPr id="3" name="Concept definition">
            <a:extLst xmlns:a="http://schemas.openxmlformats.org/drawingml/2006/main">
              <a:ext uri="{FF2B5EF4-FFF2-40B4-BE49-F238E27FC236}">
                <a16:creationId xmlns:a16="http://schemas.microsoft.com/office/drawing/2014/main" id="{722D9565-473C-4A68-9ED9-AD5C7E2399F5}"/>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JWT = JSON Web Token. Transporta datos de identidad y permisos.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La API valida su firma y vigencia. Su contenido puede leerse.</a:t>
            </a:r>
          </a:p>
        </p:txBody>
      </p:sp>
      <p:sp>
        <p:nvSpPr>
          <p:cNvPr id="4" name="Concept explanation">
            <a:extLst xmlns:a="http://schemas.openxmlformats.org/drawingml/2006/main">
              <a:ext uri="{FF2B5EF4-FFF2-40B4-BE49-F238E27FC236}">
                <a16:creationId xmlns:a16="http://schemas.microsoft.com/office/drawing/2014/main" id="{9730C6C2-54A6-46DE-BBE9-53821756B513}"/>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Autenticación: comprobar quién eres.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Autorización: decidir qué puedes hacer.</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También verificamos a quién pertenece cada pedido.</a:t>
            </a:r>
          </a:p>
        </p:txBody>
      </p:sp>
      <p:sp>
        <p:nvSpPr>
          <p:cNvPr id="5" name="Concept example label">
            <a:extLst xmlns:a="http://schemas.openxmlformats.org/drawingml/2006/main">
              <a:ext uri="{FF2B5EF4-FFF2-40B4-BE49-F238E27FC236}">
                <a16:creationId xmlns:a16="http://schemas.microsoft.com/office/drawing/2014/main" id="{90EAADC5-147E-4F8A-B79D-DDEE65A45868}"/>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01CC4221-611A-4256-963C-B4D578EE65D5}"/>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Ana puede consultar su pedido, pero no el de Luis.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Tener un token válido no da acceso a todos los pedidos.</a:t>
            </a:r>
          </a:p>
        </p:txBody>
      </p:sp>
    </p:spTree>
    <p:extLst>
      <p:ext uri="{BB962C8B-B14F-4D97-AF65-F5344CB8AC3E}">
        <p14:creationId xmlns:p14="http://schemas.microsoft.com/office/powerpoint/2010/main" val="1114228852"/>
      </p:ext>
    </p:extLst>
  </p:cSld>
</p:sld>
</file>

<file path=ppt/slides/slide3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371CB9CC-D250-459B-99EA-4057DDC2BB9B}"/>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A89AD91F-1423-4B35-B8D8-0DF1689A4118}"/>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5C28FD94-B75F-41C0-B371-7A051DBC0B83}"/>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7C9F0DCF-F9B5-43E8-B2EF-A823020B56A7}"/>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06</a:t>
            </a:r>
          </a:p>
        </p:txBody>
      </p:sp>
      <p:sp>
        <p:nvSpPr>
          <p:cNvPr id="2" name="Deep title">
            <a:extLst xmlns:a="http://schemas.openxmlformats.org/drawingml/2006/main">
              <a:ext uri="{FF2B5EF4-FFF2-40B4-BE49-F238E27FC236}">
                <a16:creationId xmlns:a16="http://schemas.microsoft.com/office/drawing/2014/main" id="{8C818EF7-51DB-4F1F-B0E1-770B769671A7}"/>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Identidad, permiso y recurso</a:t>
            </a:r>
          </a:p>
        </p:txBody>
      </p:sp>
      <p:sp>
        <p:nvSpPr>
          <p:cNvPr id="3" name="Deep lead">
            <a:extLst xmlns:a="http://schemas.openxmlformats.org/drawingml/2006/main">
              <a:ext uri="{FF2B5EF4-FFF2-40B4-BE49-F238E27FC236}">
                <a16:creationId xmlns:a16="http://schemas.microsoft.com/office/drawing/2014/main" id="{226808B6-9FFB-43A5-9BD4-22EE5DCA47BC}"/>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JWT significa JSON Web Token. Tras validar el token, la API comprueba permisos y el</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acceso al pedido concreto.</a:t>
            </a:r>
          </a:p>
        </p:txBody>
      </p:sp>
      <p:sp>
        <p:nvSpPr>
          <p:cNvPr id="4" name="Diagram node token">
            <a:extLst xmlns:a="http://schemas.openxmlformats.org/drawingml/2006/main">
              <a:ext uri="{FF2B5EF4-FFF2-40B4-BE49-F238E27FC236}">
                <a16:creationId xmlns:a16="http://schemas.microsoft.com/office/drawing/2014/main" id="{D597BD12-8C35-4336-B580-1D2ED801B91D}"/>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token">
            <a:extLst xmlns:a="http://schemas.openxmlformats.org/drawingml/2006/main">
              <a:ext uri="{FF2B5EF4-FFF2-40B4-BE49-F238E27FC236}">
                <a16:creationId xmlns:a16="http://schemas.microsoft.com/office/drawing/2014/main" id="{B3996CFD-85C0-4661-90CA-418FF5CD3C40}"/>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Token</a:t>
            </a:r>
          </a:p>
        </p:txBody>
      </p:sp>
      <p:sp>
        <p:nvSpPr>
          <p:cNvPr id="6" name="Node detail token">
            <a:extLst xmlns:a="http://schemas.openxmlformats.org/drawingml/2006/main">
              <a:ext uri="{FF2B5EF4-FFF2-40B4-BE49-F238E27FC236}">
                <a16:creationId xmlns:a16="http://schemas.microsoft.com/office/drawing/2014/main" id="{BA8354DA-81FC-43BB-81AB-1E4E4896A351}"/>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Authorization:</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Bearer</a:t>
            </a:r>
          </a:p>
        </p:txBody>
      </p:sp>
      <p:sp>
        <p:nvSpPr>
          <p:cNvPr id="7" name="Diagram node identity">
            <a:extLst xmlns:a="http://schemas.openxmlformats.org/drawingml/2006/main">
              <a:ext uri="{FF2B5EF4-FFF2-40B4-BE49-F238E27FC236}">
                <a16:creationId xmlns:a16="http://schemas.microsoft.com/office/drawing/2014/main" id="{CAE2934A-3749-41B3-9214-5306A0F062FD}"/>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identity">
            <a:extLst xmlns:a="http://schemas.openxmlformats.org/drawingml/2006/main">
              <a:ext uri="{FF2B5EF4-FFF2-40B4-BE49-F238E27FC236}">
                <a16:creationId xmlns:a16="http://schemas.microsoft.com/office/drawing/2014/main" id="{C6365D5B-7436-41DE-9741-FBEE1F966625}"/>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Identidad</a:t>
            </a:r>
          </a:p>
        </p:txBody>
      </p:sp>
      <p:sp>
        <p:nvSpPr>
          <p:cNvPr id="9" name="Node detail identity">
            <a:extLst xmlns:a="http://schemas.openxmlformats.org/drawingml/2006/main">
              <a:ext uri="{FF2B5EF4-FFF2-40B4-BE49-F238E27FC236}">
                <a16:creationId xmlns:a16="http://schemas.microsoft.com/office/drawing/2014/main" id="{9D74D6AF-B80D-4567-B3CD-0073C44308E7}"/>
              </a:ext>
            </a:extLst>
          </p:cNvPr>
          <p:cNvSpPr>
            <a:spLocks xmlns:a="http://schemas.openxmlformats.org/drawingml/2006/main" noGrp="1"/>
          </p:cNvSpPr>
          <p:nvPr/>
        </p:nvSpPr>
        <p:spPr>
          <a:xfrm xmlns:a="http://schemas.openxmlformats.org/drawingml/2006/main">
            <a:off x="368617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JWT validado</a:t>
            </a:r>
          </a:p>
        </p:txBody>
      </p:sp>
      <p:sp>
        <p:nvSpPr>
          <p:cNvPr id="10" name="Diagram node permission">
            <a:extLst xmlns:a="http://schemas.openxmlformats.org/drawingml/2006/main">
              <a:ext uri="{FF2B5EF4-FFF2-40B4-BE49-F238E27FC236}">
                <a16:creationId xmlns:a16="http://schemas.microsoft.com/office/drawing/2014/main" id="{CDCA9963-D11A-4E1E-9D3F-DC730AE33CBA}"/>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permission">
            <a:extLst xmlns:a="http://schemas.openxmlformats.org/drawingml/2006/main">
              <a:ext uri="{FF2B5EF4-FFF2-40B4-BE49-F238E27FC236}">
                <a16:creationId xmlns:a16="http://schemas.microsoft.com/office/drawing/2014/main" id="{DEEE8C4E-CC45-4964-9483-21D79AED79F2}"/>
              </a:ext>
            </a:extLst>
          </p:cNvPr>
          <p:cNvSpPr>
            <a:spLocks xmlns:a="http://schemas.openxmlformats.org/drawingml/2006/main" noGrp="1"/>
          </p:cNvSpPr>
          <p:nvPr/>
        </p:nvSpPr>
        <p:spPr>
          <a:xfrm xmlns:a="http://schemas.openxmlformats.org/drawingml/2006/main">
            <a:off x="649605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Permisos</a:t>
            </a:r>
          </a:p>
        </p:txBody>
      </p:sp>
      <p:sp>
        <p:nvSpPr>
          <p:cNvPr id="12" name="Node detail permission">
            <a:extLst xmlns:a="http://schemas.openxmlformats.org/drawingml/2006/main">
              <a:ext uri="{FF2B5EF4-FFF2-40B4-BE49-F238E27FC236}">
                <a16:creationId xmlns:a16="http://schemas.microsoft.com/office/drawing/2014/main" id="{A9C5DFA2-15C9-422B-8F5B-9873E0BBEFF9}"/>
              </a:ext>
            </a:extLst>
          </p:cNvPr>
          <p:cNvSpPr>
            <a:spLocks xmlns:a="http://schemas.openxmlformats.org/drawingml/2006/main" noGrp="1"/>
          </p:cNvSpPr>
          <p:nvPr/>
        </p:nvSpPr>
        <p:spPr>
          <a:xfrm xmlns:a="http://schemas.openxmlformats.org/drawingml/2006/main">
            <a:off x="6496050"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Políticas de acceso</a:t>
            </a:r>
          </a:p>
        </p:txBody>
      </p:sp>
      <p:sp>
        <p:nvSpPr>
          <p:cNvPr id="13" name="Diagram node owner">
            <a:extLst xmlns:a="http://schemas.openxmlformats.org/drawingml/2006/main">
              <a:ext uri="{FF2B5EF4-FFF2-40B4-BE49-F238E27FC236}">
                <a16:creationId xmlns:a16="http://schemas.microsoft.com/office/drawing/2014/main" id="{AF512224-A0DE-4AFA-8837-4E7A4990DF97}"/>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owner">
            <a:extLst xmlns:a="http://schemas.openxmlformats.org/drawingml/2006/main">
              <a:ext uri="{FF2B5EF4-FFF2-40B4-BE49-F238E27FC236}">
                <a16:creationId xmlns:a16="http://schemas.microsoft.com/office/drawing/2014/main" id="{7D7338C5-4E04-4BAD-BE69-C725BA814C5F}"/>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Dueño</a:t>
            </a:r>
          </a:p>
        </p:txBody>
      </p:sp>
      <p:sp>
        <p:nvSpPr>
          <p:cNvPr id="15" name="Node detail owner">
            <a:extLst xmlns:a="http://schemas.openxmlformats.org/drawingml/2006/main">
              <a:ext uri="{FF2B5EF4-FFF2-40B4-BE49-F238E27FC236}">
                <a16:creationId xmlns:a16="http://schemas.microsoft.com/office/drawing/2014/main" id="{12D4C1C7-33FB-44D7-ACDE-367C746B6764}"/>
              </a:ext>
            </a:extLst>
          </p:cNvPr>
          <p:cNvSpPr>
            <a:spLocks xmlns:a="http://schemas.openxmlformats.org/drawingml/2006/main" noGrp="1"/>
          </p:cNvSpPr>
          <p:nvPr/>
        </p:nvSpPr>
        <p:spPr>
          <a:xfrm xmlns:a="http://schemas.openxmlformats.org/drawingml/2006/main">
            <a:off x="9305925" y="3581400"/>
            <a:ext cx="2009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CustomerId = sub</a:t>
            </a:r>
          </a:p>
        </p:txBody>
      </p:sp>
      <p:sp>
        <p:nvSpPr>
          <p:cNvPr id="17" name="Relationship token identity">
            <a:extLst xmlns:a="http://schemas.openxmlformats.org/drawingml/2006/main">
              <a:ext uri="{FF2B5EF4-FFF2-40B4-BE49-F238E27FC236}">
                <a16:creationId xmlns:a16="http://schemas.microsoft.com/office/drawing/2014/main" id="{ECA2CC83-0F1E-4911-9C49-59C61E5FE55C}"/>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Autenticar</a:t>
            </a:r>
          </a:p>
        </p:txBody>
      </p:sp>
      <p:sp>
        <p:nvSpPr>
          <p:cNvPr id="19" name="Relationship identity permission">
            <a:extLst xmlns:a="http://schemas.openxmlformats.org/drawingml/2006/main">
              <a:ext uri="{FF2B5EF4-FFF2-40B4-BE49-F238E27FC236}">
                <a16:creationId xmlns:a16="http://schemas.microsoft.com/office/drawing/2014/main" id="{F65D4F5B-43BF-448D-B95D-F876F921E8EB}"/>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Autorizar</a:t>
            </a:r>
          </a:p>
        </p:txBody>
      </p:sp>
      <p:sp>
        <p:nvSpPr>
          <p:cNvPr id="21" name="Relationship permission owner">
            <a:extLst xmlns:a="http://schemas.openxmlformats.org/drawingml/2006/main">
              <a:ext uri="{FF2B5EF4-FFF2-40B4-BE49-F238E27FC236}">
                <a16:creationId xmlns:a16="http://schemas.microsoft.com/office/drawing/2014/main" id="{89F2EB41-DFEB-4C4E-879E-F34080274129}"/>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Comprobar</a:t>
            </a:r>
          </a:p>
        </p:txBody>
      </p:sp>
      <p:sp>
        <p:nvSpPr>
          <p:cNvPr id="22" name="Analysis 1">
            <a:extLst xmlns:a="http://schemas.openxmlformats.org/drawingml/2006/main">
              <a:ext uri="{FF2B5EF4-FFF2-40B4-BE49-F238E27FC236}">
                <a16:creationId xmlns:a16="http://schemas.microsoft.com/office/drawing/2014/main" id="{14EEAC83-B699-42E0-B4AD-E0C375F89726}"/>
              </a:ext>
            </a:extLst>
          </p:cNvPr>
          <p:cNvSpPr>
            <a:spLocks xmlns:a="http://schemas.openxmlformats.org/drawingml/2006/main" noGrp="1"/>
          </p:cNvSpPr>
          <p:nvPr/>
        </p:nvSpPr>
        <p:spPr>
          <a:xfrm xmlns:a="http://schemas.openxmlformats.org/drawingml/2006/main">
            <a:off x="762000" y="5514975"/>
            <a:ext cx="5191125" cy="624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Autenticación.</a:t>
            </a:r>
            <a:r>
              <a:rPr sz="1800" b="0">
                <a:solidFill>
                  <a:srgbClr val="45516A"/>
                </a:solidFill>
                <a:latin typeface="Arial"/>
                <a:ea typeface="Arial"/>
                <a:cs typeface="Arial"/>
              </a:rPr>
              <a:t> ¿Quién eres? Un token ausente,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inválido o vencido impide entrar y produce 401.</a:t>
            </a:r>
          </a:p>
        </p:txBody>
      </p:sp>
      <p:sp>
        <p:nvSpPr>
          <p:cNvPr id="23" name="Analysis 2">
            <a:extLst xmlns:a="http://schemas.openxmlformats.org/drawingml/2006/main">
              <a:ext uri="{FF2B5EF4-FFF2-40B4-BE49-F238E27FC236}">
                <a16:creationId xmlns:a16="http://schemas.microsoft.com/office/drawing/2014/main" id="{03B362C3-34FA-4D96-AA0F-424B7F65BA99}"/>
              </a:ext>
            </a:extLst>
          </p:cNvPr>
          <p:cNvSpPr>
            <a:spLocks xmlns:a="http://schemas.openxmlformats.org/drawingml/2006/main" noGrp="1"/>
          </p:cNvSpPr>
          <p:nvPr/>
        </p:nvSpPr>
        <p:spPr>
          <a:xfrm xmlns:a="http://schemas.openxmlformats.org/drawingml/2006/main">
            <a:off x="6238875"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Autorización.</a:t>
            </a:r>
            <a:r>
              <a:rPr sz="1800" b="0">
                <a:solidFill>
                  <a:srgbClr val="45516A"/>
                </a:solidFill>
                <a:latin typeface="Arial"/>
                <a:ea typeface="Arial"/>
                <a:cs typeface="Arial"/>
              </a:rPr>
              <a:t> ¿Puedes hacerlo sobre este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recurso? Faltar un permiso o ser otro dueño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produce 403 en la referencia.</a:t>
            </a:r>
          </a:p>
        </p:txBody>
      </p:sp>
    </p:spTree>
    <p:extLst>
      <p:ext uri="{BB962C8B-B14F-4D97-AF65-F5344CB8AC3E}">
        <p14:creationId xmlns:p14="http://schemas.microsoft.com/office/powerpoint/2010/main" val="2147351427"/>
      </p:ext>
    </p:extLst>
  </p:cSld>
</p:sld>
</file>

<file path=ppt/slides/slide37.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FA3EE930-2629-4758-8969-A35B3290926D}"/>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06</a:t>
            </a:r>
          </a:p>
        </p:txBody>
      </p:sp>
      <p:sp>
        <p:nvSpPr>
          <p:cNvPr id="2" name="Deep title">
            <a:extLst xmlns:a="http://schemas.openxmlformats.org/drawingml/2006/main">
              <a:ext uri="{FF2B5EF4-FFF2-40B4-BE49-F238E27FC236}">
                <a16:creationId xmlns:a16="http://schemas.microsoft.com/office/drawing/2014/main" id="{74A65D46-4E1E-484D-B1EB-8E82C602651D}"/>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Validar un token antes de confiar</a:t>
            </a:r>
          </a:p>
        </p:txBody>
      </p:sp>
      <p:sp>
        <p:nvSpPr>
          <p:cNvPr id="3" name="Deep lead">
            <a:extLst xmlns:a="http://schemas.openxmlformats.org/drawingml/2006/main">
              <a:ext uri="{FF2B5EF4-FFF2-40B4-BE49-F238E27FC236}">
                <a16:creationId xmlns:a16="http://schemas.microsoft.com/office/drawing/2014/main" id="{BF14F587-06E7-45C3-A192-F05E90A41E58}"/>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firma protege integridad y origen. Emisor, audiencia y caducidad limitan dónde y durante</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cuánto tiempo aceptamos el token.</a:t>
            </a:r>
          </a:p>
        </p:txBody>
      </p:sp>
      <p:sp>
        <p:nvSpPr>
          <p:cNvPr id="4" name="Code provenance">
            <a:extLst xmlns:a="http://schemas.openxmlformats.org/drawingml/2006/main">
              <a:ext uri="{FF2B5EF4-FFF2-40B4-BE49-F238E27FC236}">
                <a16:creationId xmlns:a16="http://schemas.microsoft.com/office/drawing/2014/main" id="{04C7C6EA-D670-475C-B301-AF9290769212}"/>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AuthenticationExtensions.cs</a:t>
            </a:r>
          </a:p>
        </p:txBody>
      </p:sp>
      <p:sp>
        <p:nvSpPr>
          <p:cNvPr id="5" name="Code line 1">
            <a:extLst xmlns:a="http://schemas.openxmlformats.org/drawingml/2006/main">
              <a:ext uri="{FF2B5EF4-FFF2-40B4-BE49-F238E27FC236}">
                <a16:creationId xmlns:a16="http://schemas.microsoft.com/office/drawing/2014/main" id="{0EB6382E-6A1A-4E07-BD42-235D7509A59D}"/>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ValidateIssuer = true, ValidIssuer = "AulaPedidos.Demo",</a:t>
            </a:r>
          </a:p>
        </p:txBody>
      </p:sp>
      <p:sp>
        <p:nvSpPr>
          <p:cNvPr id="6" name="Code line 2">
            <a:extLst xmlns:a="http://schemas.openxmlformats.org/drawingml/2006/main">
              <a:ext uri="{FF2B5EF4-FFF2-40B4-BE49-F238E27FC236}">
                <a16:creationId xmlns:a16="http://schemas.microsoft.com/office/drawing/2014/main" id="{6FD4C200-F6B6-4A29-B246-BFCCC97A1527}"/>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ValidateAudience = true, ValidAudience = "AulaPedidos.Api",</a:t>
            </a:r>
          </a:p>
        </p:txBody>
      </p:sp>
      <p:sp>
        <p:nvSpPr>
          <p:cNvPr id="7" name="Code line 3">
            <a:extLst xmlns:a="http://schemas.openxmlformats.org/drawingml/2006/main">
              <a:ext uri="{FF2B5EF4-FFF2-40B4-BE49-F238E27FC236}">
                <a16:creationId xmlns:a16="http://schemas.microsoft.com/office/drawing/2014/main" id="{7EABCEDC-2489-48FB-8C57-F3B48235F887}"/>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ValidateLifetime = true, RequireExpirationTime = true,</a:t>
            </a:r>
          </a:p>
        </p:txBody>
      </p:sp>
      <p:sp>
        <p:nvSpPr>
          <p:cNvPr id="8" name="Code line 4">
            <a:extLst xmlns:a="http://schemas.openxmlformats.org/drawingml/2006/main">
              <a:ext uri="{FF2B5EF4-FFF2-40B4-BE49-F238E27FC236}">
                <a16:creationId xmlns:a16="http://schemas.microsoft.com/office/drawing/2014/main" id="{CDC91967-A480-46F9-B55E-DC1EBE93D872}"/>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ValidateIssuerSigningKey = true,</a:t>
            </a:r>
          </a:p>
        </p:txBody>
      </p:sp>
      <p:sp>
        <p:nvSpPr>
          <p:cNvPr id="9" name="Code line 5">
            <a:extLst xmlns:a="http://schemas.openxmlformats.org/drawingml/2006/main">
              <a:ext uri="{FF2B5EF4-FFF2-40B4-BE49-F238E27FC236}">
                <a16:creationId xmlns:a16="http://schemas.microsoft.com/office/drawing/2014/main" id="{36316EDE-BF80-49E5-90AD-459DCE6DE846}"/>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IssuerSigningKey = new SymmetricSecurityKey(</a:t>
            </a:r>
          </a:p>
        </p:txBody>
      </p:sp>
      <p:sp>
        <p:nvSpPr>
          <p:cNvPr id="10" name="Code line 6">
            <a:extLst xmlns:a="http://schemas.openxmlformats.org/drawingml/2006/main">
              <a:ext uri="{FF2B5EF4-FFF2-40B4-BE49-F238E27FC236}">
                <a16:creationId xmlns:a16="http://schemas.microsoft.com/office/drawing/2014/main" id="{24511E51-0A24-482D-A410-E0E5843F8924}"/>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Encoding.UTF8.GetBytes(key)),</a:t>
            </a:r>
          </a:p>
        </p:txBody>
      </p:sp>
      <p:sp>
        <p:nvSpPr>
          <p:cNvPr id="11" name="Code line 7">
            <a:extLst xmlns:a="http://schemas.openxmlformats.org/drawingml/2006/main">
              <a:ext uri="{FF2B5EF4-FFF2-40B4-BE49-F238E27FC236}">
                <a16:creationId xmlns:a16="http://schemas.microsoft.com/office/drawing/2014/main" id="{C942B0F0-53E0-4726-91B6-599E8B9EC3CD}"/>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ValidAlgorithms = [SecurityAlgorithms.HmacSha256],</a:t>
            </a:r>
          </a:p>
        </p:txBody>
      </p:sp>
      <p:sp>
        <p:nvSpPr>
          <p:cNvPr id="12" name="Analysis 1">
            <a:extLst xmlns:a="http://schemas.openxmlformats.org/drawingml/2006/main">
              <a:ext uri="{FF2B5EF4-FFF2-40B4-BE49-F238E27FC236}">
                <a16:creationId xmlns:a16="http://schemas.microsoft.com/office/drawing/2014/main" id="{F17DF056-8E99-44A8-9B6E-A931C9B3687A}"/>
              </a:ext>
            </a:extLst>
          </p:cNvPr>
          <p:cNvSpPr>
            <a:spLocks xmlns:a="http://schemas.openxmlformats.org/drawingml/2006/main" noGrp="1"/>
          </p:cNvSpPr>
          <p:nvPr/>
        </p:nvSpPr>
        <p:spPr>
          <a:xfrm xmlns:a="http://schemas.openxmlformats.org/drawingml/2006/main">
            <a:off x="762000"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Laboratorio.</a:t>
            </a:r>
            <a:r>
              <a:rPr sz="1725" b="0">
                <a:solidFill>
                  <a:srgbClr val="D0D8E6"/>
                </a:solidFill>
                <a:latin typeface="Arial"/>
                <a:ea typeface="Arial"/>
                <a:cs typeface="Arial"/>
              </a:rPr>
              <a:t> El modo demo exige Development y una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clave local. El script de tokens sirve para practicar.</a:t>
            </a:r>
          </a:p>
        </p:txBody>
      </p:sp>
      <p:sp>
        <p:nvSpPr>
          <p:cNvPr id="13" name="Analysis 2">
            <a:extLst xmlns:a="http://schemas.openxmlformats.org/drawingml/2006/main">
              <a:ext uri="{FF2B5EF4-FFF2-40B4-BE49-F238E27FC236}">
                <a16:creationId xmlns:a16="http://schemas.microsoft.com/office/drawing/2014/main" id="{BD389D4A-B17A-40EF-9D2E-5D1DBEA7E9CC}"/>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Entorno real.</a:t>
            </a:r>
            <a:r>
              <a:rPr sz="1725" b="0">
                <a:solidFill>
                  <a:srgbClr val="D0D8E6"/>
                </a:solidFill>
                <a:latin typeface="Arial"/>
                <a:ea typeface="Arial"/>
                <a:cs typeface="Arial"/>
              </a:rPr>
              <a:t> La configuración usa Authority y</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Audience de un proveedor OIDC. Decodificar un</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JWT no valida su firma.</a:t>
            </a:r>
          </a:p>
        </p:txBody>
      </p:sp>
    </p:spTree>
    <p:extLst>
      <p:ext uri="{BB962C8B-B14F-4D97-AF65-F5344CB8AC3E}">
        <p14:creationId xmlns:p14="http://schemas.microsoft.com/office/powerpoint/2010/main" val="2048692427"/>
      </p:ext>
    </p:extLst>
  </p:cSld>
</p:sld>
</file>

<file path=ppt/slides/slide38.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6D19977D-9AB0-428C-A16D-B1F2C5EB317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06</a:t>
            </a:r>
          </a:p>
        </p:txBody>
      </p:sp>
      <p:sp>
        <p:nvSpPr>
          <p:cNvPr id="2" name="Deep title">
            <a:extLst xmlns:a="http://schemas.openxmlformats.org/drawingml/2006/main">
              <a:ext uri="{FF2B5EF4-FFF2-40B4-BE49-F238E27FC236}">
                <a16:creationId xmlns:a16="http://schemas.microsoft.com/office/drawing/2014/main" id="{00EA6358-0699-4BC1-933A-6944BB536E73}"/>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Las políticas combinan requisitos</a:t>
            </a:r>
          </a:p>
        </p:txBody>
      </p:sp>
      <p:sp>
        <p:nvSpPr>
          <p:cNvPr id="3" name="Deep lead">
            <a:extLst xmlns:a="http://schemas.openxmlformats.org/drawingml/2006/main">
              <a:ext uri="{FF2B5EF4-FFF2-40B4-BE49-F238E27FC236}">
                <a16:creationId xmlns:a16="http://schemas.microsoft.com/office/drawing/2014/main" id="{F4B4B351-39D3-45C6-8323-916095D63344}"/>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Un rol agrupa responsabilidades. Un permiso expresa una capacidad. La política decide qué</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requisitos deben cumplirse para una operación.</a:t>
            </a:r>
          </a:p>
        </p:txBody>
      </p:sp>
      <p:sp>
        <p:nvSpPr>
          <p:cNvPr id="4" name="Code provenance">
            <a:extLst xmlns:a="http://schemas.openxmlformats.org/drawingml/2006/main">
              <a:ext uri="{FF2B5EF4-FFF2-40B4-BE49-F238E27FC236}">
                <a16:creationId xmlns:a16="http://schemas.microsoft.com/office/drawing/2014/main" id="{273072F5-EE5C-4E47-941F-B3746DE5ED59}"/>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AuthenticationExtensions.cs</a:t>
            </a:r>
          </a:p>
        </p:txBody>
      </p:sp>
      <p:sp>
        <p:nvSpPr>
          <p:cNvPr id="5" name="Code line 1">
            <a:extLst xmlns:a="http://schemas.openxmlformats.org/drawingml/2006/main">
              <a:ext uri="{FF2B5EF4-FFF2-40B4-BE49-F238E27FC236}">
                <a16:creationId xmlns:a16="http://schemas.microsoft.com/office/drawing/2014/main" id="{4914DCA5-C1F2-4561-8178-A19A45E1A617}"/>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.AddPolicy("catalog.write", policy =&gt; policy</a:t>
            </a:r>
          </a:p>
        </p:txBody>
      </p:sp>
      <p:sp>
        <p:nvSpPr>
          <p:cNvPr id="6" name="Code line 2">
            <a:extLst xmlns:a="http://schemas.openxmlformats.org/drawingml/2006/main">
              <a:ext uri="{FF2B5EF4-FFF2-40B4-BE49-F238E27FC236}">
                <a16:creationId xmlns:a16="http://schemas.microsoft.com/office/drawing/2014/main" id="{2451DD1F-CF6B-4680-988A-E95013AE5415}"/>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.RequireRole("Admin")</a:t>
            </a:r>
          </a:p>
        </p:txBody>
      </p:sp>
      <p:sp>
        <p:nvSpPr>
          <p:cNvPr id="7" name="Code line 3">
            <a:extLst xmlns:a="http://schemas.openxmlformats.org/drawingml/2006/main">
              <a:ext uri="{FF2B5EF4-FFF2-40B4-BE49-F238E27FC236}">
                <a16:creationId xmlns:a16="http://schemas.microsoft.com/office/drawing/2014/main" id="{1AA9474E-D261-4C5E-B40D-D578F3F0524D}"/>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.RequireClaim("permission", "catalog.write"))</a:t>
            </a:r>
          </a:p>
        </p:txBody>
      </p:sp>
      <p:sp>
        <p:nvSpPr>
          <p:cNvPr id="8" name="Code line 4">
            <a:extLst xmlns:a="http://schemas.openxmlformats.org/drawingml/2006/main">
              <a:ext uri="{FF2B5EF4-FFF2-40B4-BE49-F238E27FC236}">
                <a16:creationId xmlns:a16="http://schemas.microsoft.com/office/drawing/2014/main" id="{9EFDEBC2-DDB2-4947-A596-2C896DAC71BC}"/>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.AddPolicy("orders.read", policy =&gt; policy</a:t>
            </a:r>
          </a:p>
        </p:txBody>
      </p:sp>
      <p:sp>
        <p:nvSpPr>
          <p:cNvPr id="9" name="Code line 5">
            <a:extLst xmlns:a="http://schemas.openxmlformats.org/drawingml/2006/main">
              <a:ext uri="{FF2B5EF4-FFF2-40B4-BE49-F238E27FC236}">
                <a16:creationId xmlns:a16="http://schemas.microsoft.com/office/drawing/2014/main" id="{F6944A4A-53F4-4002-B214-E3111B6BBE3E}"/>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.RequireClaim("permission", "orders.read"))</a:t>
            </a:r>
          </a:p>
        </p:txBody>
      </p:sp>
      <p:sp>
        <p:nvSpPr>
          <p:cNvPr id="10" name="Code line 6">
            <a:extLst xmlns:a="http://schemas.openxmlformats.org/drawingml/2006/main">
              <a:ext uri="{FF2B5EF4-FFF2-40B4-BE49-F238E27FC236}">
                <a16:creationId xmlns:a16="http://schemas.microsoft.com/office/drawing/2014/main" id="{917280D9-4A65-4E12-B9CE-567465FB9BDB}"/>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.AddPolicy("orders.write", policy =&gt; policy</a:t>
            </a:r>
          </a:p>
        </p:txBody>
      </p:sp>
      <p:sp>
        <p:nvSpPr>
          <p:cNvPr id="11" name="Code line 7">
            <a:extLst xmlns:a="http://schemas.openxmlformats.org/drawingml/2006/main">
              <a:ext uri="{FF2B5EF4-FFF2-40B4-BE49-F238E27FC236}">
                <a16:creationId xmlns:a16="http://schemas.microsoft.com/office/drawing/2014/main" id="{0C5E605B-F169-48DD-8904-A3922533614D}"/>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.RequireClaim("permission", "orders.write"));</a:t>
            </a:r>
          </a:p>
        </p:txBody>
      </p:sp>
      <p:sp>
        <p:nvSpPr>
          <p:cNvPr id="12" name="Analysis 1">
            <a:extLst xmlns:a="http://schemas.openxmlformats.org/drawingml/2006/main">
              <a:ext uri="{FF2B5EF4-FFF2-40B4-BE49-F238E27FC236}">
                <a16:creationId xmlns:a16="http://schemas.microsoft.com/office/drawing/2014/main" id="{9B4E7095-70BC-4A8C-8C05-6B2C4DE7F7E6}"/>
              </a:ext>
            </a:extLst>
          </p:cNvPr>
          <p:cNvSpPr>
            <a:spLocks xmlns:a="http://schemas.openxmlformats.org/drawingml/2006/main" noGrp="1"/>
          </p:cNvSpPr>
          <p:nvPr/>
        </p:nvSpPr>
        <p:spPr>
          <a:xfrm xmlns:a="http://schemas.openxmlformats.org/drawingml/2006/main">
            <a:off x="762000"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Catálogo.</a:t>
            </a:r>
            <a:r>
              <a:rPr sz="1725" b="0">
                <a:solidFill>
                  <a:srgbClr val="D0D8E6"/>
                </a:solidFill>
                <a:latin typeface="Arial"/>
                <a:ea typeface="Arial"/>
                <a:cs typeface="Arial"/>
              </a:rPr>
              <a:t> Escribir exige Admin y catalog.write. Un rol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por sí solo no satisface esta política.</a:t>
            </a:r>
          </a:p>
        </p:txBody>
      </p:sp>
      <p:sp>
        <p:nvSpPr>
          <p:cNvPr id="13" name="Analysis 2">
            <a:extLst xmlns:a="http://schemas.openxmlformats.org/drawingml/2006/main">
              <a:ext uri="{FF2B5EF4-FFF2-40B4-BE49-F238E27FC236}">
                <a16:creationId xmlns:a16="http://schemas.microsoft.com/office/drawing/2014/main" id="{1FC94C86-9F6E-4F96-B96A-3F4D9910E9A7}"/>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Pedidos.</a:t>
            </a:r>
            <a:r>
              <a:rPr sz="1725" b="0">
                <a:solidFill>
                  <a:srgbClr val="D0D8E6"/>
                </a:solidFill>
                <a:latin typeface="Arial"/>
                <a:ea typeface="Arial"/>
                <a:cs typeface="Arial"/>
              </a:rPr>
              <a:t> Crear o cancelar exige orders.read del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controller y orders.write de la acción. Los requisitos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se acumulan.</a:t>
            </a:r>
          </a:p>
        </p:txBody>
      </p:sp>
    </p:spTree>
    <p:extLst>
      <p:ext uri="{BB962C8B-B14F-4D97-AF65-F5344CB8AC3E}">
        <p14:creationId xmlns:p14="http://schemas.microsoft.com/office/powerpoint/2010/main" val="182498845"/>
      </p:ext>
    </p:extLst>
  </p:cSld>
</p:sld>
</file>

<file path=ppt/slides/slide3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5" name="Deep module">
            <a:extLst xmlns:a="http://schemas.openxmlformats.org/drawingml/2006/main">
              <a:ext uri="{FF2B5EF4-FFF2-40B4-BE49-F238E27FC236}">
                <a16:creationId xmlns:a16="http://schemas.microsoft.com/office/drawing/2014/main" id="{BD12A6D8-39CE-4799-9CC2-EEEC36C05C6A}"/>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06</a:t>
            </a:r>
          </a:p>
        </p:txBody>
      </p:sp>
      <p:sp>
        <p:nvSpPr>
          <p:cNvPr id="2" name="Deep title">
            <a:extLst xmlns:a="http://schemas.openxmlformats.org/drawingml/2006/main">
              <a:ext uri="{FF2B5EF4-FFF2-40B4-BE49-F238E27FC236}">
                <a16:creationId xmlns:a16="http://schemas.microsoft.com/office/drawing/2014/main" id="{6239ADBA-3230-46EC-A5B6-2AF572D0E101}"/>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Cada pedido pertenece a un sujeto</a:t>
            </a:r>
          </a:p>
        </p:txBody>
      </p:sp>
      <p:sp>
        <p:nvSpPr>
          <p:cNvPr id="3" name="Deep lead">
            <a:extLst xmlns:a="http://schemas.openxmlformats.org/drawingml/2006/main">
              <a:ext uri="{FF2B5EF4-FFF2-40B4-BE49-F238E27FC236}">
                <a16:creationId xmlns:a16="http://schemas.microsoft.com/office/drawing/2014/main" id="{03B6BEE9-1AC6-43ED-AFC8-DC4C266F1193}"/>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Conocer el identificador de un pedido no concede acceso. El caso de uso compara su dueño</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con la identidad validada.</a:t>
            </a:r>
          </a:p>
        </p:txBody>
      </p:sp>
      <p:sp>
        <p:nvSpPr>
          <p:cNvPr id="4" name="Code provenance">
            <a:extLst xmlns:a="http://schemas.openxmlformats.org/drawingml/2006/main">
              <a:ext uri="{FF2B5EF4-FFF2-40B4-BE49-F238E27FC236}">
                <a16:creationId xmlns:a16="http://schemas.microsoft.com/office/drawing/2014/main" id="{5E5EB85D-BCDE-4102-9281-8696302E4D9B}"/>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OrderHandlers.cs</a:t>
            </a:r>
          </a:p>
        </p:txBody>
      </p:sp>
      <p:sp>
        <p:nvSpPr>
          <p:cNvPr id="5" name="Code line 1">
            <a:extLst xmlns:a="http://schemas.openxmlformats.org/drawingml/2006/main">
              <a:ext uri="{FF2B5EF4-FFF2-40B4-BE49-F238E27FC236}">
                <a16:creationId xmlns:a16="http://schemas.microsoft.com/office/drawing/2014/main" id="{F867E9C5-F998-40C9-B24A-5426BCAFBB2E}"/>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order = await orders.GetByIdAsync(</a:t>
            </a:r>
          </a:p>
        </p:txBody>
      </p:sp>
      <p:sp>
        <p:nvSpPr>
          <p:cNvPr id="6" name="Code line 2">
            <a:extLst xmlns:a="http://schemas.openxmlformats.org/drawingml/2006/main">
              <a:ext uri="{FF2B5EF4-FFF2-40B4-BE49-F238E27FC236}">
                <a16:creationId xmlns:a16="http://schemas.microsoft.com/office/drawing/2014/main" id="{700A802D-E9C5-404D-B92C-96F99B7EFC40}"/>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request.Id, cancellationToken);</a:t>
            </a:r>
          </a:p>
        </p:txBody>
      </p:sp>
      <p:sp>
        <p:nvSpPr>
          <p:cNvPr id="7" name="Code line 3">
            <a:extLst xmlns:a="http://schemas.openxmlformats.org/drawingml/2006/main">
              <a:ext uri="{FF2B5EF4-FFF2-40B4-BE49-F238E27FC236}">
                <a16:creationId xmlns:a16="http://schemas.microsoft.com/office/drawing/2014/main" id="{7298F5B6-D035-45CD-A459-A36200E224C5}"/>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if (order is null)</a:t>
            </a:r>
          </a:p>
        </p:txBody>
      </p:sp>
      <p:sp>
        <p:nvSpPr>
          <p:cNvPr id="8" name="Code line 4">
            <a:extLst xmlns:a="http://schemas.openxmlformats.org/drawingml/2006/main">
              <a:ext uri="{FF2B5EF4-FFF2-40B4-BE49-F238E27FC236}">
                <a16:creationId xmlns:a16="http://schemas.microsoft.com/office/drawing/2014/main" id="{D2D16509-E548-414F-929D-4AEC916F44D7}"/>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return Result&lt;OrderDto&gt;.Failure(Error.NotFound("el pedido"));</a:t>
            </a:r>
          </a:p>
        </p:txBody>
      </p:sp>
      <p:sp>
        <p:nvSpPr>
          <p:cNvPr id="9" name="Code line 5">
            <a:extLst xmlns:a="http://schemas.openxmlformats.org/drawingml/2006/main">
              <a:ext uri="{FF2B5EF4-FFF2-40B4-BE49-F238E27FC236}">
                <a16:creationId xmlns:a16="http://schemas.microsoft.com/office/drawing/2014/main" id="{C6C0E64C-E8B5-4202-84D7-752913AFCEA7}"/>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if (!string.Equals(order.CustomerId, request.CustomerId,</a:t>
            </a:r>
          </a:p>
        </p:txBody>
      </p:sp>
      <p:sp>
        <p:nvSpPr>
          <p:cNvPr id="10" name="Code line 6">
            <a:extLst xmlns:a="http://schemas.openxmlformats.org/drawingml/2006/main">
              <a:ext uri="{FF2B5EF4-FFF2-40B4-BE49-F238E27FC236}">
                <a16:creationId xmlns:a16="http://schemas.microsoft.com/office/drawing/2014/main" id="{DCF174CC-2336-4266-8BE2-9A04550C7899}"/>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StringComparison.Ordinal))</a:t>
            </a:r>
          </a:p>
        </p:txBody>
      </p:sp>
      <p:sp>
        <p:nvSpPr>
          <p:cNvPr id="11" name="Code line 7">
            <a:extLst xmlns:a="http://schemas.openxmlformats.org/drawingml/2006/main">
              <a:ext uri="{FF2B5EF4-FFF2-40B4-BE49-F238E27FC236}">
                <a16:creationId xmlns:a16="http://schemas.microsoft.com/office/drawing/2014/main" id="{69267B8A-3136-49A9-A8BD-8B97ADCAD699}"/>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return Result&lt;OrderDto&gt;.Failure(Error.Forbidden());</a:t>
            </a:r>
          </a:p>
        </p:txBody>
      </p:sp>
      <p:sp>
        <p:nvSpPr>
          <p:cNvPr id="12" name="Code line 8">
            <a:extLst xmlns:a="http://schemas.openxmlformats.org/drawingml/2006/main">
              <a:ext uri="{FF2B5EF4-FFF2-40B4-BE49-F238E27FC236}">
                <a16:creationId xmlns:a16="http://schemas.microsoft.com/office/drawing/2014/main" id="{DF7D2E03-EC45-4019-B4DF-CF834C37968D}"/>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return Result&lt;OrderDto&gt;.Success(OrderDto.From(order));</a:t>
            </a:r>
          </a:p>
        </p:txBody>
      </p:sp>
      <p:sp>
        <p:nvSpPr>
          <p:cNvPr id="13" name="Analysis 1">
            <a:extLst xmlns:a="http://schemas.openxmlformats.org/drawingml/2006/main">
              <a:ext uri="{FF2B5EF4-FFF2-40B4-BE49-F238E27FC236}">
                <a16:creationId xmlns:a16="http://schemas.microsoft.com/office/drawing/2014/main" id="{7C6F89AC-1FFE-4AE6-9E27-12BF6D23B089}"/>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Origen confiable.</a:t>
            </a:r>
            <a:r>
              <a:rPr sz="1725" b="0">
                <a:solidFill>
                  <a:srgbClr val="D0D8E6"/>
                </a:solidFill>
                <a:latin typeface="Arial"/>
                <a:ea typeface="Arial"/>
                <a:cs typeface="Arial"/>
              </a:rPr>
              <a:t> OrdersController toma CustomerId</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del claim sub validado. El cliente no elige al dueño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desde el JSON.</a:t>
            </a:r>
          </a:p>
        </p:txBody>
      </p:sp>
      <p:sp>
        <p:nvSpPr>
          <p:cNvPr id="14" name="Analysis 2">
            <a:extLst xmlns:a="http://schemas.openxmlformats.org/drawingml/2006/main">
              <a:ext uri="{FF2B5EF4-FFF2-40B4-BE49-F238E27FC236}">
                <a16:creationId xmlns:a16="http://schemas.microsoft.com/office/drawing/2014/main" id="{4B223769-6A06-4637-BE32-3B963C109990}"/>
              </a:ext>
            </a:extLst>
          </p:cNvPr>
          <p:cNvSpPr>
            <a:spLocks xmlns:a="http://schemas.openxmlformats.org/drawingml/2006/main" noGrp="1"/>
          </p:cNvSpPr>
          <p:nvPr/>
        </p:nvSpPr>
        <p:spPr>
          <a:xfrm xmlns:a="http://schemas.openxmlformats.org/drawingml/2006/main">
            <a:off x="6238875" y="5581650"/>
            <a:ext cx="5191125"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Prueba adversa.</a:t>
            </a:r>
            <a:r>
              <a:rPr sz="1725" b="0">
                <a:solidFill>
                  <a:srgbClr val="D0D8E6"/>
                </a:solidFill>
                <a:latin typeface="Arial"/>
                <a:ea typeface="Arial"/>
                <a:cs typeface="Arial"/>
              </a:rPr>
              <a:t> El token de Luis intenta leer 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pedido de Ana: 403. También se verifica al cancelar.</a:t>
            </a:r>
          </a:p>
        </p:txBody>
      </p:sp>
    </p:spTree>
    <p:extLst>
      <p:ext uri="{BB962C8B-B14F-4D97-AF65-F5344CB8AC3E}">
        <p14:creationId xmlns:p14="http://schemas.microsoft.com/office/powerpoint/2010/main" val="1188869739"/>
      </p:ext>
    </p:extLst>
  </p:cSld>
</p:sld>
</file>

<file path=ppt/slides/slide40.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8A6F5F96-85DC-49CC-A0F4-77EDF1ADCB4A}"/>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07</a:t>
            </a:r>
          </a:p>
        </p:txBody>
      </p:sp>
      <p:sp>
        <p:nvSpPr>
          <p:cNvPr id="3" name="Class title">
            <a:extLst xmlns:a="http://schemas.openxmlformats.org/drawingml/2006/main">
              <a:ext uri="{FF2B5EF4-FFF2-40B4-BE49-F238E27FC236}">
                <a16:creationId xmlns:a16="http://schemas.microsoft.com/office/drawing/2014/main" id="{5569EB11-8F95-46E0-8954-82D1917B4F3D}"/>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Calidad y pruebas</a:t>
            </a:r>
          </a:p>
        </p:txBody>
      </p:sp>
      <p:sp>
        <p:nvSpPr>
          <p:cNvPr id="5" name="Learning outcome">
            <a:extLst xmlns:a="http://schemas.openxmlformats.org/drawingml/2006/main">
              <a:ext uri="{FF2B5EF4-FFF2-40B4-BE49-F238E27FC236}">
                <a16:creationId xmlns:a16="http://schemas.microsoft.com/office/drawing/2014/main" id="{156C5A05-814C-4C5B-A00B-63FA619FB5CB}"/>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Pruebas unitarias y de integración</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para detectar errores.</a:t>
            </a:r>
          </a:p>
        </p:txBody>
      </p:sp>
      <p:sp>
        <p:nvSpPr>
          <p:cNvPr id="7" name="Practice outcome">
            <a:extLst xmlns:a="http://schemas.openxmlformats.org/drawingml/2006/main">
              <a:ext uri="{FF2B5EF4-FFF2-40B4-BE49-F238E27FC236}">
                <a16:creationId xmlns:a16="http://schemas.microsoft.com/office/drawing/2014/main" id="{A396771D-6544-4E4D-BF75-545459297E5F}"/>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Verificar reglas y API.</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Mejorar código con pruebas que lo respalden.</a:t>
            </a:r>
          </a:p>
        </p:txBody>
      </p:sp>
      <p:sp>
        <p:nvSpPr>
          <p:cNvPr id="9" name="Module context">
            <a:extLst xmlns:a="http://schemas.openxmlformats.org/drawingml/2006/main">
              <a:ext uri="{FF2B5EF4-FFF2-40B4-BE49-F238E27FC236}">
                <a16:creationId xmlns:a16="http://schemas.microsoft.com/office/drawing/2014/main" id="{2ED2A792-6946-498C-B877-86F299CD7624}"/>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Las pruebas comprueban el comportamiento esperado.</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Al modificar código, ayudan a detectar si dañamos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una función que ya trabajaba correctamente.</a:t>
            </a:r>
          </a:p>
        </p:txBody>
      </p:sp>
    </p:spTree>
    <p:extLst>
      <p:ext uri="{BB962C8B-B14F-4D97-AF65-F5344CB8AC3E}">
        <p14:creationId xmlns:p14="http://schemas.microsoft.com/office/powerpoint/2010/main" val="1137106810"/>
      </p:ext>
    </p:extLst>
  </p:cSld>
</p:sld>
</file>

<file path=ppt/slides/slide4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8CBD69E4-DD86-46A6-91A4-81FB5FC43E69}"/>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07</a:t>
            </a:r>
          </a:p>
        </p:txBody>
      </p:sp>
      <p:sp>
        <p:nvSpPr>
          <p:cNvPr id="2" name="Concept title">
            <a:extLst xmlns:a="http://schemas.openxmlformats.org/drawingml/2006/main">
              <a:ext uri="{FF2B5EF4-FFF2-40B4-BE49-F238E27FC236}">
                <a16:creationId xmlns:a16="http://schemas.microsoft.com/office/drawing/2014/main" id="{7C9898FC-B66D-47BC-AEB8-3A716D5644A7}"/>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Pruebas unitarias e integración</a:t>
            </a:r>
          </a:p>
        </p:txBody>
      </p:sp>
      <p:sp>
        <p:nvSpPr>
          <p:cNvPr id="3" name="Concept definition">
            <a:extLst xmlns:a="http://schemas.openxmlformats.org/drawingml/2006/main">
              <a:ext uri="{FF2B5EF4-FFF2-40B4-BE49-F238E27FC236}">
                <a16:creationId xmlns:a16="http://schemas.microsoft.com/office/drawing/2014/main" id="{5342354A-5888-48A4-929C-D9DA44EE3C84}"/>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Una prueba unitaria revisa una regla de forma aislada.</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Una prueba de integración comprueba que varias partes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colaboran correctamente, por ejemplo la API y la base.</a:t>
            </a:r>
          </a:p>
        </p:txBody>
      </p:sp>
      <p:sp>
        <p:nvSpPr>
          <p:cNvPr id="4" name="Concept explanation">
            <a:extLst xmlns:a="http://schemas.openxmlformats.org/drawingml/2006/main">
              <a:ext uri="{FF2B5EF4-FFF2-40B4-BE49-F238E27FC236}">
                <a16:creationId xmlns:a16="http://schemas.microsoft.com/office/drawing/2014/main" id="{B618B54B-F7EF-459A-8329-58A889DE0D88}"/>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AAA = Arrange, Act, Assert:</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preparar datos, ejecutar una acción y comprobar el resultado.</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Una prueba de regresión detecta si reaparece un defecto corregido.</a:t>
            </a:r>
          </a:p>
        </p:txBody>
      </p:sp>
      <p:sp>
        <p:nvSpPr>
          <p:cNvPr id="5" name="Concept example label">
            <a:extLst xmlns:a="http://schemas.openxmlformats.org/drawingml/2006/main">
              <a:ext uri="{FF2B5EF4-FFF2-40B4-BE49-F238E27FC236}">
                <a16:creationId xmlns:a16="http://schemas.microsoft.com/office/drawing/2014/main" id="{0B9AAD81-ABAF-48A2-9221-B5263EEA2400}"/>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0C9318B3-DDDC-4B2D-BA57-DACC676A36DB}"/>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Comprobaremos que una cantidad cero se rechaza</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y que un usuario no puede consultar pedidos ajenos.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La cobertura mide cuánto código ejecutan las pruebas.</a:t>
            </a:r>
          </a:p>
        </p:txBody>
      </p:sp>
    </p:spTree>
    <p:extLst>
      <p:ext uri="{BB962C8B-B14F-4D97-AF65-F5344CB8AC3E}">
        <p14:creationId xmlns:p14="http://schemas.microsoft.com/office/powerpoint/2010/main" val="317802464"/>
      </p:ext>
    </p:extLst>
  </p:cSld>
</p:sld>
</file>

<file path=ppt/slides/slide42.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8" name="Deep module">
            <a:extLst xmlns:a="http://schemas.openxmlformats.org/drawingml/2006/main">
              <a:ext uri="{FF2B5EF4-FFF2-40B4-BE49-F238E27FC236}">
                <a16:creationId xmlns:a16="http://schemas.microsoft.com/office/drawing/2014/main" id="{C24159DB-A17D-4A68-9E23-26215FD9DB0F}"/>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07</a:t>
            </a:r>
          </a:p>
        </p:txBody>
      </p:sp>
      <p:sp>
        <p:nvSpPr>
          <p:cNvPr id="2" name="Deep title">
            <a:extLst xmlns:a="http://schemas.openxmlformats.org/drawingml/2006/main">
              <a:ext uri="{FF2B5EF4-FFF2-40B4-BE49-F238E27FC236}">
                <a16:creationId xmlns:a16="http://schemas.microsoft.com/office/drawing/2014/main" id="{8E2AC745-2D35-4685-9D6C-A67A160CDE50}"/>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La prueba protege una frontera</a:t>
            </a:r>
          </a:p>
        </p:txBody>
      </p:sp>
      <p:sp>
        <p:nvSpPr>
          <p:cNvPr id="3" name="Deep lead">
            <a:extLst xmlns:a="http://schemas.openxmlformats.org/drawingml/2006/main">
              <a:ext uri="{FF2B5EF4-FFF2-40B4-BE49-F238E27FC236}">
                <a16:creationId xmlns:a16="http://schemas.microsoft.com/office/drawing/2014/main" id="{A8F759F0-328D-43AA-83C7-1475CBCBDDEA}"/>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cantidad válida está entre 1 y 100. Probar ambos lados del límite detecta errores que un</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caso feliz deja pasar.</a:t>
            </a:r>
          </a:p>
        </p:txBody>
      </p:sp>
      <p:sp>
        <p:nvSpPr>
          <p:cNvPr id="4" name="Code provenance">
            <a:extLst xmlns:a="http://schemas.openxmlformats.org/drawingml/2006/main">
              <a:ext uri="{FF2B5EF4-FFF2-40B4-BE49-F238E27FC236}">
                <a16:creationId xmlns:a16="http://schemas.microsoft.com/office/drawing/2014/main" id="{35D98B92-2F4B-40D5-88AD-8D9FEC3E5883}"/>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OrderTests.cs</a:t>
            </a:r>
          </a:p>
        </p:txBody>
      </p:sp>
      <p:sp>
        <p:nvSpPr>
          <p:cNvPr id="5" name="Code line 1">
            <a:extLst xmlns:a="http://schemas.openxmlformats.org/drawingml/2006/main">
              <a:ext uri="{FF2B5EF4-FFF2-40B4-BE49-F238E27FC236}">
                <a16:creationId xmlns:a16="http://schemas.microsoft.com/office/drawing/2014/main" id="{35759E36-20EA-41FC-A907-E145F1A3A2B2}"/>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[Theory]</a:t>
            </a:r>
          </a:p>
        </p:txBody>
      </p:sp>
      <p:sp>
        <p:nvSpPr>
          <p:cNvPr id="6" name="Code line 2">
            <a:extLst xmlns:a="http://schemas.openxmlformats.org/drawingml/2006/main">
              <a:ext uri="{FF2B5EF4-FFF2-40B4-BE49-F238E27FC236}">
                <a16:creationId xmlns:a16="http://schemas.microsoft.com/office/drawing/2014/main" id="{8F04FA2A-368A-4211-900B-CBBA3BDE218C}"/>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[InlineData(0)]</a:t>
            </a:r>
          </a:p>
        </p:txBody>
      </p:sp>
      <p:sp>
        <p:nvSpPr>
          <p:cNvPr id="7" name="Code line 3">
            <a:extLst xmlns:a="http://schemas.openxmlformats.org/drawingml/2006/main">
              <a:ext uri="{FF2B5EF4-FFF2-40B4-BE49-F238E27FC236}">
                <a16:creationId xmlns:a16="http://schemas.microsoft.com/office/drawing/2014/main" id="{BA9EA467-F865-457D-A1DF-E03823AC723E}"/>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[InlineData(-1)]</a:t>
            </a:r>
          </a:p>
        </p:txBody>
      </p:sp>
      <p:sp>
        <p:nvSpPr>
          <p:cNvPr id="8" name="Code line 4">
            <a:extLst xmlns:a="http://schemas.openxmlformats.org/drawingml/2006/main">
              <a:ext uri="{FF2B5EF4-FFF2-40B4-BE49-F238E27FC236}">
                <a16:creationId xmlns:a16="http://schemas.microsoft.com/office/drawing/2014/main" id="{4E6F5180-ABB7-4B9A-B3B4-5D39A3DFE949}"/>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[InlineData(101)]</a:t>
            </a:r>
          </a:p>
        </p:txBody>
      </p:sp>
      <p:sp>
        <p:nvSpPr>
          <p:cNvPr id="9" name="Code line 5">
            <a:extLst xmlns:a="http://schemas.openxmlformats.org/drawingml/2006/main">
              <a:ext uri="{FF2B5EF4-FFF2-40B4-BE49-F238E27FC236}">
                <a16:creationId xmlns:a16="http://schemas.microsoft.com/office/drawing/2014/main" id="{C35BE302-99B4-40E1-8374-8574328EFE3D}"/>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public void OrderItem_rejects_invalid_quantity(int quantity)</a:t>
            </a:r>
          </a:p>
        </p:txBody>
      </p:sp>
      <p:sp>
        <p:nvSpPr>
          <p:cNvPr id="10" name="Code line 6">
            <a:extLst xmlns:a="http://schemas.openxmlformats.org/drawingml/2006/main">
              <a:ext uri="{FF2B5EF4-FFF2-40B4-BE49-F238E27FC236}">
                <a16:creationId xmlns:a16="http://schemas.microsoft.com/office/drawing/2014/main" id="{D6400CEC-CEA1-411B-B50E-0E2E475FADD8}"/>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11" name="Code line 7">
            <a:extLst xmlns:a="http://schemas.openxmlformats.org/drawingml/2006/main">
              <a:ext uri="{FF2B5EF4-FFF2-40B4-BE49-F238E27FC236}">
                <a16:creationId xmlns:a16="http://schemas.microsoft.com/office/drawing/2014/main" id="{38069528-8F2C-490E-8D8E-75CF07F02B5F}"/>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var product = Product.Create(</a:t>
            </a:r>
          </a:p>
        </p:txBody>
      </p:sp>
      <p:sp>
        <p:nvSpPr>
          <p:cNvPr id="12" name="Code line 8">
            <a:extLst xmlns:a="http://schemas.openxmlformats.org/drawingml/2006/main">
              <a:ext uri="{FF2B5EF4-FFF2-40B4-BE49-F238E27FC236}">
                <a16:creationId xmlns:a16="http://schemas.microsoft.com/office/drawing/2014/main" id="{2DD92DA3-8AB8-4564-A2CF-2F58CE95EB4E}"/>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"ABC", "Producto", 1);</a:t>
            </a:r>
          </a:p>
        </p:txBody>
      </p:sp>
      <p:sp>
        <p:nvSpPr>
          <p:cNvPr id="13" name="Code line 9">
            <a:extLst xmlns:a="http://schemas.openxmlformats.org/drawingml/2006/main">
              <a:ext uri="{FF2B5EF4-FFF2-40B4-BE49-F238E27FC236}">
                <a16:creationId xmlns:a16="http://schemas.microsoft.com/office/drawing/2014/main" id="{B74F0817-2D26-4500-B511-003081B7618C}"/>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Assert.Throws&lt;DomainValidationException&gt;(</a:t>
            </a:r>
          </a:p>
        </p:txBody>
      </p:sp>
      <p:sp>
        <p:nvSpPr>
          <p:cNvPr id="14" name="Code line 10">
            <a:extLst xmlns:a="http://schemas.openxmlformats.org/drawingml/2006/main">
              <a:ext uri="{FF2B5EF4-FFF2-40B4-BE49-F238E27FC236}">
                <a16:creationId xmlns:a16="http://schemas.microsoft.com/office/drawing/2014/main" id="{FAEA297D-51D4-48C4-AB0F-5AFE5C6E6666}"/>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=&gt; OrderItem.Create(product, quantity));</a:t>
            </a:r>
          </a:p>
        </p:txBody>
      </p:sp>
      <p:sp>
        <p:nvSpPr>
          <p:cNvPr id="15" name="Code line 11">
            <a:extLst xmlns:a="http://schemas.openxmlformats.org/drawingml/2006/main">
              <a:ext uri="{FF2B5EF4-FFF2-40B4-BE49-F238E27FC236}">
                <a16:creationId xmlns:a16="http://schemas.microsoft.com/office/drawing/2014/main" id="{A68C6640-78EC-4EEA-8CA1-A144C6435E0E}"/>
              </a:ext>
            </a:extLst>
          </p:cNvPr>
          <p:cNvSpPr>
            <a:spLocks xmlns:a="http://schemas.openxmlformats.org/drawingml/2006/main" noGrp="1"/>
          </p:cNvSpPr>
          <p:nvPr/>
        </p:nvSpPr>
        <p:spPr>
          <a:xfrm xmlns:a="http://schemas.openxmlformats.org/drawingml/2006/main">
            <a:off x="781050" y="51435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16" name="Analysis 1">
            <a:extLst xmlns:a="http://schemas.openxmlformats.org/drawingml/2006/main">
              <a:ext uri="{FF2B5EF4-FFF2-40B4-BE49-F238E27FC236}">
                <a16:creationId xmlns:a16="http://schemas.microsoft.com/office/drawing/2014/main" id="{637147F7-26E9-4DFF-A606-387BCCF65EFB}"/>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Entrada y consecuencia.</a:t>
            </a:r>
            <a:r>
              <a:rPr sz="1725" b="0">
                <a:solidFill>
                  <a:srgbClr val="D0D8E6"/>
                </a:solidFill>
                <a:latin typeface="Arial"/>
                <a:ea typeface="Arial"/>
                <a:cs typeface="Arial"/>
              </a:rPr>
              <a:t> Cada dato inválido debe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producir DomainValidationException. Comprobar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sólo que existe un resultado no protege esta regla.</a:t>
            </a:r>
          </a:p>
        </p:txBody>
      </p:sp>
      <p:sp>
        <p:nvSpPr>
          <p:cNvPr id="17" name="Analysis 2">
            <a:extLst xmlns:a="http://schemas.openxmlformats.org/drawingml/2006/main">
              <a:ext uri="{FF2B5EF4-FFF2-40B4-BE49-F238E27FC236}">
                <a16:creationId xmlns:a16="http://schemas.microsoft.com/office/drawing/2014/main" id="{0621551C-4AD7-4E2E-95BE-D1D32D286EA9}"/>
              </a:ext>
            </a:extLst>
          </p:cNvPr>
          <p:cNvSpPr>
            <a:spLocks xmlns:a="http://schemas.openxmlformats.org/drawingml/2006/main" noGrp="1"/>
          </p:cNvSpPr>
          <p:nvPr/>
        </p:nvSpPr>
        <p:spPr>
          <a:xfrm xmlns:a="http://schemas.openxmlformats.org/drawingml/2006/main">
            <a:off x="6238875" y="5581650"/>
            <a:ext cx="5191125"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Los extremos válidos también cuentan.</a:t>
            </a:r>
            <a:r>
              <a:rPr sz="1725" b="0">
                <a:solidFill>
                  <a:srgbClr val="D0D8E6"/>
                </a:solidFill>
                <a:latin typeface="Arial"/>
                <a:ea typeface="Arial"/>
                <a:cs typeface="Arial"/>
              </a:rPr>
              <a:t> Otro test</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acepta 1 y 100. Así evitamos corregir el rechazo de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cero prohibiendo accidentalmente cantidades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permitidas.</a:t>
            </a:r>
          </a:p>
        </p:txBody>
      </p:sp>
    </p:spTree>
    <p:extLst>
      <p:ext uri="{BB962C8B-B14F-4D97-AF65-F5344CB8AC3E}">
        <p14:creationId xmlns:p14="http://schemas.microsoft.com/office/powerpoint/2010/main" val="361994419"/>
      </p:ext>
    </p:extLst>
  </p:cSld>
</p:sld>
</file>

<file path=ppt/slides/slide43.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96FE551E-7852-4F4E-B2E2-848A633D1F0D}"/>
              </a:ext>
            </a:extLst>
          </p:cNvPr>
          <p:cNvCxnSpPr>
            <a:stCxn xmlns:a="http://schemas.openxmlformats.org/drawingml/2006/main" id="13" idx="3"/>
            <a:endCxn xmlns:a="http://schemas.openxmlformats.org/drawingml/2006/main" id="16" idx="1"/>
          </p:cNvCxnSpPr>
          <p:nvPr/>
        </p:nvCxnSpPr>
        <p:spPr>
          <a:xfrm xmlns:a="http://schemas.openxmlformats.org/drawingml/2006/main">
            <a:off x="9215438"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3" name="">
            <a:extLst xmlns:a="http://schemas.openxmlformats.org/drawingml/2006/main">
              <a:ext uri="{FF2B5EF4-FFF2-40B4-BE49-F238E27FC236}">
                <a16:creationId xmlns:a16="http://schemas.microsoft.com/office/drawing/2014/main" id="{42327BB9-5C3C-4B13-9210-289A59E941E0}"/>
              </a:ext>
            </a:extLst>
          </p:cNvPr>
          <p:cNvCxnSpPr>
            <a:stCxn xmlns:a="http://schemas.openxmlformats.org/drawingml/2006/main" id="10" idx="3"/>
            <a:endCxn xmlns:a="http://schemas.openxmlformats.org/drawingml/2006/main" id="13" idx="1"/>
          </p:cNvCxnSpPr>
          <p:nvPr/>
        </p:nvCxnSpPr>
        <p:spPr>
          <a:xfrm xmlns:a="http://schemas.openxmlformats.org/drawingml/2006/main">
            <a:off x="7000875"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1" name="">
            <a:extLst xmlns:a="http://schemas.openxmlformats.org/drawingml/2006/main">
              <a:ext uri="{FF2B5EF4-FFF2-40B4-BE49-F238E27FC236}">
                <a16:creationId xmlns:a16="http://schemas.microsoft.com/office/drawing/2014/main" id="{064DBA73-93EC-4319-A26C-3BBF0ACA3634}"/>
              </a:ext>
            </a:extLst>
          </p:cNvPr>
          <p:cNvCxnSpPr>
            <a:stCxn xmlns:a="http://schemas.openxmlformats.org/drawingml/2006/main" id="7" idx="3"/>
            <a:endCxn xmlns:a="http://schemas.openxmlformats.org/drawingml/2006/main" id="10" idx="1"/>
          </p:cNvCxnSpPr>
          <p:nvPr/>
        </p:nvCxnSpPr>
        <p:spPr>
          <a:xfrm xmlns:a="http://schemas.openxmlformats.org/drawingml/2006/main">
            <a:off x="4786313"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9" name="">
            <a:extLst xmlns:a="http://schemas.openxmlformats.org/drawingml/2006/main">
              <a:ext uri="{FF2B5EF4-FFF2-40B4-BE49-F238E27FC236}">
                <a16:creationId xmlns:a16="http://schemas.microsoft.com/office/drawing/2014/main" id="{6BA3234F-22CD-49B2-BD8F-64E013EFE470}"/>
              </a:ext>
            </a:extLst>
          </p:cNvPr>
          <p:cNvCxnSpPr>
            <a:stCxn xmlns:a="http://schemas.openxmlformats.org/drawingml/2006/main" id="4" idx="3"/>
            <a:endCxn xmlns:a="http://schemas.openxmlformats.org/drawingml/2006/main" id="7" idx="1"/>
          </p:cNvCxnSpPr>
          <p:nvPr/>
        </p:nvCxnSpPr>
        <p:spPr>
          <a:xfrm xmlns:a="http://schemas.openxmlformats.org/drawingml/2006/main">
            <a:off x="2571750"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9" name="Deep module">
            <a:extLst xmlns:a="http://schemas.openxmlformats.org/drawingml/2006/main">
              <a:ext uri="{FF2B5EF4-FFF2-40B4-BE49-F238E27FC236}">
                <a16:creationId xmlns:a16="http://schemas.microsoft.com/office/drawing/2014/main" id="{A927CDB2-2FA2-47F3-94DA-6560ABD875E5}"/>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07</a:t>
            </a:r>
          </a:p>
        </p:txBody>
      </p:sp>
      <p:sp>
        <p:nvSpPr>
          <p:cNvPr id="2" name="Deep title">
            <a:extLst xmlns:a="http://schemas.openxmlformats.org/drawingml/2006/main">
              <a:ext uri="{FF2B5EF4-FFF2-40B4-BE49-F238E27FC236}">
                <a16:creationId xmlns:a16="http://schemas.microsoft.com/office/drawing/2014/main" id="{F945399B-BFDB-4760-8B5C-6A10915D2B55}"/>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Una petición real dentro de la prueba</a:t>
            </a:r>
          </a:p>
        </p:txBody>
      </p:sp>
      <p:sp>
        <p:nvSpPr>
          <p:cNvPr id="3" name="Deep lead">
            <a:extLst xmlns:a="http://schemas.openxmlformats.org/drawingml/2006/main">
              <a:ext uri="{FF2B5EF4-FFF2-40B4-BE49-F238E27FC236}">
                <a16:creationId xmlns:a16="http://schemas.microsoft.com/office/drawing/2014/main" id="{F6A55DCD-1596-4CB7-8D23-A6103100298B}"/>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El test de integración recorre autenticación, contrato HTTP y persistencia. El objetivo es</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comprobar que las piezas colaboran con una identidad concreta.</a:t>
            </a:r>
          </a:p>
        </p:txBody>
      </p:sp>
      <p:sp>
        <p:nvSpPr>
          <p:cNvPr id="4" name="Diagram node client">
            <a:extLst xmlns:a="http://schemas.openxmlformats.org/drawingml/2006/main">
              <a:ext uri="{FF2B5EF4-FFF2-40B4-BE49-F238E27FC236}">
                <a16:creationId xmlns:a16="http://schemas.microsoft.com/office/drawing/2014/main" id="{CCEF4AF1-2585-4656-81A4-909FC473799E}"/>
              </a:ext>
            </a:extLst>
          </p:cNvPr>
          <p:cNvSpPr>
            <a:spLocks xmlns:a="http://schemas.openxmlformats.org/drawingml/2006/main" noGrp="1"/>
          </p:cNvSpPr>
          <p:nvPr/>
        </p:nvSpPr>
        <p:spPr>
          <a:xfrm xmlns:a="http://schemas.openxmlformats.org/drawingml/2006/main">
            <a:off x="76200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client">
            <a:extLst xmlns:a="http://schemas.openxmlformats.org/drawingml/2006/main">
              <a:ext uri="{FF2B5EF4-FFF2-40B4-BE49-F238E27FC236}">
                <a16:creationId xmlns:a16="http://schemas.microsoft.com/office/drawing/2014/main" id="{E5563666-A0E7-41CF-BEFC-9436EFBD92D7}"/>
              </a:ext>
            </a:extLst>
          </p:cNvPr>
          <p:cNvSpPr>
            <a:spLocks xmlns:a="http://schemas.openxmlformats.org/drawingml/2006/main" noGrp="1"/>
          </p:cNvSpPr>
          <p:nvPr/>
        </p:nvSpPr>
        <p:spPr>
          <a:xfrm xmlns:a="http://schemas.openxmlformats.org/drawingml/2006/main">
            <a:off x="876300"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Cliente HTTP</a:t>
            </a:r>
          </a:p>
        </p:txBody>
      </p:sp>
      <p:sp>
        <p:nvSpPr>
          <p:cNvPr id="6" name="Node detail client">
            <a:extLst xmlns:a="http://schemas.openxmlformats.org/drawingml/2006/main">
              <a:ext uri="{FF2B5EF4-FFF2-40B4-BE49-F238E27FC236}">
                <a16:creationId xmlns:a16="http://schemas.microsoft.com/office/drawing/2014/main" id="{D3F7C9FC-F304-49F0-BC83-A97538779E3C}"/>
              </a:ext>
            </a:extLst>
          </p:cNvPr>
          <p:cNvSpPr>
            <a:spLocks xmlns:a="http://schemas.openxmlformats.org/drawingml/2006/main" noGrp="1"/>
          </p:cNvSpPr>
          <p:nvPr/>
        </p:nvSpPr>
        <p:spPr>
          <a:xfrm xmlns:a="http://schemas.openxmlformats.org/drawingml/2006/main">
            <a:off x="876300" y="35814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Token propio 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de otro usuario</a:t>
            </a:r>
          </a:p>
        </p:txBody>
      </p:sp>
      <p:sp>
        <p:nvSpPr>
          <p:cNvPr id="7" name="Diagram node host">
            <a:extLst xmlns:a="http://schemas.openxmlformats.org/drawingml/2006/main">
              <a:ext uri="{FF2B5EF4-FFF2-40B4-BE49-F238E27FC236}">
                <a16:creationId xmlns:a16="http://schemas.microsoft.com/office/drawing/2014/main" id="{05276F89-FD90-455C-B75F-0CBA88D66486}"/>
              </a:ext>
            </a:extLst>
          </p:cNvPr>
          <p:cNvSpPr>
            <a:spLocks xmlns:a="http://schemas.openxmlformats.org/drawingml/2006/main" noGrp="1"/>
          </p:cNvSpPr>
          <p:nvPr/>
        </p:nvSpPr>
        <p:spPr>
          <a:xfrm xmlns:a="http://schemas.openxmlformats.org/drawingml/2006/main">
            <a:off x="2976563"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host">
            <a:extLst xmlns:a="http://schemas.openxmlformats.org/drawingml/2006/main">
              <a:ext uri="{FF2B5EF4-FFF2-40B4-BE49-F238E27FC236}">
                <a16:creationId xmlns:a16="http://schemas.microsoft.com/office/drawing/2014/main" id="{8AC9715D-6F10-4A3B-B360-CBD85BBCEF32}"/>
              </a:ext>
            </a:extLst>
          </p:cNvPr>
          <p:cNvSpPr>
            <a:spLocks xmlns:a="http://schemas.openxmlformats.org/drawingml/2006/main" noGrp="1"/>
          </p:cNvSpPr>
          <p:nvPr/>
        </p:nvSpPr>
        <p:spPr>
          <a:xfrm xmlns:a="http://schemas.openxmlformats.org/drawingml/2006/main">
            <a:off x="3090863"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Host de</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prueba</a:t>
            </a:r>
          </a:p>
        </p:txBody>
      </p:sp>
      <p:sp>
        <p:nvSpPr>
          <p:cNvPr id="9" name="Node detail host">
            <a:extLst xmlns:a="http://schemas.openxmlformats.org/drawingml/2006/main">
              <a:ext uri="{FF2B5EF4-FFF2-40B4-BE49-F238E27FC236}">
                <a16:creationId xmlns:a16="http://schemas.microsoft.com/office/drawing/2014/main" id="{D54249CE-B842-433E-BF2B-246FB3D90439}"/>
              </a:ext>
            </a:extLst>
          </p:cNvPr>
          <p:cNvSpPr>
            <a:spLocks xmlns:a="http://schemas.openxmlformats.org/drawingml/2006/main" noGrp="1"/>
          </p:cNvSpPr>
          <p:nvPr/>
        </p:nvSpPr>
        <p:spPr>
          <a:xfrm xmlns:a="http://schemas.openxmlformats.org/drawingml/2006/main">
            <a:off x="3090863"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Middleware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política reales</a:t>
            </a:r>
          </a:p>
        </p:txBody>
      </p:sp>
      <p:sp>
        <p:nvSpPr>
          <p:cNvPr id="10" name="Diagram node handler">
            <a:extLst xmlns:a="http://schemas.openxmlformats.org/drawingml/2006/main">
              <a:ext uri="{FF2B5EF4-FFF2-40B4-BE49-F238E27FC236}">
                <a16:creationId xmlns:a16="http://schemas.microsoft.com/office/drawing/2014/main" id="{8A4C9E9B-4F1C-4F66-84E8-69A49B083FF6}"/>
              </a:ext>
            </a:extLst>
          </p:cNvPr>
          <p:cNvSpPr>
            <a:spLocks xmlns:a="http://schemas.openxmlformats.org/drawingml/2006/main" noGrp="1"/>
          </p:cNvSpPr>
          <p:nvPr/>
        </p:nvSpPr>
        <p:spPr>
          <a:xfrm xmlns:a="http://schemas.openxmlformats.org/drawingml/2006/main">
            <a:off x="5191125"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handler">
            <a:extLst xmlns:a="http://schemas.openxmlformats.org/drawingml/2006/main">
              <a:ext uri="{FF2B5EF4-FFF2-40B4-BE49-F238E27FC236}">
                <a16:creationId xmlns:a16="http://schemas.microsoft.com/office/drawing/2014/main" id="{7E2A0A17-AE6E-4A0F-BF78-F27C50FA997F}"/>
              </a:ext>
            </a:extLst>
          </p:cNvPr>
          <p:cNvSpPr>
            <a:spLocks xmlns:a="http://schemas.openxmlformats.org/drawingml/2006/main" noGrp="1"/>
          </p:cNvSpPr>
          <p:nvPr/>
        </p:nvSpPr>
        <p:spPr>
          <a:xfrm xmlns:a="http://schemas.openxmlformats.org/drawingml/2006/main">
            <a:off x="5305425"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Caso de uso</a:t>
            </a:r>
          </a:p>
        </p:txBody>
      </p:sp>
      <p:sp>
        <p:nvSpPr>
          <p:cNvPr id="12" name="Node detail handler">
            <a:extLst xmlns:a="http://schemas.openxmlformats.org/drawingml/2006/main">
              <a:ext uri="{FF2B5EF4-FFF2-40B4-BE49-F238E27FC236}">
                <a16:creationId xmlns:a16="http://schemas.microsoft.com/office/drawing/2014/main" id="{EA8BB774-0445-4268-B6F0-982D4A501E84}"/>
              </a:ext>
            </a:extLst>
          </p:cNvPr>
          <p:cNvSpPr>
            <a:spLocks xmlns:a="http://schemas.openxmlformats.org/drawingml/2006/main" noGrp="1"/>
          </p:cNvSpPr>
          <p:nvPr/>
        </p:nvSpPr>
        <p:spPr>
          <a:xfrm xmlns:a="http://schemas.openxmlformats.org/drawingml/2006/main">
            <a:off x="5305425" y="3581400"/>
            <a:ext cx="1581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Comprueba</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propietario del</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pedido</a:t>
            </a:r>
          </a:p>
        </p:txBody>
      </p:sp>
      <p:sp>
        <p:nvSpPr>
          <p:cNvPr id="13" name="Diagram node db">
            <a:extLst xmlns:a="http://schemas.openxmlformats.org/drawingml/2006/main">
              <a:ext uri="{FF2B5EF4-FFF2-40B4-BE49-F238E27FC236}">
                <a16:creationId xmlns:a16="http://schemas.microsoft.com/office/drawing/2014/main" id="{491C4B7E-0A0E-4B9B-A315-8E2FA81CEB26}"/>
              </a:ext>
            </a:extLst>
          </p:cNvPr>
          <p:cNvSpPr>
            <a:spLocks xmlns:a="http://schemas.openxmlformats.org/drawingml/2006/main" noGrp="1"/>
          </p:cNvSpPr>
          <p:nvPr/>
        </p:nvSpPr>
        <p:spPr>
          <a:xfrm xmlns:a="http://schemas.openxmlformats.org/drawingml/2006/main">
            <a:off x="7405688"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db">
            <a:extLst xmlns:a="http://schemas.openxmlformats.org/drawingml/2006/main">
              <a:ext uri="{FF2B5EF4-FFF2-40B4-BE49-F238E27FC236}">
                <a16:creationId xmlns:a16="http://schemas.microsoft.com/office/drawing/2014/main" id="{248908CE-6319-496B-9F67-127DA1261090}"/>
              </a:ext>
            </a:extLst>
          </p:cNvPr>
          <p:cNvSpPr>
            <a:spLocks xmlns:a="http://schemas.openxmlformats.org/drawingml/2006/main" noGrp="1"/>
          </p:cNvSpPr>
          <p:nvPr/>
        </p:nvSpPr>
        <p:spPr>
          <a:xfrm xmlns:a="http://schemas.openxmlformats.org/drawingml/2006/main">
            <a:off x="7519988"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SQLite de</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prueba</a:t>
            </a:r>
          </a:p>
        </p:txBody>
      </p:sp>
      <p:sp>
        <p:nvSpPr>
          <p:cNvPr id="15" name="Node detail db">
            <a:extLst xmlns:a="http://schemas.openxmlformats.org/drawingml/2006/main">
              <a:ext uri="{FF2B5EF4-FFF2-40B4-BE49-F238E27FC236}">
                <a16:creationId xmlns:a16="http://schemas.microsoft.com/office/drawing/2014/main" id="{E12514EF-EC5E-4AE3-AF27-437F210B0C5B}"/>
              </a:ext>
            </a:extLst>
          </p:cNvPr>
          <p:cNvSpPr>
            <a:spLocks xmlns:a="http://schemas.openxmlformats.org/drawingml/2006/main" noGrp="1"/>
          </p:cNvSpPr>
          <p:nvPr/>
        </p:nvSpPr>
        <p:spPr>
          <a:xfrm xmlns:a="http://schemas.openxmlformats.org/drawingml/2006/main">
            <a:off x="7519988" y="3848100"/>
            <a:ext cx="1581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Migraciones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datos aislados</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del aula</a:t>
            </a:r>
          </a:p>
        </p:txBody>
      </p:sp>
      <p:sp>
        <p:nvSpPr>
          <p:cNvPr id="16" name="Diagram node assert">
            <a:extLst xmlns:a="http://schemas.openxmlformats.org/drawingml/2006/main">
              <a:ext uri="{FF2B5EF4-FFF2-40B4-BE49-F238E27FC236}">
                <a16:creationId xmlns:a16="http://schemas.microsoft.com/office/drawing/2014/main" id="{1A107EAA-349B-4BBA-9C0F-1CE5C05063C8}"/>
              </a:ext>
            </a:extLst>
          </p:cNvPr>
          <p:cNvSpPr>
            <a:spLocks xmlns:a="http://schemas.openxmlformats.org/drawingml/2006/main" noGrp="1"/>
          </p:cNvSpPr>
          <p:nvPr/>
        </p:nvSpPr>
        <p:spPr>
          <a:xfrm xmlns:a="http://schemas.openxmlformats.org/drawingml/2006/main">
            <a:off x="962025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7" name="Node label assert">
            <a:extLst xmlns:a="http://schemas.openxmlformats.org/drawingml/2006/main">
              <a:ext uri="{FF2B5EF4-FFF2-40B4-BE49-F238E27FC236}">
                <a16:creationId xmlns:a16="http://schemas.microsoft.com/office/drawing/2014/main" id="{B2229A1A-B397-4829-8513-76F70F800EC4}"/>
              </a:ext>
            </a:extLst>
          </p:cNvPr>
          <p:cNvSpPr>
            <a:spLocks xmlns:a="http://schemas.openxmlformats.org/drawingml/2006/main" noGrp="1"/>
          </p:cNvSpPr>
          <p:nvPr/>
        </p:nvSpPr>
        <p:spPr>
          <a:xfrm xmlns:a="http://schemas.openxmlformats.org/drawingml/2006/main">
            <a:off x="9734550"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Resultado</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esperado</a:t>
            </a:r>
          </a:p>
        </p:txBody>
      </p:sp>
      <p:sp>
        <p:nvSpPr>
          <p:cNvPr id="18" name="Node detail assert">
            <a:extLst xmlns:a="http://schemas.openxmlformats.org/drawingml/2006/main">
              <a:ext uri="{FF2B5EF4-FFF2-40B4-BE49-F238E27FC236}">
                <a16:creationId xmlns:a16="http://schemas.microsoft.com/office/drawing/2014/main" id="{27CC0242-8535-4919-901D-F6363DABB7CC}"/>
              </a:ext>
            </a:extLst>
          </p:cNvPr>
          <p:cNvSpPr>
            <a:spLocks xmlns:a="http://schemas.openxmlformats.org/drawingml/2006/main" noGrp="1"/>
          </p:cNvSpPr>
          <p:nvPr/>
        </p:nvSpPr>
        <p:spPr>
          <a:xfrm xmlns:a="http://schemas.openxmlformats.org/drawingml/2006/main">
            <a:off x="9734550"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Pedido propio 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rechazo 403</a:t>
            </a:r>
          </a:p>
        </p:txBody>
      </p:sp>
      <p:sp>
        <p:nvSpPr>
          <p:cNvPr id="20" name="Relationship client host">
            <a:extLst xmlns:a="http://schemas.openxmlformats.org/drawingml/2006/main">
              <a:ext uri="{FF2B5EF4-FFF2-40B4-BE49-F238E27FC236}">
                <a16:creationId xmlns:a16="http://schemas.microsoft.com/office/drawing/2014/main" id="{38A81B32-616A-44B0-9093-337E4857D825}"/>
              </a:ext>
            </a:extLst>
          </p:cNvPr>
          <p:cNvSpPr>
            <a:spLocks xmlns:a="http://schemas.openxmlformats.org/drawingml/2006/main" noGrp="1"/>
          </p:cNvSpPr>
          <p:nvPr/>
        </p:nvSpPr>
        <p:spPr>
          <a:xfrm xmlns:a="http://schemas.openxmlformats.org/drawingml/2006/main">
            <a:off x="1802606"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HTTP con JWT</a:t>
            </a:r>
          </a:p>
        </p:txBody>
      </p:sp>
      <p:sp>
        <p:nvSpPr>
          <p:cNvPr id="22" name="Relationship host handler">
            <a:extLst xmlns:a="http://schemas.openxmlformats.org/drawingml/2006/main">
              <a:ext uri="{FF2B5EF4-FFF2-40B4-BE49-F238E27FC236}">
                <a16:creationId xmlns:a16="http://schemas.microsoft.com/office/drawing/2014/main" id="{468A0A1D-8920-457E-A8A0-23C0EA4DC935}"/>
              </a:ext>
            </a:extLst>
          </p:cNvPr>
          <p:cNvSpPr>
            <a:spLocks xmlns:a="http://schemas.openxmlformats.org/drawingml/2006/main" noGrp="1"/>
          </p:cNvSpPr>
          <p:nvPr/>
        </p:nvSpPr>
        <p:spPr>
          <a:xfrm xmlns:a="http://schemas.openxmlformats.org/drawingml/2006/main">
            <a:off x="4017169"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Solicitud válida</a:t>
            </a:r>
          </a:p>
        </p:txBody>
      </p:sp>
      <p:sp>
        <p:nvSpPr>
          <p:cNvPr id="24" name="Relationship handler db">
            <a:extLst xmlns:a="http://schemas.openxmlformats.org/drawingml/2006/main">
              <a:ext uri="{FF2B5EF4-FFF2-40B4-BE49-F238E27FC236}">
                <a16:creationId xmlns:a16="http://schemas.microsoft.com/office/drawing/2014/main" id="{7AB1041C-C613-4292-8AA8-201371E62EFC}"/>
              </a:ext>
            </a:extLst>
          </p:cNvPr>
          <p:cNvSpPr>
            <a:spLocks xmlns:a="http://schemas.openxmlformats.org/drawingml/2006/main" noGrp="1"/>
          </p:cNvSpPr>
          <p:nvPr/>
        </p:nvSpPr>
        <p:spPr>
          <a:xfrm xmlns:a="http://schemas.openxmlformats.org/drawingml/2006/main">
            <a:off x="6231731"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Consultar pedido</a:t>
            </a:r>
          </a:p>
        </p:txBody>
      </p:sp>
      <p:sp>
        <p:nvSpPr>
          <p:cNvPr id="26" name="Relationship db assert">
            <a:extLst xmlns:a="http://schemas.openxmlformats.org/drawingml/2006/main">
              <a:ext uri="{FF2B5EF4-FFF2-40B4-BE49-F238E27FC236}">
                <a16:creationId xmlns:a16="http://schemas.microsoft.com/office/drawing/2014/main" id="{2D001C06-B4BB-4518-8185-9B1AB4018E09}"/>
              </a:ext>
            </a:extLst>
          </p:cNvPr>
          <p:cNvSpPr>
            <a:spLocks xmlns:a="http://schemas.openxmlformats.org/drawingml/2006/main" noGrp="1"/>
          </p:cNvSpPr>
          <p:nvPr/>
        </p:nvSpPr>
        <p:spPr>
          <a:xfrm xmlns:a="http://schemas.openxmlformats.org/drawingml/2006/main">
            <a:off x="8446294"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Revisar respuesta</a:t>
            </a:r>
          </a:p>
        </p:txBody>
      </p:sp>
      <p:sp>
        <p:nvSpPr>
          <p:cNvPr id="27" name="Analysis 1">
            <a:extLst xmlns:a="http://schemas.openxmlformats.org/drawingml/2006/main">
              <a:ext uri="{FF2B5EF4-FFF2-40B4-BE49-F238E27FC236}">
                <a16:creationId xmlns:a16="http://schemas.microsoft.com/office/drawing/2014/main" id="{D12F9288-BEEF-49BB-BFE1-2E0884A6F3DB}"/>
              </a:ext>
            </a:extLst>
          </p:cNvPr>
          <p:cNvSpPr>
            <a:spLocks xmlns:a="http://schemas.openxmlformats.org/drawingml/2006/main" noGrp="1"/>
          </p:cNvSpPr>
          <p:nvPr/>
        </p:nvSpPr>
        <p:spPr>
          <a:xfrm xmlns:a="http://schemas.openxmlformats.org/drawingml/2006/main">
            <a:off x="762000"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La frontera que un mock no comprueba.</a:t>
            </a:r>
            <a:r>
              <a:rPr sz="1800" b="0">
                <a:solidFill>
                  <a:srgbClr val="45516A"/>
                </a:solidFill>
                <a:latin typeface="Arial"/>
                <a:ea typeface="Arial"/>
                <a:cs typeface="Arial"/>
              </a:rPr>
              <a:t> El mismo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pedido se consulta con dos sujetos. Así se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comprueba que la identidad del token llega hasta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la regla de propiedad.</a:t>
            </a:r>
          </a:p>
        </p:txBody>
      </p:sp>
      <p:sp>
        <p:nvSpPr>
          <p:cNvPr id="28" name="Analysis 2">
            <a:extLst xmlns:a="http://schemas.openxmlformats.org/drawingml/2006/main">
              <a:ext uri="{FF2B5EF4-FFF2-40B4-BE49-F238E27FC236}">
                <a16:creationId xmlns:a16="http://schemas.microsoft.com/office/drawing/2014/main" id="{CC53979C-A941-4DF7-9CF7-041B0F8C68D7}"/>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Alcance del proveedor.</a:t>
            </a:r>
            <a:r>
              <a:rPr sz="1800" b="0">
                <a:solidFill>
                  <a:srgbClr val="45516A"/>
                </a:solidFill>
                <a:latin typeface="Arial"/>
                <a:ea typeface="Arial"/>
                <a:cs typeface="Arial"/>
              </a:rPr>
              <a:t> SQLite ejecuta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operaciones relacionales reales. Sus resultados no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prueban que SQL Server tenga idénticas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traducciones, tipos o comparaciones.</a:t>
            </a:r>
          </a:p>
        </p:txBody>
      </p:sp>
    </p:spTree>
    <p:extLst>
      <p:ext uri="{BB962C8B-B14F-4D97-AF65-F5344CB8AC3E}">
        <p14:creationId xmlns:p14="http://schemas.microsoft.com/office/powerpoint/2010/main" val="1608654104"/>
      </p:ext>
    </p:extLst>
  </p:cSld>
</p:sld>
</file>

<file path=ppt/slides/slide44.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7" name="Deep module">
            <a:extLst xmlns:a="http://schemas.openxmlformats.org/drawingml/2006/main">
              <a:ext uri="{FF2B5EF4-FFF2-40B4-BE49-F238E27FC236}">
                <a16:creationId xmlns:a16="http://schemas.microsoft.com/office/drawing/2014/main" id="{DC5528D1-B9D1-4A38-8510-F03BCFE4A1EA}"/>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07</a:t>
            </a:r>
          </a:p>
        </p:txBody>
      </p:sp>
      <p:sp>
        <p:nvSpPr>
          <p:cNvPr id="2" name="Deep title">
            <a:extLst xmlns:a="http://schemas.openxmlformats.org/drawingml/2006/main">
              <a:ext uri="{FF2B5EF4-FFF2-40B4-BE49-F238E27FC236}">
                <a16:creationId xmlns:a16="http://schemas.microsoft.com/office/drawing/2014/main" id="{4F2E2DFC-7619-454A-B82A-8BE59A1C2309}"/>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El mock vigila un límite del sistema</a:t>
            </a:r>
          </a:p>
        </p:txBody>
      </p:sp>
      <p:sp>
        <p:nvSpPr>
          <p:cNvPr id="3" name="Deep lead">
            <a:extLst xmlns:a="http://schemas.openxmlformats.org/drawingml/2006/main">
              <a:ext uri="{FF2B5EF4-FFF2-40B4-BE49-F238E27FC236}">
                <a16:creationId xmlns:a16="http://schemas.microsoft.com/office/drawing/2014/main" id="{B5E1C38F-845C-4A3E-9A1C-EE2A3561F4F1}"/>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Un pedido con partidas duplicadas debe rechazarse antes de consultar productos o guardar</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cambios. El doble permite comprobar esa ausencia de efectos.</a:t>
            </a:r>
          </a:p>
        </p:txBody>
      </p:sp>
      <p:sp>
        <p:nvSpPr>
          <p:cNvPr id="4" name="Code provenance">
            <a:extLst xmlns:a="http://schemas.openxmlformats.org/drawingml/2006/main">
              <a:ext uri="{FF2B5EF4-FFF2-40B4-BE49-F238E27FC236}">
                <a16:creationId xmlns:a16="http://schemas.microsoft.com/office/drawing/2014/main" id="{8ABD4146-AB82-4737-94C2-641EB91F5640}"/>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OrderHandlerTests.cs</a:t>
            </a:r>
          </a:p>
        </p:txBody>
      </p:sp>
      <p:sp>
        <p:nvSpPr>
          <p:cNvPr id="5" name="Code line 1">
            <a:extLst xmlns:a="http://schemas.openxmlformats.org/drawingml/2006/main">
              <a:ext uri="{FF2B5EF4-FFF2-40B4-BE49-F238E27FC236}">
                <a16:creationId xmlns:a16="http://schemas.microsoft.com/office/drawing/2014/main" id="{5618DA2E-0A81-4315-9673-627589D486AD}"/>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productId = Guid.NewGuid();</a:t>
            </a:r>
          </a:p>
        </p:txBody>
      </p:sp>
      <p:sp>
        <p:nvSpPr>
          <p:cNvPr id="6" name="Code line 2">
            <a:extLst xmlns:a="http://schemas.openxmlformats.org/drawingml/2006/main">
              <a:ext uri="{FF2B5EF4-FFF2-40B4-BE49-F238E27FC236}">
                <a16:creationId xmlns:a16="http://schemas.microsoft.com/office/drawing/2014/main" id="{BEBC1031-593F-4E1D-9BA3-A366A381AA3A}"/>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result = await new CreateOrderHandler(</a:t>
            </a:r>
          </a:p>
        </p:txBody>
      </p:sp>
      <p:sp>
        <p:nvSpPr>
          <p:cNvPr id="7" name="Code line 3">
            <a:extLst xmlns:a="http://schemas.openxmlformats.org/drawingml/2006/main">
              <a:ext uri="{FF2B5EF4-FFF2-40B4-BE49-F238E27FC236}">
                <a16:creationId xmlns:a16="http://schemas.microsoft.com/office/drawing/2014/main" id="{F8EB770F-8F39-4A18-871D-3DD5D41AE5E9}"/>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_products.Object, _orders.Object, _unitOfWork.Object)</a:t>
            </a:r>
          </a:p>
        </p:txBody>
      </p:sp>
      <p:sp>
        <p:nvSpPr>
          <p:cNvPr id="8" name="Code line 4">
            <a:extLst xmlns:a="http://schemas.openxmlformats.org/drawingml/2006/main">
              <a:ext uri="{FF2B5EF4-FFF2-40B4-BE49-F238E27FC236}">
                <a16:creationId xmlns:a16="http://schemas.microsoft.com/office/drawing/2014/main" id="{0F9D448E-4C35-485C-858E-86A72661FB61}"/>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.Handle(new(</a:t>
            </a:r>
          </a:p>
        </p:txBody>
      </p:sp>
      <p:sp>
        <p:nvSpPr>
          <p:cNvPr id="9" name="Code line 5">
            <a:extLst xmlns:a="http://schemas.openxmlformats.org/drawingml/2006/main">
              <a:ext uri="{FF2B5EF4-FFF2-40B4-BE49-F238E27FC236}">
                <a16:creationId xmlns:a16="http://schemas.microsoft.com/office/drawing/2014/main" id="{83BEBB8B-4303-4962-AFF8-ADA3CC3C811E}"/>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"alice",</a:t>
            </a:r>
          </a:p>
        </p:txBody>
      </p:sp>
      <p:sp>
        <p:nvSpPr>
          <p:cNvPr id="10" name="Code line 6">
            <a:extLst xmlns:a="http://schemas.openxmlformats.org/drawingml/2006/main">
              <a:ext uri="{FF2B5EF4-FFF2-40B4-BE49-F238E27FC236}">
                <a16:creationId xmlns:a16="http://schemas.microsoft.com/office/drawing/2014/main" id="{EB74B1B4-71B1-4CF7-99B5-95928DFFF59F}"/>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[new(productId, 1), new(productId, 2)]), default);</a:t>
            </a:r>
          </a:p>
        </p:txBody>
      </p:sp>
      <p:sp>
        <p:nvSpPr>
          <p:cNvPr id="11" name="Code line 7">
            <a:extLst xmlns:a="http://schemas.openxmlformats.org/drawingml/2006/main">
              <a:ext uri="{FF2B5EF4-FFF2-40B4-BE49-F238E27FC236}">
                <a16:creationId xmlns:a16="http://schemas.microsoft.com/office/drawing/2014/main" id="{56A8B23C-E043-448F-BB65-1387E71B1A2F}"/>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Assert.Equal(ErrorKind.Validation, result.Error!.Kind);</a:t>
            </a:r>
          </a:p>
        </p:txBody>
      </p:sp>
      <p:sp>
        <p:nvSpPr>
          <p:cNvPr id="12" name="Code line 8">
            <a:extLst xmlns:a="http://schemas.openxmlformats.org/drawingml/2006/main">
              <a:ext uri="{FF2B5EF4-FFF2-40B4-BE49-F238E27FC236}">
                <a16:creationId xmlns:a16="http://schemas.microsoft.com/office/drawing/2014/main" id="{230877A2-68E2-4017-8702-64DEF7F91C3D}"/>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_products.VerifyNoOtherCalls();</a:t>
            </a:r>
          </a:p>
        </p:txBody>
      </p:sp>
      <p:sp>
        <p:nvSpPr>
          <p:cNvPr id="13" name="Code line 9">
            <a:extLst xmlns:a="http://schemas.openxmlformats.org/drawingml/2006/main">
              <a:ext uri="{FF2B5EF4-FFF2-40B4-BE49-F238E27FC236}">
                <a16:creationId xmlns:a16="http://schemas.microsoft.com/office/drawing/2014/main" id="{39D5C2CB-6DFE-4E0A-B3EA-F0054D092E86}"/>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_orders.VerifyNoOtherCalls();</a:t>
            </a:r>
          </a:p>
        </p:txBody>
      </p:sp>
      <p:sp>
        <p:nvSpPr>
          <p:cNvPr id="14" name="Code line 10">
            <a:extLst xmlns:a="http://schemas.openxmlformats.org/drawingml/2006/main">
              <a:ext uri="{FF2B5EF4-FFF2-40B4-BE49-F238E27FC236}">
                <a16:creationId xmlns:a16="http://schemas.microsoft.com/office/drawing/2014/main" id="{79B43EA6-5952-4508-B7C0-425DA7D6A809}"/>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_unitOfWork.VerifyNoOtherCalls();</a:t>
            </a:r>
          </a:p>
        </p:txBody>
      </p:sp>
      <p:sp>
        <p:nvSpPr>
          <p:cNvPr id="15" name="Analysis 1">
            <a:extLst xmlns:a="http://schemas.openxmlformats.org/drawingml/2006/main">
              <a:ext uri="{FF2B5EF4-FFF2-40B4-BE49-F238E27FC236}">
                <a16:creationId xmlns:a16="http://schemas.microsoft.com/office/drawing/2014/main" id="{FD1A917C-4853-433B-AFCF-87718486B0C5}"/>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Qué evidencia aporta.</a:t>
            </a:r>
            <a:r>
              <a:rPr sz="1725" b="0">
                <a:solidFill>
                  <a:srgbClr val="D0D8E6"/>
                </a:solidFill>
                <a:latin typeface="Arial"/>
                <a:ea typeface="Arial"/>
                <a:cs typeface="Arial"/>
              </a:rPr>
              <a:t> La validación rechaza el</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comando sin llamar a repositorios ni unidad de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trabajo. El error no oculta escrituras parciales.</a:t>
            </a:r>
          </a:p>
        </p:txBody>
      </p:sp>
      <p:sp>
        <p:nvSpPr>
          <p:cNvPr id="16" name="Analysis 2">
            <a:extLst xmlns:a="http://schemas.openxmlformats.org/drawingml/2006/main">
              <a:ext uri="{FF2B5EF4-FFF2-40B4-BE49-F238E27FC236}">
                <a16:creationId xmlns:a16="http://schemas.microsoft.com/office/drawing/2014/main" id="{10315F9F-26B0-4321-97BC-FCFB1269A392}"/>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Qué queda por probar.</a:t>
            </a:r>
            <a:r>
              <a:rPr sz="1725" b="0">
                <a:solidFill>
                  <a:srgbClr val="D0D8E6"/>
                </a:solidFill>
                <a:latin typeface="Arial"/>
                <a:ea typeface="Arial"/>
                <a:cs typeface="Arial"/>
              </a:rPr>
              <a:t> El mock no ejecuta SQL ni</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demuestra transacciones. La atomicidad entre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pedido y Outbox se comprueba con persistencia real.</a:t>
            </a:r>
          </a:p>
        </p:txBody>
      </p:sp>
    </p:spTree>
    <p:extLst>
      <p:ext uri="{BB962C8B-B14F-4D97-AF65-F5344CB8AC3E}">
        <p14:creationId xmlns:p14="http://schemas.microsoft.com/office/powerpoint/2010/main" val="701376199"/>
      </p:ext>
    </p:extLst>
  </p:cSld>
</p:sld>
</file>

<file path=ppt/slides/slide45.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5CF52DA4-9B95-4DB2-830F-314CF2347701}"/>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07</a:t>
            </a:r>
          </a:p>
        </p:txBody>
      </p:sp>
      <p:sp>
        <p:nvSpPr>
          <p:cNvPr id="2" name="Deep title">
            <a:extLst xmlns:a="http://schemas.openxmlformats.org/drawingml/2006/main">
              <a:ext uri="{FF2B5EF4-FFF2-40B4-BE49-F238E27FC236}">
                <a16:creationId xmlns:a16="http://schemas.microsoft.com/office/drawing/2014/main" id="{B2C78F89-1ED7-4032-8590-5417E9B4C788}"/>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Una regresión empieza demostrando el fallo</a:t>
            </a:r>
          </a:p>
        </p:txBody>
      </p:sp>
      <p:sp>
        <p:nvSpPr>
          <p:cNvPr id="3" name="Deep lead">
            <a:extLst xmlns:a="http://schemas.openxmlformats.org/drawingml/2006/main">
              <a:ext uri="{FF2B5EF4-FFF2-40B4-BE49-F238E27FC236}">
                <a16:creationId xmlns:a16="http://schemas.microsoft.com/office/drawing/2014/main" id="{6FCC51AC-D375-4420-845C-6D5CF2C1108F}"/>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La prueba debe fallar por el defecto que queremos corregir. Si nunca lo detecta, su resultado</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verde no demuestra la reparación.</a:t>
            </a:r>
          </a:p>
        </p:txBody>
      </p:sp>
      <p:sp>
        <p:nvSpPr>
          <p:cNvPr id="4" name="Explanation heading 1">
            <a:extLst xmlns:a="http://schemas.openxmlformats.org/drawingml/2006/main">
              <a:ext uri="{FF2B5EF4-FFF2-40B4-BE49-F238E27FC236}">
                <a16:creationId xmlns:a16="http://schemas.microsoft.com/office/drawing/2014/main" id="{953381F2-AB9E-43DD-B34A-DB5C0930CF28}"/>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1. Reproducir</a:t>
            </a:r>
          </a:p>
        </p:txBody>
      </p:sp>
      <p:sp>
        <p:nvSpPr>
          <p:cNvPr id="5" name="Explanation body 1">
            <a:extLst xmlns:a="http://schemas.openxmlformats.org/drawingml/2006/main">
              <a:ext uri="{FF2B5EF4-FFF2-40B4-BE49-F238E27FC236}">
                <a16:creationId xmlns:a16="http://schemas.microsoft.com/office/drawing/2014/main" id="{E9DDDB2C-02FE-4750-990C-C7E92A697817}"/>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En una copia del laboratorio, permitir temporalmente cantidad cero. Ejecutar la prueba</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focalizada y comprobar que falla por esa condición.</a:t>
            </a:r>
          </a:p>
        </p:txBody>
      </p:sp>
      <p:sp>
        <p:nvSpPr>
          <p:cNvPr id="6" name="Explanation heading 2">
            <a:extLst xmlns:a="http://schemas.openxmlformats.org/drawingml/2006/main">
              <a:ext uri="{FF2B5EF4-FFF2-40B4-BE49-F238E27FC236}">
                <a16:creationId xmlns:a16="http://schemas.microsoft.com/office/drawing/2014/main" id="{FB205D4A-E369-4485-8ADA-97CE435EE3A3}"/>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2. Reparar</a:t>
            </a:r>
          </a:p>
        </p:txBody>
      </p:sp>
      <p:sp>
        <p:nvSpPr>
          <p:cNvPr id="7" name="Explanation body 2">
            <a:extLst xmlns:a="http://schemas.openxmlformats.org/drawingml/2006/main">
              <a:ext uri="{FF2B5EF4-FFF2-40B4-BE49-F238E27FC236}">
                <a16:creationId xmlns:a16="http://schemas.microsoft.com/office/drawing/2014/main" id="{B377D29C-DA57-4CDD-9D36-1ECCAACF3B68}"/>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Restaurar la regla correcta. Mantener la misma aserción y confirmar que pasa. Copilot</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recibe el escenario, el código y el fallo sanitizado.</a:t>
            </a:r>
          </a:p>
        </p:txBody>
      </p:sp>
      <p:sp>
        <p:nvSpPr>
          <p:cNvPr id="8" name="Explanation heading 3">
            <a:extLst xmlns:a="http://schemas.openxmlformats.org/drawingml/2006/main">
              <a:ext uri="{FF2B5EF4-FFF2-40B4-BE49-F238E27FC236}">
                <a16:creationId xmlns:a16="http://schemas.microsoft.com/office/drawing/2014/main" id="{ABACE642-840B-4D87-B572-7473F9B321D8}"/>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3. Conservar evidencia</a:t>
            </a:r>
          </a:p>
        </p:txBody>
      </p:sp>
      <p:sp>
        <p:nvSpPr>
          <p:cNvPr id="9" name="Explanation body 3">
            <a:extLst xmlns:a="http://schemas.openxmlformats.org/drawingml/2006/main">
              <a:ext uri="{FF2B5EF4-FFF2-40B4-BE49-F238E27FC236}">
                <a16:creationId xmlns:a16="http://schemas.microsoft.com/office/drawing/2014/main" id="{F4080AC5-DFB6-465B-B23C-9F5D3357A079}"/>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Ejecutar la suite afectada y revisar el diff. La cobertura muestra código ejecutado; una</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aserción débil todavía puede dejar pasar defectos.</a:t>
            </a:r>
          </a:p>
        </p:txBody>
      </p:sp>
    </p:spTree>
    <p:extLst>
      <p:ext uri="{BB962C8B-B14F-4D97-AF65-F5344CB8AC3E}">
        <p14:creationId xmlns:p14="http://schemas.microsoft.com/office/powerpoint/2010/main" val="584214697"/>
      </p:ext>
    </p:extLst>
  </p:cSld>
</p:sld>
</file>

<file path=ppt/slides/slide4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DDAB6192-F167-444B-9045-9CD8A2C0C3B4}"/>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08</a:t>
            </a:r>
          </a:p>
        </p:txBody>
      </p:sp>
      <p:sp>
        <p:nvSpPr>
          <p:cNvPr id="3" name="Class title">
            <a:extLst xmlns:a="http://schemas.openxmlformats.org/drawingml/2006/main">
              <a:ext uri="{FF2B5EF4-FFF2-40B4-BE49-F238E27FC236}">
                <a16:creationId xmlns:a16="http://schemas.microsoft.com/office/drawing/2014/main" id="{52A92DF0-A0CF-4603-8366-BF9F8C1FA589}"/>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Respuesta</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ante fallos</a:t>
            </a:r>
          </a:p>
        </p:txBody>
      </p:sp>
      <p:sp>
        <p:nvSpPr>
          <p:cNvPr id="5" name="Learning outcome">
            <a:extLst xmlns:a="http://schemas.openxmlformats.org/drawingml/2006/main">
              <a:ext uri="{FF2B5EF4-FFF2-40B4-BE49-F238E27FC236}">
                <a16:creationId xmlns:a16="http://schemas.microsoft.com/office/drawing/2014/main" id="{26E01DBE-778E-4FE2-A36A-1B52960AC412}"/>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Notificaciones pendientes con Outbox,</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reintentos y caché.</a:t>
            </a:r>
          </a:p>
        </p:txBody>
      </p:sp>
      <p:sp>
        <p:nvSpPr>
          <p:cNvPr id="7" name="Practice outcome">
            <a:extLst xmlns:a="http://schemas.openxmlformats.org/drawingml/2006/main">
              <a:ext uri="{FF2B5EF4-FFF2-40B4-BE49-F238E27FC236}">
                <a16:creationId xmlns:a16="http://schemas.microsoft.com/office/drawing/2014/main" id="{B11864E0-50BA-4B7B-B693-0AF95843E10F}"/>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Simular fallos y comprobar</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la recuperación del sistema.</a:t>
            </a:r>
          </a:p>
        </p:txBody>
      </p:sp>
      <p:sp>
        <p:nvSpPr>
          <p:cNvPr id="9" name="Module context">
            <a:extLst xmlns:a="http://schemas.openxmlformats.org/drawingml/2006/main">
              <a:ext uri="{FF2B5EF4-FFF2-40B4-BE49-F238E27FC236}">
                <a16:creationId xmlns:a16="http://schemas.microsoft.com/office/drawing/2014/main" id="{66439BBC-AB78-4B23-90E9-B0A87367C094}"/>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Un servicio externo puede fallar. Guardar los avisos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pendientes permite reintentar una notificación</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sin volver a crear el pedido.</a:t>
            </a:r>
          </a:p>
        </p:txBody>
      </p:sp>
    </p:spTree>
    <p:extLst>
      <p:ext uri="{BB962C8B-B14F-4D97-AF65-F5344CB8AC3E}">
        <p14:creationId xmlns:p14="http://schemas.microsoft.com/office/powerpoint/2010/main" val="974466578"/>
      </p:ext>
    </p:extLst>
  </p:cSld>
</p:sld>
</file>

<file path=ppt/slides/slide47.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B39C2AF8-53DB-47B2-B1C4-6C4B7A2D4AC1}"/>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08</a:t>
            </a:r>
          </a:p>
        </p:txBody>
      </p:sp>
      <p:sp>
        <p:nvSpPr>
          <p:cNvPr id="2" name="Concept title">
            <a:extLst xmlns:a="http://schemas.openxmlformats.org/drawingml/2006/main">
              <a:ext uri="{FF2B5EF4-FFF2-40B4-BE49-F238E27FC236}">
                <a16:creationId xmlns:a16="http://schemas.microsoft.com/office/drawing/2014/main" id="{485A43EF-38DD-4704-8422-5074399EFEC2}"/>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Outbox, reintentos y caché</a:t>
            </a:r>
          </a:p>
        </p:txBody>
      </p:sp>
      <p:sp>
        <p:nvSpPr>
          <p:cNvPr id="3" name="Concept definition">
            <a:extLst xmlns:a="http://schemas.openxmlformats.org/drawingml/2006/main">
              <a:ext uri="{FF2B5EF4-FFF2-40B4-BE49-F238E27FC236}">
                <a16:creationId xmlns:a16="http://schemas.microsoft.com/office/drawing/2014/main" id="{096759AF-BDAE-4452-BD2C-9E1E57EFB5EE}"/>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Outbox (bandeja de salida) guarda el pedido y el aviso pendiente</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en una misma transacción. Un proceso envía el aviso después.</a:t>
            </a:r>
          </a:p>
        </p:txBody>
      </p:sp>
      <p:sp>
        <p:nvSpPr>
          <p:cNvPr id="4" name="Concept explanation">
            <a:extLst xmlns:a="http://schemas.openxmlformats.org/drawingml/2006/main">
              <a:ext uri="{FF2B5EF4-FFF2-40B4-BE49-F238E27FC236}">
                <a16:creationId xmlns:a16="http://schemas.microsoft.com/office/drawing/2014/main" id="{53A3CD2D-7E32-431C-A453-1AD5D342B824}"/>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Retry reintenta con límites. Circuit Breaker pausa ante fallos repetidos.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La caché conserva datos frecuentes. Cache Aside consulta la base</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cuando el dato falta y luego actualiza la caché.</a:t>
            </a:r>
          </a:p>
        </p:txBody>
      </p:sp>
      <p:sp>
        <p:nvSpPr>
          <p:cNvPr id="5" name="Concept example label">
            <a:extLst xmlns:a="http://schemas.openxmlformats.org/drawingml/2006/main">
              <a:ext uri="{FF2B5EF4-FFF2-40B4-BE49-F238E27FC236}">
                <a16:creationId xmlns:a16="http://schemas.microsoft.com/office/drawing/2014/main" id="{FE55A962-6EA1-4D24-BACD-D83B64CE137F}"/>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F6DA4C1F-A605-43CA-A166-E804151FAAD0}"/>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Si el notificador cae, el aviso queda pendiente.</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El receptor reconoce eventos repetidos por su identificador</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para evitar procesarlos dos veces.</a:t>
            </a:r>
          </a:p>
        </p:txBody>
      </p:sp>
    </p:spTree>
    <p:extLst>
      <p:ext uri="{BB962C8B-B14F-4D97-AF65-F5344CB8AC3E}">
        <p14:creationId xmlns:p14="http://schemas.microsoft.com/office/powerpoint/2010/main" val="833504706"/>
      </p:ext>
    </p:extLst>
  </p:cSld>
</p:sld>
</file>

<file path=ppt/slides/slide48.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F8474DD2-6247-4876-9440-9C45EE4803B2}"/>
              </a:ext>
            </a:extLst>
          </p:cNvPr>
          <p:cNvCxnSpPr>
            <a:stCxn xmlns:a="http://schemas.openxmlformats.org/drawingml/2006/main" id="13" idx="3"/>
            <a:endCxn xmlns:a="http://schemas.openxmlformats.org/drawingml/2006/main" id="16" idx="1"/>
          </p:cNvCxnSpPr>
          <p:nvPr/>
        </p:nvCxnSpPr>
        <p:spPr>
          <a:xfrm xmlns:a="http://schemas.openxmlformats.org/drawingml/2006/main">
            <a:off x="9215438"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3" name="">
            <a:extLst xmlns:a="http://schemas.openxmlformats.org/drawingml/2006/main">
              <a:ext uri="{FF2B5EF4-FFF2-40B4-BE49-F238E27FC236}">
                <a16:creationId xmlns:a16="http://schemas.microsoft.com/office/drawing/2014/main" id="{47E68DB7-DEEB-4D7C-B8A7-D8C2248F3D5F}"/>
              </a:ext>
            </a:extLst>
          </p:cNvPr>
          <p:cNvCxnSpPr>
            <a:stCxn xmlns:a="http://schemas.openxmlformats.org/drawingml/2006/main" id="10" idx="3"/>
            <a:endCxn xmlns:a="http://schemas.openxmlformats.org/drawingml/2006/main" id="13" idx="1"/>
          </p:cNvCxnSpPr>
          <p:nvPr/>
        </p:nvCxnSpPr>
        <p:spPr>
          <a:xfrm xmlns:a="http://schemas.openxmlformats.org/drawingml/2006/main">
            <a:off x="7000875"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1" name="">
            <a:extLst xmlns:a="http://schemas.openxmlformats.org/drawingml/2006/main">
              <a:ext uri="{FF2B5EF4-FFF2-40B4-BE49-F238E27FC236}">
                <a16:creationId xmlns:a16="http://schemas.microsoft.com/office/drawing/2014/main" id="{7E8DAACF-56E6-44CB-9E2E-3FA36A0AAE9A}"/>
              </a:ext>
            </a:extLst>
          </p:cNvPr>
          <p:cNvCxnSpPr>
            <a:stCxn xmlns:a="http://schemas.openxmlformats.org/drawingml/2006/main" id="7" idx="3"/>
            <a:endCxn xmlns:a="http://schemas.openxmlformats.org/drawingml/2006/main" id="10" idx="1"/>
          </p:cNvCxnSpPr>
          <p:nvPr/>
        </p:nvCxnSpPr>
        <p:spPr>
          <a:xfrm xmlns:a="http://schemas.openxmlformats.org/drawingml/2006/main">
            <a:off x="4786313"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9" name="">
            <a:extLst xmlns:a="http://schemas.openxmlformats.org/drawingml/2006/main">
              <a:ext uri="{FF2B5EF4-FFF2-40B4-BE49-F238E27FC236}">
                <a16:creationId xmlns:a16="http://schemas.microsoft.com/office/drawing/2014/main" id="{39E60AFB-393C-4734-AF05-18C4ADBF7530}"/>
              </a:ext>
            </a:extLst>
          </p:cNvPr>
          <p:cNvCxnSpPr>
            <a:stCxn xmlns:a="http://schemas.openxmlformats.org/drawingml/2006/main" id="4" idx="3"/>
            <a:endCxn xmlns:a="http://schemas.openxmlformats.org/drawingml/2006/main" id="7" idx="1"/>
          </p:cNvCxnSpPr>
          <p:nvPr/>
        </p:nvCxnSpPr>
        <p:spPr>
          <a:xfrm xmlns:a="http://schemas.openxmlformats.org/drawingml/2006/main">
            <a:off x="2571750"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9" name="Deep module">
            <a:extLst xmlns:a="http://schemas.openxmlformats.org/drawingml/2006/main">
              <a:ext uri="{FF2B5EF4-FFF2-40B4-BE49-F238E27FC236}">
                <a16:creationId xmlns:a16="http://schemas.microsoft.com/office/drawing/2014/main" id="{5A233D4C-35E9-4A37-A07D-AFDA185CC7A2}"/>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08</a:t>
            </a:r>
          </a:p>
        </p:txBody>
      </p:sp>
      <p:sp>
        <p:nvSpPr>
          <p:cNvPr id="2" name="Deep title">
            <a:extLst xmlns:a="http://schemas.openxmlformats.org/drawingml/2006/main">
              <a:ext uri="{FF2B5EF4-FFF2-40B4-BE49-F238E27FC236}">
                <a16:creationId xmlns:a16="http://schemas.microsoft.com/office/drawing/2014/main" id="{561B2B3A-5FA1-4D9F-BF30-2399B021447E}"/>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Pedido y aviso se confirman juntos</a:t>
            </a:r>
          </a:p>
        </p:txBody>
      </p:sp>
      <p:sp>
        <p:nvSpPr>
          <p:cNvPr id="3" name="Deep lead">
            <a:extLst xmlns:a="http://schemas.openxmlformats.org/drawingml/2006/main">
              <a:ext uri="{FF2B5EF4-FFF2-40B4-BE49-F238E27FC236}">
                <a16:creationId xmlns:a16="http://schemas.microsoft.com/office/drawing/2014/main" id="{E819C1C1-89DF-4225-BEA4-95EB145557EC}"/>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El pedido y su mensaje se confirman juntos. La llamada de red ocurre después y puede</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repetirse si falta la confirmación local.</a:t>
            </a:r>
          </a:p>
        </p:txBody>
      </p:sp>
      <p:sp>
        <p:nvSpPr>
          <p:cNvPr id="4" name="Diagram node order">
            <a:extLst xmlns:a="http://schemas.openxmlformats.org/drawingml/2006/main">
              <a:ext uri="{FF2B5EF4-FFF2-40B4-BE49-F238E27FC236}">
                <a16:creationId xmlns:a16="http://schemas.microsoft.com/office/drawing/2014/main" id="{E5D6EA0C-9FB8-43EA-ADAC-80F9733139CC}"/>
              </a:ext>
            </a:extLst>
          </p:cNvPr>
          <p:cNvSpPr>
            <a:spLocks xmlns:a="http://schemas.openxmlformats.org/drawingml/2006/main" noGrp="1"/>
          </p:cNvSpPr>
          <p:nvPr/>
        </p:nvSpPr>
        <p:spPr>
          <a:xfrm xmlns:a="http://schemas.openxmlformats.org/drawingml/2006/main">
            <a:off x="76200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order">
            <a:extLst xmlns:a="http://schemas.openxmlformats.org/drawingml/2006/main">
              <a:ext uri="{FF2B5EF4-FFF2-40B4-BE49-F238E27FC236}">
                <a16:creationId xmlns:a16="http://schemas.microsoft.com/office/drawing/2014/main" id="{D7DB28A0-6E32-4C01-AA65-60C386FEFF5A}"/>
              </a:ext>
            </a:extLst>
          </p:cNvPr>
          <p:cNvSpPr>
            <a:spLocks xmlns:a="http://schemas.openxmlformats.org/drawingml/2006/main" noGrp="1"/>
          </p:cNvSpPr>
          <p:nvPr/>
        </p:nvSpPr>
        <p:spPr>
          <a:xfrm xmlns:a="http://schemas.openxmlformats.org/drawingml/2006/main">
            <a:off x="876300"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Pedido</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creado</a:t>
            </a:r>
          </a:p>
        </p:txBody>
      </p:sp>
      <p:sp>
        <p:nvSpPr>
          <p:cNvPr id="6" name="Node detail order">
            <a:extLst xmlns:a="http://schemas.openxmlformats.org/drawingml/2006/main">
              <a:ext uri="{FF2B5EF4-FFF2-40B4-BE49-F238E27FC236}">
                <a16:creationId xmlns:a16="http://schemas.microsoft.com/office/drawing/2014/main" id="{5305B02A-5609-4B16-B271-EAF5475902C5}"/>
              </a:ext>
            </a:extLst>
          </p:cNvPr>
          <p:cNvSpPr>
            <a:spLocks xmlns:a="http://schemas.openxmlformats.org/drawingml/2006/main" noGrp="1"/>
          </p:cNvSpPr>
          <p:nvPr/>
        </p:nvSpPr>
        <p:spPr>
          <a:xfrm xmlns:a="http://schemas.openxmlformats.org/drawingml/2006/main">
            <a:off x="876300"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Emite</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OrderSubmitted</a:t>
            </a:r>
          </a:p>
        </p:txBody>
      </p:sp>
      <p:sp>
        <p:nvSpPr>
          <p:cNvPr id="7" name="Diagram node commit">
            <a:extLst xmlns:a="http://schemas.openxmlformats.org/drawingml/2006/main">
              <a:ext uri="{FF2B5EF4-FFF2-40B4-BE49-F238E27FC236}">
                <a16:creationId xmlns:a16="http://schemas.microsoft.com/office/drawing/2014/main" id="{973736FD-1D7C-4E37-82EB-C45EF19A2BC1}"/>
              </a:ext>
            </a:extLst>
          </p:cNvPr>
          <p:cNvSpPr>
            <a:spLocks xmlns:a="http://schemas.openxmlformats.org/drawingml/2006/main" noGrp="1"/>
          </p:cNvSpPr>
          <p:nvPr/>
        </p:nvSpPr>
        <p:spPr>
          <a:xfrm xmlns:a="http://schemas.openxmlformats.org/drawingml/2006/main">
            <a:off x="2976563"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commit">
            <a:extLst xmlns:a="http://schemas.openxmlformats.org/drawingml/2006/main">
              <a:ext uri="{FF2B5EF4-FFF2-40B4-BE49-F238E27FC236}">
                <a16:creationId xmlns:a16="http://schemas.microsoft.com/office/drawing/2014/main" id="{65FAEE71-F0B9-4AF3-B700-2A2AE779AC40}"/>
              </a:ext>
            </a:extLst>
          </p:cNvPr>
          <p:cNvSpPr>
            <a:spLocks xmlns:a="http://schemas.openxmlformats.org/drawingml/2006/main" noGrp="1"/>
          </p:cNvSpPr>
          <p:nvPr/>
        </p:nvSpPr>
        <p:spPr>
          <a:xfrm xmlns:a="http://schemas.openxmlformats.org/drawingml/2006/main">
            <a:off x="3090863"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Commit local</a:t>
            </a:r>
          </a:p>
        </p:txBody>
      </p:sp>
      <p:sp>
        <p:nvSpPr>
          <p:cNvPr id="9" name="Node detail commit">
            <a:extLst xmlns:a="http://schemas.openxmlformats.org/drawingml/2006/main">
              <a:ext uri="{FF2B5EF4-FFF2-40B4-BE49-F238E27FC236}">
                <a16:creationId xmlns:a16="http://schemas.microsoft.com/office/drawing/2014/main" id="{445E3148-39EB-4736-9C2C-CA9219E87E3D}"/>
              </a:ext>
            </a:extLst>
          </p:cNvPr>
          <p:cNvSpPr>
            <a:spLocks xmlns:a="http://schemas.openxmlformats.org/drawingml/2006/main" noGrp="1"/>
          </p:cNvSpPr>
          <p:nvPr/>
        </p:nvSpPr>
        <p:spPr>
          <a:xfrm xmlns:a="http://schemas.openxmlformats.org/drawingml/2006/main">
            <a:off x="3090863" y="3581400"/>
            <a:ext cx="1581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Pedido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Outbox en</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SaveChanges</a:t>
            </a:r>
          </a:p>
        </p:txBody>
      </p:sp>
      <p:sp>
        <p:nvSpPr>
          <p:cNvPr id="10" name="Diagram node worker">
            <a:extLst xmlns:a="http://schemas.openxmlformats.org/drawingml/2006/main">
              <a:ext uri="{FF2B5EF4-FFF2-40B4-BE49-F238E27FC236}">
                <a16:creationId xmlns:a16="http://schemas.microsoft.com/office/drawing/2014/main" id="{FD34644D-8A71-4007-99D0-B15A805ADCAF}"/>
              </a:ext>
            </a:extLst>
          </p:cNvPr>
          <p:cNvSpPr>
            <a:spLocks xmlns:a="http://schemas.openxmlformats.org/drawingml/2006/main" noGrp="1"/>
          </p:cNvSpPr>
          <p:nvPr/>
        </p:nvSpPr>
        <p:spPr>
          <a:xfrm xmlns:a="http://schemas.openxmlformats.org/drawingml/2006/main">
            <a:off x="5191125"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worker">
            <a:extLst xmlns:a="http://schemas.openxmlformats.org/drawingml/2006/main">
              <a:ext uri="{FF2B5EF4-FFF2-40B4-BE49-F238E27FC236}">
                <a16:creationId xmlns:a16="http://schemas.microsoft.com/office/drawing/2014/main" id="{8B4503EF-A787-4502-941D-20318B387870}"/>
              </a:ext>
            </a:extLst>
          </p:cNvPr>
          <p:cNvSpPr>
            <a:spLocks xmlns:a="http://schemas.openxmlformats.org/drawingml/2006/main" noGrp="1"/>
          </p:cNvSpPr>
          <p:nvPr/>
        </p:nvSpPr>
        <p:spPr>
          <a:xfrm xmlns:a="http://schemas.openxmlformats.org/drawingml/2006/main">
            <a:off x="5305425"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Dispatcher</a:t>
            </a:r>
          </a:p>
        </p:txBody>
      </p:sp>
      <p:sp>
        <p:nvSpPr>
          <p:cNvPr id="12" name="Node detail worker">
            <a:extLst xmlns:a="http://schemas.openxmlformats.org/drawingml/2006/main">
              <a:ext uri="{FF2B5EF4-FFF2-40B4-BE49-F238E27FC236}">
                <a16:creationId xmlns:a16="http://schemas.microsoft.com/office/drawing/2014/main" id="{38A7CA96-18E4-461D-B3A9-320A792B313E}"/>
              </a:ext>
            </a:extLst>
          </p:cNvPr>
          <p:cNvSpPr>
            <a:spLocks xmlns:a="http://schemas.openxmlformats.org/drawingml/2006/main" noGrp="1"/>
          </p:cNvSpPr>
          <p:nvPr/>
        </p:nvSpPr>
        <p:spPr>
          <a:xfrm xmlns:a="http://schemas.openxmlformats.org/drawingml/2006/main">
            <a:off x="5305425" y="35814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Lee intención</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pendiente</a:t>
            </a:r>
          </a:p>
        </p:txBody>
      </p:sp>
      <p:sp>
        <p:nvSpPr>
          <p:cNvPr id="13" name="Diagram node receiver">
            <a:extLst xmlns:a="http://schemas.openxmlformats.org/drawingml/2006/main">
              <a:ext uri="{FF2B5EF4-FFF2-40B4-BE49-F238E27FC236}">
                <a16:creationId xmlns:a16="http://schemas.microsoft.com/office/drawing/2014/main" id="{BEC9BCEB-C707-41F4-8546-E5DB5EB09C1A}"/>
              </a:ext>
            </a:extLst>
          </p:cNvPr>
          <p:cNvSpPr>
            <a:spLocks xmlns:a="http://schemas.openxmlformats.org/drawingml/2006/main" noGrp="1"/>
          </p:cNvSpPr>
          <p:nvPr/>
        </p:nvSpPr>
        <p:spPr>
          <a:xfrm xmlns:a="http://schemas.openxmlformats.org/drawingml/2006/main">
            <a:off x="7405688"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receiver">
            <a:extLst xmlns:a="http://schemas.openxmlformats.org/drawingml/2006/main">
              <a:ext uri="{FF2B5EF4-FFF2-40B4-BE49-F238E27FC236}">
                <a16:creationId xmlns:a16="http://schemas.microsoft.com/office/drawing/2014/main" id="{80C1D48A-9F22-4554-AFD7-687DB864ED17}"/>
              </a:ext>
            </a:extLst>
          </p:cNvPr>
          <p:cNvSpPr>
            <a:spLocks xmlns:a="http://schemas.openxmlformats.org/drawingml/2006/main" noGrp="1"/>
          </p:cNvSpPr>
          <p:nvPr/>
        </p:nvSpPr>
        <p:spPr>
          <a:xfrm xmlns:a="http://schemas.openxmlformats.org/drawingml/2006/main">
            <a:off x="7519988"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Receptor</a:t>
            </a:r>
          </a:p>
        </p:txBody>
      </p:sp>
      <p:sp>
        <p:nvSpPr>
          <p:cNvPr id="15" name="Node detail receiver">
            <a:extLst xmlns:a="http://schemas.openxmlformats.org/drawingml/2006/main">
              <a:ext uri="{FF2B5EF4-FFF2-40B4-BE49-F238E27FC236}">
                <a16:creationId xmlns:a16="http://schemas.microsoft.com/office/drawing/2014/main" id="{9D019B29-75E2-4654-9C83-D75F0F498327}"/>
              </a:ext>
            </a:extLst>
          </p:cNvPr>
          <p:cNvSpPr>
            <a:spLocks xmlns:a="http://schemas.openxmlformats.org/drawingml/2006/main" noGrp="1"/>
          </p:cNvSpPr>
          <p:nvPr/>
        </p:nvSpPr>
        <p:spPr>
          <a:xfrm xmlns:a="http://schemas.openxmlformats.org/drawingml/2006/main">
            <a:off x="7519988" y="35814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Deduplica el</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EventId</a:t>
            </a:r>
          </a:p>
        </p:txBody>
      </p:sp>
      <p:sp>
        <p:nvSpPr>
          <p:cNvPr id="16" name="Diagram node ack">
            <a:extLst xmlns:a="http://schemas.openxmlformats.org/drawingml/2006/main">
              <a:ext uri="{FF2B5EF4-FFF2-40B4-BE49-F238E27FC236}">
                <a16:creationId xmlns:a16="http://schemas.microsoft.com/office/drawing/2014/main" id="{09B4AF9E-66D0-478A-AFDA-88B3F989B043}"/>
              </a:ext>
            </a:extLst>
          </p:cNvPr>
          <p:cNvSpPr>
            <a:spLocks xmlns:a="http://schemas.openxmlformats.org/drawingml/2006/main" noGrp="1"/>
          </p:cNvSpPr>
          <p:nvPr/>
        </p:nvSpPr>
        <p:spPr>
          <a:xfrm xmlns:a="http://schemas.openxmlformats.org/drawingml/2006/main">
            <a:off x="962025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7" name="Node label ack">
            <a:extLst xmlns:a="http://schemas.openxmlformats.org/drawingml/2006/main">
              <a:ext uri="{FF2B5EF4-FFF2-40B4-BE49-F238E27FC236}">
                <a16:creationId xmlns:a16="http://schemas.microsoft.com/office/drawing/2014/main" id="{05049D90-A725-4B3E-B4DB-54985630307C}"/>
              </a:ext>
            </a:extLst>
          </p:cNvPr>
          <p:cNvSpPr>
            <a:spLocks xmlns:a="http://schemas.openxmlformats.org/drawingml/2006/main" noGrp="1"/>
          </p:cNvSpPr>
          <p:nvPr/>
        </p:nvSpPr>
        <p:spPr>
          <a:xfrm xmlns:a="http://schemas.openxmlformats.org/drawingml/2006/main">
            <a:off x="9734550" y="3267075"/>
            <a:ext cx="1581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Confirmación</a:t>
            </a:r>
          </a:p>
        </p:txBody>
      </p:sp>
      <p:sp>
        <p:nvSpPr>
          <p:cNvPr id="18" name="Node detail ack">
            <a:extLst xmlns:a="http://schemas.openxmlformats.org/drawingml/2006/main">
              <a:ext uri="{FF2B5EF4-FFF2-40B4-BE49-F238E27FC236}">
                <a16:creationId xmlns:a16="http://schemas.microsoft.com/office/drawing/2014/main" id="{704DF5E6-029F-411B-9027-148741940DDB}"/>
              </a:ext>
            </a:extLst>
          </p:cNvPr>
          <p:cNvSpPr>
            <a:spLocks xmlns:a="http://schemas.openxmlformats.org/drawingml/2006/main" noGrp="1"/>
          </p:cNvSpPr>
          <p:nvPr/>
        </p:nvSpPr>
        <p:spPr>
          <a:xfrm xmlns:a="http://schemas.openxmlformats.org/drawingml/2006/main">
            <a:off x="9734550" y="35814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Guarda</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ProcessedAt</a:t>
            </a:r>
          </a:p>
        </p:txBody>
      </p:sp>
      <p:sp>
        <p:nvSpPr>
          <p:cNvPr id="20" name="Relationship order commit">
            <a:extLst xmlns:a="http://schemas.openxmlformats.org/drawingml/2006/main">
              <a:ext uri="{FF2B5EF4-FFF2-40B4-BE49-F238E27FC236}">
                <a16:creationId xmlns:a16="http://schemas.microsoft.com/office/drawing/2014/main" id="{124ED44A-A606-4F5E-A5A6-AC13E420CB22}"/>
              </a:ext>
            </a:extLst>
          </p:cNvPr>
          <p:cNvSpPr>
            <a:spLocks xmlns:a="http://schemas.openxmlformats.org/drawingml/2006/main" noGrp="1"/>
          </p:cNvSpPr>
          <p:nvPr/>
        </p:nvSpPr>
        <p:spPr>
          <a:xfrm xmlns:a="http://schemas.openxmlformats.org/drawingml/2006/main">
            <a:off x="1802606"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Una transacción</a:t>
            </a:r>
          </a:p>
        </p:txBody>
      </p:sp>
      <p:sp>
        <p:nvSpPr>
          <p:cNvPr id="22" name="Relationship commit worker">
            <a:extLst xmlns:a="http://schemas.openxmlformats.org/drawingml/2006/main">
              <a:ext uri="{FF2B5EF4-FFF2-40B4-BE49-F238E27FC236}">
                <a16:creationId xmlns:a16="http://schemas.microsoft.com/office/drawing/2014/main" id="{964B8828-DC2D-43E8-ACA6-D1EECAA6A1B5}"/>
              </a:ext>
            </a:extLst>
          </p:cNvPr>
          <p:cNvSpPr>
            <a:spLocks xmlns:a="http://schemas.openxmlformats.org/drawingml/2006/main" noGrp="1"/>
          </p:cNvSpPr>
          <p:nvPr/>
        </p:nvSpPr>
        <p:spPr>
          <a:xfrm xmlns:a="http://schemas.openxmlformats.org/drawingml/2006/main">
            <a:off x="4017169"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Entrega posterior</a:t>
            </a:r>
          </a:p>
        </p:txBody>
      </p:sp>
      <p:sp>
        <p:nvSpPr>
          <p:cNvPr id="24" name="Relationship worker receiver">
            <a:extLst xmlns:a="http://schemas.openxmlformats.org/drawingml/2006/main">
              <a:ext uri="{FF2B5EF4-FFF2-40B4-BE49-F238E27FC236}">
                <a16:creationId xmlns:a16="http://schemas.microsoft.com/office/drawing/2014/main" id="{AA2BD42B-5BB4-4BF3-8F19-447461499A58}"/>
              </a:ext>
            </a:extLst>
          </p:cNvPr>
          <p:cNvSpPr>
            <a:spLocks xmlns:a="http://schemas.openxmlformats.org/drawingml/2006/main" noGrp="1"/>
          </p:cNvSpPr>
          <p:nvPr/>
        </p:nvSpPr>
        <p:spPr>
          <a:xfrm xmlns:a="http://schemas.openxmlformats.org/drawingml/2006/main">
            <a:off x="6231731"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POST con EventId</a:t>
            </a:r>
          </a:p>
        </p:txBody>
      </p:sp>
      <p:sp>
        <p:nvSpPr>
          <p:cNvPr id="26" name="Relationship receiver ack">
            <a:extLst xmlns:a="http://schemas.openxmlformats.org/drawingml/2006/main">
              <a:ext uri="{FF2B5EF4-FFF2-40B4-BE49-F238E27FC236}">
                <a16:creationId xmlns:a16="http://schemas.microsoft.com/office/drawing/2014/main" id="{549EFC98-4C52-4B9D-9DB4-C5DC17594F5B}"/>
              </a:ext>
            </a:extLst>
          </p:cNvPr>
          <p:cNvSpPr>
            <a:spLocks xmlns:a="http://schemas.openxmlformats.org/drawingml/2006/main" noGrp="1"/>
          </p:cNvSpPr>
          <p:nvPr/>
        </p:nvSpPr>
        <p:spPr>
          <a:xfrm xmlns:a="http://schemas.openxmlformats.org/drawingml/2006/main">
            <a:off x="8446294"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Respuesta correcta</a:t>
            </a:r>
          </a:p>
        </p:txBody>
      </p:sp>
      <p:sp>
        <p:nvSpPr>
          <p:cNvPr id="27" name="Analysis 1">
            <a:extLst xmlns:a="http://schemas.openxmlformats.org/drawingml/2006/main">
              <a:ext uri="{FF2B5EF4-FFF2-40B4-BE49-F238E27FC236}">
                <a16:creationId xmlns:a16="http://schemas.microsoft.com/office/drawing/2014/main" id="{9C444B91-5017-42E2-91A0-A7A33A36AC53}"/>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Caída antes del envío.</a:t>
            </a:r>
            <a:r>
              <a:rPr sz="1800" b="0">
                <a:solidFill>
                  <a:srgbClr val="45516A"/>
                </a:solidFill>
                <a:latin typeface="Arial"/>
                <a:ea typeface="Arial"/>
                <a:cs typeface="Arial"/>
              </a:rPr>
              <a:t> La intención sigue en la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base. El siguiente recorrido del dispatcher puede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recuperarla sin crear otro pedido.</a:t>
            </a:r>
          </a:p>
        </p:txBody>
      </p:sp>
      <p:sp>
        <p:nvSpPr>
          <p:cNvPr id="28" name="Analysis 2">
            <a:extLst xmlns:a="http://schemas.openxmlformats.org/drawingml/2006/main">
              <a:ext uri="{FF2B5EF4-FFF2-40B4-BE49-F238E27FC236}">
                <a16:creationId xmlns:a16="http://schemas.microsoft.com/office/drawing/2014/main" id="{B6AC0283-CD51-407E-9404-1BEA322F50EC}"/>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Caída después del envío.</a:t>
            </a:r>
            <a:r>
              <a:rPr sz="1800" b="0">
                <a:solidFill>
                  <a:srgbClr val="45516A"/>
                </a:solidFill>
                <a:latin typeface="Arial"/>
                <a:ea typeface="Arial"/>
                <a:cs typeface="Arial"/>
              </a:rPr>
              <a:t> Si no se guardó</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ProcessedAt, el mensaje vuelve a salir. La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deduplicación durable del receptor evita repetir su</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efecto.</a:t>
            </a:r>
          </a:p>
        </p:txBody>
      </p:sp>
    </p:spTree>
    <p:extLst>
      <p:ext uri="{BB962C8B-B14F-4D97-AF65-F5344CB8AC3E}">
        <p14:creationId xmlns:p14="http://schemas.microsoft.com/office/powerpoint/2010/main" val="1663095503"/>
      </p:ext>
    </p:extLst>
  </p:cSld>
</p:sld>
</file>

<file path=ppt/slides/slide4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5" name="Deep module">
            <a:extLst xmlns:a="http://schemas.openxmlformats.org/drawingml/2006/main">
              <a:ext uri="{FF2B5EF4-FFF2-40B4-BE49-F238E27FC236}">
                <a16:creationId xmlns:a16="http://schemas.microsoft.com/office/drawing/2014/main" id="{B8F8256B-9794-4725-B03E-D170C48E7EA3}"/>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08</a:t>
            </a:r>
          </a:p>
        </p:txBody>
      </p:sp>
      <p:sp>
        <p:nvSpPr>
          <p:cNvPr id="2" name="Deep title">
            <a:extLst xmlns:a="http://schemas.openxmlformats.org/drawingml/2006/main">
              <a:ext uri="{FF2B5EF4-FFF2-40B4-BE49-F238E27FC236}">
                <a16:creationId xmlns:a16="http://schemas.microsoft.com/office/drawing/2014/main" id="{E5AA656A-1E19-4545-908E-E56FEFB03182}"/>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El adaptador concentra los detalles de HTTP</a:t>
            </a:r>
          </a:p>
        </p:txBody>
      </p:sp>
      <p:sp>
        <p:nvSpPr>
          <p:cNvPr id="3" name="Deep lead">
            <a:extLst xmlns:a="http://schemas.openxmlformats.org/drawingml/2006/main">
              <a:ext uri="{FF2B5EF4-FFF2-40B4-BE49-F238E27FC236}">
                <a16:creationId xmlns:a16="http://schemas.microsoft.com/office/drawing/2014/main" id="{7B09C0A2-2EAA-4F86-83A7-E4F3C9BC4DFF}"/>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El dispatcher pide publicar una notificación. El adaptador decide cómo enviarla y convierte</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una respuesta HTTP fallida en un fallo observable.</a:t>
            </a:r>
          </a:p>
        </p:txBody>
      </p:sp>
      <p:sp>
        <p:nvSpPr>
          <p:cNvPr id="4" name="Code provenance">
            <a:extLst xmlns:a="http://schemas.openxmlformats.org/drawingml/2006/main">
              <a:ext uri="{FF2B5EF4-FFF2-40B4-BE49-F238E27FC236}">
                <a16:creationId xmlns:a16="http://schemas.microsoft.com/office/drawing/2014/main" id="{5F5E51A2-97F7-4F59-BD6E-B64868CA65A1}"/>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HttpOrderNotificationPublisher.cs</a:t>
            </a:r>
          </a:p>
        </p:txBody>
      </p:sp>
      <p:sp>
        <p:nvSpPr>
          <p:cNvPr id="5" name="Code line 1">
            <a:extLst xmlns:a="http://schemas.openxmlformats.org/drawingml/2006/main">
              <a:ext uri="{FF2B5EF4-FFF2-40B4-BE49-F238E27FC236}">
                <a16:creationId xmlns:a16="http://schemas.microsoft.com/office/drawing/2014/main" id="{D93285AE-FCD3-4CAA-B318-3AD5DCB7A41C}"/>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public async Task PublishAsync(</a:t>
            </a:r>
          </a:p>
        </p:txBody>
      </p:sp>
      <p:sp>
        <p:nvSpPr>
          <p:cNvPr id="6" name="Code line 2">
            <a:extLst xmlns:a="http://schemas.openxmlformats.org/drawingml/2006/main">
              <a:ext uri="{FF2B5EF4-FFF2-40B4-BE49-F238E27FC236}">
                <a16:creationId xmlns:a16="http://schemas.microsoft.com/office/drawing/2014/main" id="{57713ABD-AB6B-47C0-8CB6-AC6068FC0122}"/>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OrderNotification notification,</a:t>
            </a:r>
          </a:p>
        </p:txBody>
      </p:sp>
      <p:sp>
        <p:nvSpPr>
          <p:cNvPr id="7" name="Code line 3">
            <a:extLst xmlns:a="http://schemas.openxmlformats.org/drawingml/2006/main">
              <a:ext uri="{FF2B5EF4-FFF2-40B4-BE49-F238E27FC236}">
                <a16:creationId xmlns:a16="http://schemas.microsoft.com/office/drawing/2014/main" id="{53160200-8B5E-4378-B30B-C0B5C70A9220}"/>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CancellationToken cancellationToken)</a:t>
            </a:r>
          </a:p>
        </p:txBody>
      </p:sp>
      <p:sp>
        <p:nvSpPr>
          <p:cNvPr id="8" name="Code line 4">
            <a:extLst xmlns:a="http://schemas.openxmlformats.org/drawingml/2006/main">
              <a:ext uri="{FF2B5EF4-FFF2-40B4-BE49-F238E27FC236}">
                <a16:creationId xmlns:a16="http://schemas.microsoft.com/office/drawing/2014/main" id="{1EA25139-C54D-4A7A-B194-658B0AA9A781}"/>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9" name="Code line 5">
            <a:extLst xmlns:a="http://schemas.openxmlformats.org/drawingml/2006/main">
              <a:ext uri="{FF2B5EF4-FFF2-40B4-BE49-F238E27FC236}">
                <a16:creationId xmlns:a16="http://schemas.microsoft.com/office/drawing/2014/main" id="{E95413EB-0FD0-4D2A-8807-E8D0C972E503}"/>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using var response = await httpClient.PostAsJsonAsync(</a:t>
            </a:r>
          </a:p>
        </p:txBody>
      </p:sp>
      <p:sp>
        <p:nvSpPr>
          <p:cNvPr id="10" name="Code line 6">
            <a:extLst xmlns:a="http://schemas.openxmlformats.org/drawingml/2006/main">
              <a:ext uri="{FF2B5EF4-FFF2-40B4-BE49-F238E27FC236}">
                <a16:creationId xmlns:a16="http://schemas.microsoft.com/office/drawing/2014/main" id="{D85C0C68-CDA1-4BB5-B736-9B6709FE40A2}"/>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"notifications", notification, cancellationToken);</a:t>
            </a:r>
          </a:p>
        </p:txBody>
      </p:sp>
      <p:sp>
        <p:nvSpPr>
          <p:cNvPr id="11" name="Code line 7">
            <a:extLst xmlns:a="http://schemas.openxmlformats.org/drawingml/2006/main">
              <a:ext uri="{FF2B5EF4-FFF2-40B4-BE49-F238E27FC236}">
                <a16:creationId xmlns:a16="http://schemas.microsoft.com/office/drawing/2014/main" id="{DA68755E-F6F5-42F8-8C47-37D09CDA5845}"/>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response.EnsureSuccessStatusCode();</a:t>
            </a:r>
          </a:p>
        </p:txBody>
      </p:sp>
      <p:sp>
        <p:nvSpPr>
          <p:cNvPr id="12" name="Code line 8">
            <a:extLst xmlns:a="http://schemas.openxmlformats.org/drawingml/2006/main">
              <a:ext uri="{FF2B5EF4-FFF2-40B4-BE49-F238E27FC236}">
                <a16:creationId xmlns:a16="http://schemas.microsoft.com/office/drawing/2014/main" id="{B94AE27A-4925-4F79-BFA1-498287756156}"/>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t>
            </a:r>
          </a:p>
        </p:txBody>
      </p:sp>
      <p:sp>
        <p:nvSpPr>
          <p:cNvPr id="13" name="Analysis 1">
            <a:extLst xmlns:a="http://schemas.openxmlformats.org/drawingml/2006/main">
              <a:ext uri="{FF2B5EF4-FFF2-40B4-BE49-F238E27FC236}">
                <a16:creationId xmlns:a16="http://schemas.microsoft.com/office/drawing/2014/main" id="{BB4B40F7-D36D-4512-8286-D3C0B3AAF1AA}"/>
              </a:ext>
            </a:extLst>
          </p:cNvPr>
          <p:cNvSpPr>
            <a:spLocks xmlns:a="http://schemas.openxmlformats.org/drawingml/2006/main" noGrp="1"/>
          </p:cNvSpPr>
          <p:nvPr/>
        </p:nvSpPr>
        <p:spPr>
          <a:xfrm xmlns:a="http://schemas.openxmlformats.org/drawingml/2006/main">
            <a:off x="762000" y="5581650"/>
            <a:ext cx="5191125"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La responsabilidad del puerto.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IOrderNotificationPublisher expresa la operación de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publicación. BaseUrl, credencial y política HTTP se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configuran en infraestructura.</a:t>
            </a:r>
          </a:p>
        </p:txBody>
      </p:sp>
      <p:sp>
        <p:nvSpPr>
          <p:cNvPr id="14" name="Analysis 2">
            <a:extLst xmlns:a="http://schemas.openxmlformats.org/drawingml/2006/main">
              <a:ext uri="{FF2B5EF4-FFF2-40B4-BE49-F238E27FC236}">
                <a16:creationId xmlns:a16="http://schemas.microsoft.com/office/drawing/2014/main" id="{574A4632-2D1F-43D2-8042-4009CD1A599A}"/>
              </a:ext>
            </a:extLst>
          </p:cNvPr>
          <p:cNvSpPr>
            <a:spLocks xmlns:a="http://schemas.openxmlformats.org/drawingml/2006/main" noGrp="1"/>
          </p:cNvSpPr>
          <p:nvPr/>
        </p:nvSpPr>
        <p:spPr>
          <a:xfrm xmlns:a="http://schemas.openxmlformats.org/drawingml/2006/main">
            <a:off x="6238875" y="5581650"/>
            <a:ext cx="5191125"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La responsabilidad del receptor.</a:t>
            </a:r>
            <a:r>
              <a:rPr sz="1725" b="0">
                <a:solidFill>
                  <a:srgbClr val="D0D8E6"/>
                </a:solidFill>
                <a:latin typeface="Arial"/>
                <a:ea typeface="Arial"/>
                <a:cs typeface="Arial"/>
              </a:rPr>
              <a:t> Un timeout no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demuestra que el POST no se procesó. Reintentar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requiere reconocer el mismo EventId y conservar la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deduplicación.</a:t>
            </a:r>
          </a:p>
        </p:txBody>
      </p:sp>
    </p:spTree>
    <p:extLst>
      <p:ext uri="{BB962C8B-B14F-4D97-AF65-F5344CB8AC3E}">
        <p14:creationId xmlns:p14="http://schemas.microsoft.com/office/powerpoint/2010/main" val="151443345"/>
      </p:ext>
    </p:extLst>
  </p:cSld>
</p:sld>
</file>

<file path=ppt/slides/slide5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8" name="Deep module">
            <a:extLst xmlns:a="http://schemas.openxmlformats.org/drawingml/2006/main">
              <a:ext uri="{FF2B5EF4-FFF2-40B4-BE49-F238E27FC236}">
                <a16:creationId xmlns:a16="http://schemas.microsoft.com/office/drawing/2014/main" id="{711EDB57-7D24-4F5C-8D1B-9914AA4A898B}"/>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08</a:t>
            </a:r>
          </a:p>
        </p:txBody>
      </p:sp>
      <p:sp>
        <p:nvSpPr>
          <p:cNvPr id="2" name="Deep title">
            <a:extLst xmlns:a="http://schemas.openxmlformats.org/drawingml/2006/main">
              <a:ext uri="{FF2B5EF4-FFF2-40B4-BE49-F238E27FC236}">
                <a16:creationId xmlns:a16="http://schemas.microsoft.com/office/drawing/2014/main" id="{E7E3E7FF-F9A2-48A2-AE53-FCEDB03AB211}"/>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Reintentar tiene un presupuesto</a:t>
            </a:r>
          </a:p>
        </p:txBody>
      </p:sp>
      <p:sp>
        <p:nvSpPr>
          <p:cNvPr id="3" name="Deep lead">
            <a:extLst xmlns:a="http://schemas.openxmlformats.org/drawingml/2006/main">
              <a:ext uri="{FF2B5EF4-FFF2-40B4-BE49-F238E27FC236}">
                <a16:creationId xmlns:a16="http://schemas.microsoft.com/office/drawing/2014/main" id="{77E5ECAB-C27F-40CE-B605-47244811EBCE}"/>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política combina pausas, límite de intentos y un circuito. Más reintentos pueden aumentar</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tanto la carga como el tiempo de respuesta.</a:t>
            </a:r>
          </a:p>
        </p:txBody>
      </p:sp>
      <p:sp>
        <p:nvSpPr>
          <p:cNvPr id="4" name="Code provenance">
            <a:extLst xmlns:a="http://schemas.openxmlformats.org/drawingml/2006/main">
              <a:ext uri="{FF2B5EF4-FFF2-40B4-BE49-F238E27FC236}">
                <a16:creationId xmlns:a16="http://schemas.microsoft.com/office/drawing/2014/main" id="{2402B541-F8DB-4DEE-AEBF-17E6FE18A7DE}"/>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DependencyInjection.cs</a:t>
            </a:r>
          </a:p>
        </p:txBody>
      </p:sp>
      <p:sp>
        <p:nvSpPr>
          <p:cNvPr id="5" name="Code line 1">
            <a:extLst xmlns:a="http://schemas.openxmlformats.org/drawingml/2006/main">
              <a:ext uri="{FF2B5EF4-FFF2-40B4-BE49-F238E27FC236}">
                <a16:creationId xmlns:a16="http://schemas.microsoft.com/office/drawing/2014/main" id="{4BBD985F-1D5C-4606-AD2F-A1534860C037}"/>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options.Retry.MaxRetryAttempts = 2;</a:t>
            </a:r>
          </a:p>
        </p:txBody>
      </p:sp>
      <p:sp>
        <p:nvSpPr>
          <p:cNvPr id="6" name="Code line 2">
            <a:extLst xmlns:a="http://schemas.openxmlformats.org/drawingml/2006/main">
              <a:ext uri="{FF2B5EF4-FFF2-40B4-BE49-F238E27FC236}">
                <a16:creationId xmlns:a16="http://schemas.microsoft.com/office/drawing/2014/main" id="{69F8EBE0-7BA8-4838-B85F-14ACD4CFAC05}"/>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options.Retry.Delay = TimeSpan.FromMilliseconds(200);</a:t>
            </a:r>
          </a:p>
        </p:txBody>
      </p:sp>
      <p:sp>
        <p:nvSpPr>
          <p:cNvPr id="7" name="Code line 3">
            <a:extLst xmlns:a="http://schemas.openxmlformats.org/drawingml/2006/main">
              <a:ext uri="{FF2B5EF4-FFF2-40B4-BE49-F238E27FC236}">
                <a16:creationId xmlns:a16="http://schemas.microsoft.com/office/drawing/2014/main" id="{C388CDDD-6226-498F-BD4F-A6DB86A4341B}"/>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options.Retry.BackoffType = DelayBackoffType.Exponential;</a:t>
            </a:r>
          </a:p>
        </p:txBody>
      </p:sp>
      <p:sp>
        <p:nvSpPr>
          <p:cNvPr id="8" name="Code line 4">
            <a:extLst xmlns:a="http://schemas.openxmlformats.org/drawingml/2006/main">
              <a:ext uri="{FF2B5EF4-FFF2-40B4-BE49-F238E27FC236}">
                <a16:creationId xmlns:a16="http://schemas.microsoft.com/office/drawing/2014/main" id="{3F0125C6-722B-41EC-994D-BF5B04BA6B13}"/>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options.Retry.UseJitter = true;</a:t>
            </a:r>
          </a:p>
        </p:txBody>
      </p:sp>
      <p:sp>
        <p:nvSpPr>
          <p:cNvPr id="9" name="Code line 5">
            <a:extLst xmlns:a="http://schemas.openxmlformats.org/drawingml/2006/main">
              <a:ext uri="{FF2B5EF4-FFF2-40B4-BE49-F238E27FC236}">
                <a16:creationId xmlns:a16="http://schemas.microsoft.com/office/drawing/2014/main" id="{7AB87179-EC97-49AC-B152-2E7642B08E4F}"/>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options.CircuitBreaker.MinimumThroughput = 5;</a:t>
            </a:r>
          </a:p>
        </p:txBody>
      </p:sp>
      <p:sp>
        <p:nvSpPr>
          <p:cNvPr id="10" name="Code line 6">
            <a:extLst xmlns:a="http://schemas.openxmlformats.org/drawingml/2006/main">
              <a:ext uri="{FF2B5EF4-FFF2-40B4-BE49-F238E27FC236}">
                <a16:creationId xmlns:a16="http://schemas.microsoft.com/office/drawing/2014/main" id="{6AB36183-1142-4E14-97E2-69AE557488D5}"/>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options.CircuitBreaker.FailureRatio = 0.5;</a:t>
            </a:r>
          </a:p>
        </p:txBody>
      </p:sp>
      <p:sp>
        <p:nvSpPr>
          <p:cNvPr id="11" name="Code line 7">
            <a:extLst xmlns:a="http://schemas.openxmlformats.org/drawingml/2006/main">
              <a:ext uri="{FF2B5EF4-FFF2-40B4-BE49-F238E27FC236}">
                <a16:creationId xmlns:a16="http://schemas.microsoft.com/office/drawing/2014/main" id="{4CF8D8C6-EF6C-474A-ACAC-7EB02D19B9F8}"/>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options.CircuitBreaker.SamplingDuration =</a:t>
            </a:r>
          </a:p>
        </p:txBody>
      </p:sp>
      <p:sp>
        <p:nvSpPr>
          <p:cNvPr id="12" name="Code line 8">
            <a:extLst xmlns:a="http://schemas.openxmlformats.org/drawingml/2006/main">
              <a:ext uri="{FF2B5EF4-FFF2-40B4-BE49-F238E27FC236}">
                <a16:creationId xmlns:a16="http://schemas.microsoft.com/office/drawing/2014/main" id="{DD31308B-D9BB-4F4A-A732-1684619333D4}"/>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TimeSpan.FromSeconds(30);</a:t>
            </a:r>
          </a:p>
        </p:txBody>
      </p:sp>
      <p:sp>
        <p:nvSpPr>
          <p:cNvPr id="13" name="Code line 9">
            <a:extLst xmlns:a="http://schemas.openxmlformats.org/drawingml/2006/main">
              <a:ext uri="{FF2B5EF4-FFF2-40B4-BE49-F238E27FC236}">
                <a16:creationId xmlns:a16="http://schemas.microsoft.com/office/drawing/2014/main" id="{459B7169-641D-439F-827C-A7701DAD38D1}"/>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options.CircuitBreaker.BreakDuration = TimeSpan.FromSeconds(10);</a:t>
            </a:r>
          </a:p>
        </p:txBody>
      </p:sp>
      <p:sp>
        <p:nvSpPr>
          <p:cNvPr id="14" name="Code line 10">
            <a:extLst xmlns:a="http://schemas.openxmlformats.org/drawingml/2006/main">
              <a:ext uri="{FF2B5EF4-FFF2-40B4-BE49-F238E27FC236}">
                <a16:creationId xmlns:a16="http://schemas.microsoft.com/office/drawing/2014/main" id="{D2BF526D-DE82-4DB9-BC98-1FB1735C02ED}"/>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options.AttemptTimeout.Timeout = TimeSpan.FromSeconds(3);</a:t>
            </a:r>
          </a:p>
        </p:txBody>
      </p:sp>
      <p:sp>
        <p:nvSpPr>
          <p:cNvPr id="15" name="Code line 11">
            <a:extLst xmlns:a="http://schemas.openxmlformats.org/drawingml/2006/main">
              <a:ext uri="{FF2B5EF4-FFF2-40B4-BE49-F238E27FC236}">
                <a16:creationId xmlns:a16="http://schemas.microsoft.com/office/drawing/2014/main" id="{BD6CF085-6D40-4EEF-92AE-C7EEBAE0BD24}"/>
              </a:ext>
            </a:extLst>
          </p:cNvPr>
          <p:cNvSpPr>
            <a:spLocks xmlns:a="http://schemas.openxmlformats.org/drawingml/2006/main" noGrp="1"/>
          </p:cNvSpPr>
          <p:nvPr/>
        </p:nvSpPr>
        <p:spPr>
          <a:xfrm xmlns:a="http://schemas.openxmlformats.org/drawingml/2006/main">
            <a:off x="781050" y="51435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options.TotalRequestTimeout.Timeout = TimeSpan.FromSeconds(12);</a:t>
            </a:r>
          </a:p>
        </p:txBody>
      </p:sp>
      <p:sp>
        <p:nvSpPr>
          <p:cNvPr id="16" name="Analysis 1">
            <a:extLst xmlns:a="http://schemas.openxmlformats.org/drawingml/2006/main">
              <a:ext uri="{FF2B5EF4-FFF2-40B4-BE49-F238E27FC236}">
                <a16:creationId xmlns:a16="http://schemas.microsoft.com/office/drawing/2014/main" id="{AD239689-5F98-45EC-B0BB-BE21E1FF5645}"/>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Intentos acotados.</a:t>
            </a:r>
            <a:r>
              <a:rPr sz="1725" b="0">
                <a:solidFill>
                  <a:srgbClr val="D0D8E6"/>
                </a:solidFill>
                <a:latin typeface="Arial"/>
                <a:ea typeface="Arial"/>
                <a:cs typeface="Arial"/>
              </a:rPr>
              <a:t> El envío inicial permite dos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repeticiones. El timeout total limita el conjunto y</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puede terminarlo antes.</a:t>
            </a:r>
          </a:p>
        </p:txBody>
      </p:sp>
      <p:sp>
        <p:nvSpPr>
          <p:cNvPr id="17" name="Analysis 2">
            <a:extLst xmlns:a="http://schemas.openxmlformats.org/drawingml/2006/main">
              <a:ext uri="{FF2B5EF4-FFF2-40B4-BE49-F238E27FC236}">
                <a16:creationId xmlns:a16="http://schemas.microsoft.com/office/drawing/2014/main" id="{88C0B1DF-84BF-4AF0-8E5C-6707690774B7}"/>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Circuito con umbral.</a:t>
            </a:r>
            <a:r>
              <a:rPr sz="1725" b="0">
                <a:solidFill>
                  <a:srgbClr val="D0D8E6"/>
                </a:solidFill>
                <a:latin typeface="Arial"/>
                <a:ea typeface="Arial"/>
                <a:cs typeface="Arial"/>
              </a:rPr>
              <a:t> Necesita cinco muestras y</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proporción de fallos de 0.5 en 30 segundos. Un único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error no demuestra apertura.</a:t>
            </a:r>
          </a:p>
        </p:txBody>
      </p:sp>
    </p:spTree>
    <p:extLst>
      <p:ext uri="{BB962C8B-B14F-4D97-AF65-F5344CB8AC3E}">
        <p14:creationId xmlns:p14="http://schemas.microsoft.com/office/powerpoint/2010/main" val="983288481"/>
      </p:ext>
    </p:extLst>
  </p:cSld>
</p:sld>
</file>

<file path=ppt/slides/slide51.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65DBE39E-2A28-42CE-972B-42D2641FAF63}"/>
              </a:ext>
            </a:extLst>
          </p:cNvPr>
          <p:cNvCxnSpPr>
            <a:stCxn xmlns:a="http://schemas.openxmlformats.org/drawingml/2006/main" id="13" idx="3"/>
            <a:endCxn xmlns:a="http://schemas.openxmlformats.org/drawingml/2006/main" id="16" idx="1"/>
          </p:cNvCxnSpPr>
          <p:nvPr/>
        </p:nvCxnSpPr>
        <p:spPr>
          <a:xfrm xmlns:a="http://schemas.openxmlformats.org/drawingml/2006/main">
            <a:off x="9215438"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9" name="">
            <a:extLst xmlns:a="http://schemas.openxmlformats.org/drawingml/2006/main">
              <a:ext uri="{FF2B5EF4-FFF2-40B4-BE49-F238E27FC236}">
                <a16:creationId xmlns:a16="http://schemas.microsoft.com/office/drawing/2014/main" id="{C8F0927B-0F48-4E3B-8967-36318DED6601}"/>
              </a:ext>
            </a:extLst>
          </p:cNvPr>
          <p:cNvCxnSpPr>
            <a:stCxn xmlns:a="http://schemas.openxmlformats.org/drawingml/2006/main" id="10" idx="3"/>
            <a:endCxn xmlns:a="http://schemas.openxmlformats.org/drawingml/2006/main" id="13" idx="1"/>
          </p:cNvCxnSpPr>
          <p:nvPr/>
        </p:nvCxnSpPr>
        <p:spPr>
          <a:xfrm xmlns:a="http://schemas.openxmlformats.org/drawingml/2006/main">
            <a:off x="7000875"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7" name="">
            <a:extLst xmlns:a="http://schemas.openxmlformats.org/drawingml/2006/main">
              <a:ext uri="{FF2B5EF4-FFF2-40B4-BE49-F238E27FC236}">
                <a16:creationId xmlns:a16="http://schemas.microsoft.com/office/drawing/2014/main" id="{BBEEED8B-76CB-4D71-960A-D85662F93751}"/>
              </a:ext>
            </a:extLst>
          </p:cNvPr>
          <p:cNvCxnSpPr>
            <a:stCxn xmlns:a="http://schemas.openxmlformats.org/drawingml/2006/main" id="7" idx="3"/>
            <a:endCxn xmlns:a="http://schemas.openxmlformats.org/drawingml/2006/main" id="10" idx="1"/>
          </p:cNvCxnSpPr>
          <p:nvPr/>
        </p:nvCxnSpPr>
        <p:spPr>
          <a:xfrm xmlns:a="http://schemas.openxmlformats.org/drawingml/2006/main">
            <a:off x="4786313" y="3929063"/>
            <a:ext cx="404812"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5" name="">
            <a:extLst xmlns:a="http://schemas.openxmlformats.org/drawingml/2006/main">
              <a:ext uri="{FF2B5EF4-FFF2-40B4-BE49-F238E27FC236}">
                <a16:creationId xmlns:a16="http://schemas.microsoft.com/office/drawing/2014/main" id="{A4A47B9F-C1F0-4011-A18E-981B8D077309}"/>
              </a:ext>
            </a:extLst>
          </p:cNvPr>
          <p:cNvCxnSpPr>
            <a:stCxn xmlns:a="http://schemas.openxmlformats.org/drawingml/2006/main" id="22" idx="2"/>
            <a:endCxn xmlns:a="http://schemas.openxmlformats.org/drawingml/2006/main" id="16" idx="0"/>
          </p:cNvCxnSpPr>
          <p:nvPr/>
        </p:nvCxnSpPr>
        <p:spPr>
          <a:xfrm xmlns:a="http://schemas.openxmlformats.org/drawingml/2006/main" flipH="1">
            <a:off x="10525125" y="2547938"/>
            <a:ext cx="0" cy="595312"/>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4" name="">
            <a:extLst xmlns:a="http://schemas.openxmlformats.org/drawingml/2006/main">
              <a:ext uri="{FF2B5EF4-FFF2-40B4-BE49-F238E27FC236}">
                <a16:creationId xmlns:a16="http://schemas.microsoft.com/office/drawing/2014/main" id="{85A64476-2431-432E-BFD7-A81624804BC6}"/>
              </a:ext>
            </a:extLst>
          </p:cNvPr>
          <p:cNvCxnSpPr>
            <a:stCxn xmlns:a="http://schemas.openxmlformats.org/drawingml/2006/main" id="21" idx="3"/>
            <a:endCxn xmlns:a="http://schemas.openxmlformats.org/drawingml/2006/main" id="22" idx="1"/>
          </p:cNvCxnSpPr>
          <p:nvPr/>
        </p:nvCxnSpPr>
        <p:spPr>
          <a:xfrm xmlns:a="http://schemas.openxmlformats.org/drawingml/2006/main">
            <a:off x="3886200" y="2543176"/>
            <a:ext cx="6634163" cy="0"/>
          </a:xfrm>
          <a:prstGeom xmlns:a="http://schemas.openxmlformats.org/drawingml/2006/main" prst="straightConnector1">
            <a:avLst/>
          </a:prstGeom>
          <a:ln xmlns:a="http://schemas.openxmlformats.org/drawingml/2006/main" w="19050">
            <a:solidFill>
              <a:srgbClr val="6044B6"/>
            </a:solidFill>
          </a:ln>
        </p:spPr>
      </p:cxnSp>
      <p:cxnSp>
        <p:nvCxnSpPr>
          <p:cNvPr id="23" name="">
            <a:extLst xmlns:a="http://schemas.openxmlformats.org/drawingml/2006/main">
              <a:ext uri="{FF2B5EF4-FFF2-40B4-BE49-F238E27FC236}">
                <a16:creationId xmlns:a16="http://schemas.microsoft.com/office/drawing/2014/main" id="{5C8C0149-B552-4C66-AAB5-F3FCEA4B191A}"/>
              </a:ext>
            </a:extLst>
          </p:cNvPr>
          <p:cNvCxnSpPr>
            <a:stCxn xmlns:a="http://schemas.openxmlformats.org/drawingml/2006/main" id="7" idx="0"/>
            <a:endCxn xmlns:a="http://schemas.openxmlformats.org/drawingml/2006/main" id="21" idx="2"/>
          </p:cNvCxnSpPr>
          <p:nvPr/>
        </p:nvCxnSpPr>
        <p:spPr>
          <a:xfrm xmlns:a="http://schemas.openxmlformats.org/drawingml/2006/main" flipH="1" flipV="1">
            <a:off x="3881438" y="2547938"/>
            <a:ext cx="0" cy="595312"/>
          </a:xfrm>
          <a:prstGeom xmlns:a="http://schemas.openxmlformats.org/drawingml/2006/main" prst="straightConnector1">
            <a:avLst/>
          </a:prstGeom>
          <a:ln xmlns:a="http://schemas.openxmlformats.org/drawingml/2006/main" w="19050">
            <a:solidFill>
              <a:srgbClr val="6044B6"/>
            </a:solidFill>
          </a:ln>
        </p:spPr>
      </p:cxnSp>
      <p:cxnSp>
        <p:nvCxnSpPr>
          <p:cNvPr id="19" name="">
            <a:extLst xmlns:a="http://schemas.openxmlformats.org/drawingml/2006/main">
              <a:ext uri="{FF2B5EF4-FFF2-40B4-BE49-F238E27FC236}">
                <a16:creationId xmlns:a16="http://schemas.microsoft.com/office/drawing/2014/main" id="{AC7E12D8-14B2-4009-9CD7-DB1D8E195F1E}"/>
              </a:ext>
            </a:extLst>
          </p:cNvPr>
          <p:cNvCxnSpPr>
            <a:stCxn xmlns:a="http://schemas.openxmlformats.org/drawingml/2006/main" id="4" idx="3"/>
            <a:endCxn xmlns:a="http://schemas.openxmlformats.org/drawingml/2006/main" id="7" idx="1"/>
          </p:cNvCxnSpPr>
          <p:nvPr/>
        </p:nvCxnSpPr>
        <p:spPr>
          <a:xfrm xmlns:a="http://schemas.openxmlformats.org/drawingml/2006/main">
            <a:off x="2571750" y="3929063"/>
            <a:ext cx="404813"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35" name="Deep module">
            <a:extLst xmlns:a="http://schemas.openxmlformats.org/drawingml/2006/main">
              <a:ext uri="{FF2B5EF4-FFF2-40B4-BE49-F238E27FC236}">
                <a16:creationId xmlns:a16="http://schemas.microsoft.com/office/drawing/2014/main" id="{BA343D7E-AF6E-4548-8796-DEE927270788}"/>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08</a:t>
            </a:r>
          </a:p>
        </p:txBody>
      </p:sp>
      <p:sp>
        <p:nvSpPr>
          <p:cNvPr id="2" name="Deep title">
            <a:extLst xmlns:a="http://schemas.openxmlformats.org/drawingml/2006/main">
              <a:ext uri="{FF2B5EF4-FFF2-40B4-BE49-F238E27FC236}">
                <a16:creationId xmlns:a16="http://schemas.microsoft.com/office/drawing/2014/main" id="{2A30D971-EE0F-4ED8-9459-5206899CE412}"/>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La caché acelera lecturas y exige invalidación</a:t>
            </a:r>
          </a:p>
        </p:txBody>
      </p:sp>
      <p:sp>
        <p:nvSpPr>
          <p:cNvPr id="3" name="Deep lead">
            <a:extLst xmlns:a="http://schemas.openxmlformats.org/drawingml/2006/main">
              <a:ext uri="{FF2B5EF4-FFF2-40B4-BE49-F238E27FC236}">
                <a16:creationId xmlns:a16="http://schemas.microsoft.com/office/drawing/2014/main" id="{CDC86F3A-4E91-4E93-AFEE-D0FE30776E43}"/>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Cache Aside consulta primero la copia temporal. Si falta, carga la base y guarda el resultado</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para lecturas posteriores.</a:t>
            </a:r>
          </a:p>
        </p:txBody>
      </p:sp>
      <p:sp>
        <p:nvSpPr>
          <p:cNvPr id="4" name="Diagram node query">
            <a:extLst xmlns:a="http://schemas.openxmlformats.org/drawingml/2006/main">
              <a:ext uri="{FF2B5EF4-FFF2-40B4-BE49-F238E27FC236}">
                <a16:creationId xmlns:a16="http://schemas.microsoft.com/office/drawing/2014/main" id="{1228BE5B-C31C-4788-A961-6A6008713D9F}"/>
              </a:ext>
            </a:extLst>
          </p:cNvPr>
          <p:cNvSpPr>
            <a:spLocks xmlns:a="http://schemas.openxmlformats.org/drawingml/2006/main" noGrp="1"/>
          </p:cNvSpPr>
          <p:nvPr/>
        </p:nvSpPr>
        <p:spPr>
          <a:xfrm xmlns:a="http://schemas.openxmlformats.org/drawingml/2006/main">
            <a:off x="76200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query">
            <a:extLst xmlns:a="http://schemas.openxmlformats.org/drawingml/2006/main">
              <a:ext uri="{FF2B5EF4-FFF2-40B4-BE49-F238E27FC236}">
                <a16:creationId xmlns:a16="http://schemas.microsoft.com/office/drawing/2014/main" id="{D9E38D59-2808-4A3F-82C2-C6C38F90D0A7}"/>
              </a:ext>
            </a:extLst>
          </p:cNvPr>
          <p:cNvSpPr>
            <a:spLocks xmlns:a="http://schemas.openxmlformats.org/drawingml/2006/main" noGrp="1"/>
          </p:cNvSpPr>
          <p:nvPr/>
        </p:nvSpPr>
        <p:spPr>
          <a:xfrm xmlns:a="http://schemas.openxmlformats.org/drawingml/2006/main">
            <a:off x="876300"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Consultar</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producto</a:t>
            </a:r>
          </a:p>
        </p:txBody>
      </p:sp>
      <p:sp>
        <p:nvSpPr>
          <p:cNvPr id="6" name="Node detail query">
            <a:extLst xmlns:a="http://schemas.openxmlformats.org/drawingml/2006/main">
              <a:ext uri="{FF2B5EF4-FFF2-40B4-BE49-F238E27FC236}">
                <a16:creationId xmlns:a16="http://schemas.microsoft.com/office/drawing/2014/main" id="{DEA8B4B1-E78A-4302-87B0-6FD1133012C8}"/>
              </a:ext>
            </a:extLst>
          </p:cNvPr>
          <p:cNvSpPr>
            <a:spLocks xmlns:a="http://schemas.openxmlformats.org/drawingml/2006/main" noGrp="1"/>
          </p:cNvSpPr>
          <p:nvPr/>
        </p:nvSpPr>
        <p:spPr>
          <a:xfrm xmlns:a="http://schemas.openxmlformats.org/drawingml/2006/main">
            <a:off x="876300"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Handler de</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lectura</a:t>
            </a:r>
          </a:p>
        </p:txBody>
      </p:sp>
      <p:sp>
        <p:nvSpPr>
          <p:cNvPr id="7" name="Diagram node cache">
            <a:extLst xmlns:a="http://schemas.openxmlformats.org/drawingml/2006/main">
              <a:ext uri="{FF2B5EF4-FFF2-40B4-BE49-F238E27FC236}">
                <a16:creationId xmlns:a16="http://schemas.microsoft.com/office/drawing/2014/main" id="{A03DC0C0-AB38-47DA-8CC1-5A6A286EEB7B}"/>
              </a:ext>
            </a:extLst>
          </p:cNvPr>
          <p:cNvSpPr>
            <a:spLocks xmlns:a="http://schemas.openxmlformats.org/drawingml/2006/main" noGrp="1"/>
          </p:cNvSpPr>
          <p:nvPr/>
        </p:nvSpPr>
        <p:spPr>
          <a:xfrm xmlns:a="http://schemas.openxmlformats.org/drawingml/2006/main">
            <a:off x="2976563"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cache">
            <a:extLst xmlns:a="http://schemas.openxmlformats.org/drawingml/2006/main">
              <a:ext uri="{FF2B5EF4-FFF2-40B4-BE49-F238E27FC236}">
                <a16:creationId xmlns:a16="http://schemas.microsoft.com/office/drawing/2014/main" id="{292891A1-7BDF-49BA-86AE-E2EDE803A342}"/>
              </a:ext>
            </a:extLst>
          </p:cNvPr>
          <p:cNvSpPr>
            <a:spLocks xmlns:a="http://schemas.openxmlformats.org/drawingml/2006/main" noGrp="1"/>
          </p:cNvSpPr>
          <p:nvPr/>
        </p:nvSpPr>
        <p:spPr>
          <a:xfrm xmlns:a="http://schemas.openxmlformats.org/drawingml/2006/main">
            <a:off x="3090863"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Buscar en</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caché</a:t>
            </a:r>
          </a:p>
        </p:txBody>
      </p:sp>
      <p:sp>
        <p:nvSpPr>
          <p:cNvPr id="9" name="Node detail cache">
            <a:extLst xmlns:a="http://schemas.openxmlformats.org/drawingml/2006/main">
              <a:ext uri="{FF2B5EF4-FFF2-40B4-BE49-F238E27FC236}">
                <a16:creationId xmlns:a16="http://schemas.microsoft.com/office/drawing/2014/main" id="{5F9FF006-1881-4601-8B96-2E9957DEB271}"/>
              </a:ext>
            </a:extLst>
          </p:cNvPr>
          <p:cNvSpPr>
            <a:spLocks xmlns:a="http://schemas.openxmlformats.org/drawingml/2006/main" noGrp="1"/>
          </p:cNvSpPr>
          <p:nvPr/>
        </p:nvSpPr>
        <p:spPr>
          <a:xfrm xmlns:a="http://schemas.openxmlformats.org/drawingml/2006/main">
            <a:off x="3090863"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Copia temporal</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en memoria</a:t>
            </a:r>
          </a:p>
        </p:txBody>
      </p:sp>
      <p:sp>
        <p:nvSpPr>
          <p:cNvPr id="10" name="Diagram node db">
            <a:extLst xmlns:a="http://schemas.openxmlformats.org/drawingml/2006/main">
              <a:ext uri="{FF2B5EF4-FFF2-40B4-BE49-F238E27FC236}">
                <a16:creationId xmlns:a16="http://schemas.microsoft.com/office/drawing/2014/main" id="{DD1A1CEF-944B-48D0-BC23-8B1977C96164}"/>
              </a:ext>
            </a:extLst>
          </p:cNvPr>
          <p:cNvSpPr>
            <a:spLocks xmlns:a="http://schemas.openxmlformats.org/drawingml/2006/main" noGrp="1"/>
          </p:cNvSpPr>
          <p:nvPr/>
        </p:nvSpPr>
        <p:spPr>
          <a:xfrm xmlns:a="http://schemas.openxmlformats.org/drawingml/2006/main">
            <a:off x="5191125"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db">
            <a:extLst xmlns:a="http://schemas.openxmlformats.org/drawingml/2006/main">
              <a:ext uri="{FF2B5EF4-FFF2-40B4-BE49-F238E27FC236}">
                <a16:creationId xmlns:a16="http://schemas.microsoft.com/office/drawing/2014/main" id="{4AA33EBE-CBA4-4F85-B9FE-4D27D6466287}"/>
              </a:ext>
            </a:extLst>
          </p:cNvPr>
          <p:cNvSpPr>
            <a:spLocks xmlns:a="http://schemas.openxmlformats.org/drawingml/2006/main" noGrp="1"/>
          </p:cNvSpPr>
          <p:nvPr/>
        </p:nvSpPr>
        <p:spPr>
          <a:xfrm xmlns:a="http://schemas.openxmlformats.org/drawingml/2006/main">
            <a:off x="5305425"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Leer</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repositorio</a:t>
            </a:r>
          </a:p>
        </p:txBody>
      </p:sp>
      <p:sp>
        <p:nvSpPr>
          <p:cNvPr id="12" name="Node detail db">
            <a:extLst xmlns:a="http://schemas.openxmlformats.org/drawingml/2006/main">
              <a:ext uri="{FF2B5EF4-FFF2-40B4-BE49-F238E27FC236}">
                <a16:creationId xmlns:a16="http://schemas.microsoft.com/office/drawing/2014/main" id="{5496585B-2BFA-486F-AB95-6A35DF0FC7C3}"/>
              </a:ext>
            </a:extLst>
          </p:cNvPr>
          <p:cNvSpPr>
            <a:spLocks xmlns:a="http://schemas.openxmlformats.org/drawingml/2006/main" noGrp="1"/>
          </p:cNvSpPr>
          <p:nvPr/>
        </p:nvSpPr>
        <p:spPr>
          <a:xfrm xmlns:a="http://schemas.openxmlformats.org/drawingml/2006/main">
            <a:off x="5305425"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Sólo cuando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falta la copia</a:t>
            </a:r>
          </a:p>
        </p:txBody>
      </p:sp>
      <p:sp>
        <p:nvSpPr>
          <p:cNvPr id="13" name="Diagram node store">
            <a:extLst xmlns:a="http://schemas.openxmlformats.org/drawingml/2006/main">
              <a:ext uri="{FF2B5EF4-FFF2-40B4-BE49-F238E27FC236}">
                <a16:creationId xmlns:a16="http://schemas.microsoft.com/office/drawing/2014/main" id="{310B854B-D99C-48D2-9E11-E31B9C67718D}"/>
              </a:ext>
            </a:extLst>
          </p:cNvPr>
          <p:cNvSpPr>
            <a:spLocks xmlns:a="http://schemas.openxmlformats.org/drawingml/2006/main" noGrp="1"/>
          </p:cNvSpPr>
          <p:nvPr/>
        </p:nvSpPr>
        <p:spPr>
          <a:xfrm xmlns:a="http://schemas.openxmlformats.org/drawingml/2006/main">
            <a:off x="7405688"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store">
            <a:extLst xmlns:a="http://schemas.openxmlformats.org/drawingml/2006/main">
              <a:ext uri="{FF2B5EF4-FFF2-40B4-BE49-F238E27FC236}">
                <a16:creationId xmlns:a16="http://schemas.microsoft.com/office/drawing/2014/main" id="{D58CA45C-D0F4-4925-BC12-01CC47D0DEA2}"/>
              </a:ext>
            </a:extLst>
          </p:cNvPr>
          <p:cNvSpPr>
            <a:spLocks xmlns:a="http://schemas.openxmlformats.org/drawingml/2006/main" noGrp="1"/>
          </p:cNvSpPr>
          <p:nvPr/>
        </p:nvSpPr>
        <p:spPr>
          <a:xfrm xmlns:a="http://schemas.openxmlformats.org/drawingml/2006/main">
            <a:off x="7519988"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Guardar</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copia</a:t>
            </a:r>
          </a:p>
        </p:txBody>
      </p:sp>
      <p:sp>
        <p:nvSpPr>
          <p:cNvPr id="15" name="Node detail store">
            <a:extLst xmlns:a="http://schemas.openxmlformats.org/drawingml/2006/main">
              <a:ext uri="{FF2B5EF4-FFF2-40B4-BE49-F238E27FC236}">
                <a16:creationId xmlns:a16="http://schemas.microsoft.com/office/drawing/2014/main" id="{C8453D60-E00C-4262-A9C6-1B8214BBBB24}"/>
              </a:ext>
            </a:extLst>
          </p:cNvPr>
          <p:cNvSpPr>
            <a:spLocks xmlns:a="http://schemas.openxmlformats.org/drawingml/2006/main" noGrp="1"/>
          </p:cNvSpPr>
          <p:nvPr/>
        </p:nvSpPr>
        <p:spPr>
          <a:xfrm xmlns:a="http://schemas.openxmlformats.org/drawingml/2006/main">
            <a:off x="7519988"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TTL de dos</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minutos</a:t>
            </a:r>
          </a:p>
        </p:txBody>
      </p:sp>
      <p:sp>
        <p:nvSpPr>
          <p:cNvPr id="16" name="Diagram node reply">
            <a:extLst xmlns:a="http://schemas.openxmlformats.org/drawingml/2006/main">
              <a:ext uri="{FF2B5EF4-FFF2-40B4-BE49-F238E27FC236}">
                <a16:creationId xmlns:a16="http://schemas.microsoft.com/office/drawing/2014/main" id="{410BFC56-759B-4899-9372-9C627ECE8139}"/>
              </a:ext>
            </a:extLst>
          </p:cNvPr>
          <p:cNvSpPr>
            <a:spLocks xmlns:a="http://schemas.openxmlformats.org/drawingml/2006/main" noGrp="1"/>
          </p:cNvSpPr>
          <p:nvPr/>
        </p:nvSpPr>
        <p:spPr>
          <a:xfrm xmlns:a="http://schemas.openxmlformats.org/drawingml/2006/main">
            <a:off x="9620250" y="3143250"/>
            <a:ext cx="1809750"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7" name="Node label reply">
            <a:extLst xmlns:a="http://schemas.openxmlformats.org/drawingml/2006/main">
              <a:ext uri="{FF2B5EF4-FFF2-40B4-BE49-F238E27FC236}">
                <a16:creationId xmlns:a16="http://schemas.microsoft.com/office/drawing/2014/main" id="{43969BC5-CFE4-4C52-B195-A4025E205995}"/>
              </a:ext>
            </a:extLst>
          </p:cNvPr>
          <p:cNvSpPr>
            <a:spLocks xmlns:a="http://schemas.openxmlformats.org/drawingml/2006/main" noGrp="1"/>
          </p:cNvSpPr>
          <p:nvPr/>
        </p:nvSpPr>
        <p:spPr>
          <a:xfrm xmlns:a="http://schemas.openxmlformats.org/drawingml/2006/main">
            <a:off x="9734550" y="3267075"/>
            <a:ext cx="15811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Responder</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DTO</a:t>
            </a:r>
          </a:p>
        </p:txBody>
      </p:sp>
      <p:sp>
        <p:nvSpPr>
          <p:cNvPr id="18" name="Node detail reply">
            <a:extLst xmlns:a="http://schemas.openxmlformats.org/drawingml/2006/main">
              <a:ext uri="{FF2B5EF4-FFF2-40B4-BE49-F238E27FC236}">
                <a16:creationId xmlns:a16="http://schemas.microsoft.com/office/drawing/2014/main" id="{85F3D1F5-E175-42E7-AB19-06150F7E4426}"/>
              </a:ext>
            </a:extLst>
          </p:cNvPr>
          <p:cNvSpPr>
            <a:spLocks xmlns:a="http://schemas.openxmlformats.org/drawingml/2006/main" noGrp="1"/>
          </p:cNvSpPr>
          <p:nvPr/>
        </p:nvSpPr>
        <p:spPr>
          <a:xfrm xmlns:a="http://schemas.openxmlformats.org/drawingml/2006/main">
            <a:off x="9734550" y="3848100"/>
            <a:ext cx="1581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Dato de lectura</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del catálogo</a:t>
            </a:r>
          </a:p>
        </p:txBody>
      </p:sp>
      <p:sp>
        <p:nvSpPr>
          <p:cNvPr id="20" name="Relationship query cache">
            <a:extLst xmlns:a="http://schemas.openxmlformats.org/drawingml/2006/main">
              <a:ext uri="{FF2B5EF4-FFF2-40B4-BE49-F238E27FC236}">
                <a16:creationId xmlns:a16="http://schemas.microsoft.com/office/drawing/2014/main" id="{95C15D89-5115-47DE-8D89-8235593B8C04}"/>
              </a:ext>
            </a:extLst>
          </p:cNvPr>
          <p:cNvSpPr>
            <a:spLocks xmlns:a="http://schemas.openxmlformats.org/drawingml/2006/main" noGrp="1"/>
          </p:cNvSpPr>
          <p:nvPr/>
        </p:nvSpPr>
        <p:spPr>
          <a:xfrm xmlns:a="http://schemas.openxmlformats.org/drawingml/2006/main">
            <a:off x="1802606"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Buscar por Id</a:t>
            </a:r>
          </a:p>
        </p:txBody>
      </p:sp>
      <p:sp>
        <p:nvSpPr>
          <p:cNvPr id="21" name="Route start cache">
            <a:extLst xmlns:a="http://schemas.openxmlformats.org/drawingml/2006/main">
              <a:ext uri="{FF2B5EF4-FFF2-40B4-BE49-F238E27FC236}">
                <a16:creationId xmlns:a16="http://schemas.microsoft.com/office/drawing/2014/main" id="{DE6E8881-0400-4B39-A2E2-43A0C53FBD80}"/>
              </a:ext>
            </a:extLst>
          </p:cNvPr>
          <p:cNvSpPr>
            <a:spLocks xmlns:a="http://schemas.openxmlformats.org/drawingml/2006/main" noGrp="1"/>
          </p:cNvSpPr>
          <p:nvPr/>
        </p:nvSpPr>
        <p:spPr>
          <a:xfrm xmlns:a="http://schemas.openxmlformats.org/drawingml/2006/main">
            <a:off x="3876675" y="2538413"/>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Route end reply">
            <a:extLst xmlns:a="http://schemas.openxmlformats.org/drawingml/2006/main">
              <a:ext uri="{FF2B5EF4-FFF2-40B4-BE49-F238E27FC236}">
                <a16:creationId xmlns:a16="http://schemas.microsoft.com/office/drawing/2014/main" id="{E0F9CF16-62C2-4685-816B-92AC5A7229E5}"/>
              </a:ext>
            </a:extLst>
          </p:cNvPr>
          <p:cNvSpPr>
            <a:spLocks xmlns:a="http://schemas.openxmlformats.org/drawingml/2006/main" noGrp="1"/>
          </p:cNvSpPr>
          <p:nvPr/>
        </p:nvSpPr>
        <p:spPr>
          <a:xfrm xmlns:a="http://schemas.openxmlformats.org/drawingml/2006/main">
            <a:off x="10520363" y="2538413"/>
            <a:ext cx="9525" cy="9525"/>
          </a:xfrm>
          <a:prstGeom xmlns:a="http://schemas.openxmlformats.org/drawingml/2006/main" prst="rect">
            <a:avLst/>
          </a:prstGeom>
          <a:noFill xmlns:a="http://schemas.openxmlformats.org/drawingml/2006/main"/>
          <a:ln xmlns:a="http://schemas.openxmlformats.org/drawingml/2006/main" w="0">
            <a:noFill/>
          </a:ln>
        </p:spPr>
      </p:sp>
      <p:sp>
        <p:nvSpPr>
          <p:cNvPr id="26" name="Relationship cache reply">
            <a:extLst xmlns:a="http://schemas.openxmlformats.org/drawingml/2006/main">
              <a:ext uri="{FF2B5EF4-FFF2-40B4-BE49-F238E27FC236}">
                <a16:creationId xmlns:a16="http://schemas.microsoft.com/office/drawing/2014/main" id="{B67C0EDC-38A8-497A-91EA-B3527D2B4E58}"/>
              </a:ext>
            </a:extLst>
          </p:cNvPr>
          <p:cNvSpPr>
            <a:spLocks xmlns:a="http://schemas.openxmlformats.org/drawingml/2006/main" noGrp="1"/>
          </p:cNvSpPr>
          <p:nvPr/>
        </p:nvSpPr>
        <p:spPr>
          <a:xfrm xmlns:a="http://schemas.openxmlformats.org/drawingml/2006/main">
            <a:off x="6012656" y="22193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044B6"/>
                </a:solidFill>
                <a:latin typeface="Arial"/>
                <a:ea typeface="Arial"/>
                <a:cs typeface="Arial"/>
              </a:defRPr>
            </a:defPPr>
          </a:lstStyle>
          <a:p xmlns:a="http://schemas.openxmlformats.org/drawingml/2006/main">
            <a:pPr algn="ctr">
              <a:buNone/>
              <a:defRPr sz="1650" b="0">
                <a:solidFill>
                  <a:srgbClr val="6044B6"/>
                </a:solidFill>
                <a:latin typeface="Arial"/>
                <a:ea typeface="Arial"/>
                <a:cs typeface="Arial"/>
              </a:defRPr>
            </a:pPr>
            <a:r>
              <a:rPr sz="1650" b="0">
                <a:solidFill>
                  <a:srgbClr val="6044B6"/>
                </a:solidFill>
                <a:latin typeface="Arial"/>
                <a:ea typeface="Arial"/>
                <a:cs typeface="Arial"/>
              </a:rPr>
              <a:t>Existe</a:t>
            </a:r>
          </a:p>
        </p:txBody>
      </p:sp>
      <p:sp>
        <p:nvSpPr>
          <p:cNvPr id="28" name="Relationship cache db">
            <a:extLst xmlns:a="http://schemas.openxmlformats.org/drawingml/2006/main">
              <a:ext uri="{FF2B5EF4-FFF2-40B4-BE49-F238E27FC236}">
                <a16:creationId xmlns:a16="http://schemas.microsoft.com/office/drawing/2014/main" id="{6D0651AD-3D2E-4F6C-9771-6890199ED4C0}"/>
              </a:ext>
            </a:extLst>
          </p:cNvPr>
          <p:cNvSpPr>
            <a:spLocks xmlns:a="http://schemas.openxmlformats.org/drawingml/2006/main" noGrp="1"/>
          </p:cNvSpPr>
          <p:nvPr/>
        </p:nvSpPr>
        <p:spPr>
          <a:xfrm xmlns:a="http://schemas.openxmlformats.org/drawingml/2006/main">
            <a:off x="4017169"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Falta</a:t>
            </a:r>
          </a:p>
        </p:txBody>
      </p:sp>
      <p:sp>
        <p:nvSpPr>
          <p:cNvPr id="30" name="Relationship db store">
            <a:extLst xmlns:a="http://schemas.openxmlformats.org/drawingml/2006/main">
              <a:ext uri="{FF2B5EF4-FFF2-40B4-BE49-F238E27FC236}">
                <a16:creationId xmlns:a16="http://schemas.microsoft.com/office/drawing/2014/main" id="{156AED5C-3525-4026-AECA-23D0E282B403}"/>
              </a:ext>
            </a:extLst>
          </p:cNvPr>
          <p:cNvSpPr>
            <a:spLocks xmlns:a="http://schemas.openxmlformats.org/drawingml/2006/main" noGrp="1"/>
          </p:cNvSpPr>
          <p:nvPr/>
        </p:nvSpPr>
        <p:spPr>
          <a:xfrm xmlns:a="http://schemas.openxmlformats.org/drawingml/2006/main">
            <a:off x="6231731"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Encontrado</a:t>
            </a:r>
          </a:p>
        </p:txBody>
      </p:sp>
      <p:sp>
        <p:nvSpPr>
          <p:cNvPr id="32" name="Relationship store reply">
            <a:extLst xmlns:a="http://schemas.openxmlformats.org/drawingml/2006/main">
              <a:ext uri="{FF2B5EF4-FFF2-40B4-BE49-F238E27FC236}">
                <a16:creationId xmlns:a16="http://schemas.microsoft.com/office/drawing/2014/main" id="{95642099-0FE2-4841-AEC8-032333DB4EBB}"/>
              </a:ext>
            </a:extLst>
          </p:cNvPr>
          <p:cNvSpPr>
            <a:spLocks xmlns:a="http://schemas.openxmlformats.org/drawingml/2006/main" noGrp="1"/>
          </p:cNvSpPr>
          <p:nvPr/>
        </p:nvSpPr>
        <p:spPr>
          <a:xfrm xmlns:a="http://schemas.openxmlformats.org/drawingml/2006/main">
            <a:off x="8446294"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Dato preparado</a:t>
            </a:r>
          </a:p>
        </p:txBody>
      </p:sp>
      <p:sp>
        <p:nvSpPr>
          <p:cNvPr id="33" name="Analysis 1">
            <a:extLst xmlns:a="http://schemas.openxmlformats.org/drawingml/2006/main">
              <a:ext uri="{FF2B5EF4-FFF2-40B4-BE49-F238E27FC236}">
                <a16:creationId xmlns:a16="http://schemas.microsoft.com/office/drawing/2014/main" id="{16078FAB-3A60-4823-AE5B-A2CF37D03A89}"/>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Invalidación local.</a:t>
            </a:r>
            <a:r>
              <a:rPr sz="1800" b="0">
                <a:solidFill>
                  <a:srgbClr val="45516A"/>
                </a:solidFill>
                <a:latin typeface="Arial"/>
                <a:ea typeface="Arial"/>
                <a:cs typeface="Arial"/>
              </a:rPr>
              <a:t> Tras guardar, se elimina la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entrada local. Una lectura sin copia consulta la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base; aún pueden existir carreras.</a:t>
            </a:r>
          </a:p>
        </p:txBody>
      </p:sp>
      <p:sp>
        <p:nvSpPr>
          <p:cNvPr id="34" name="Analysis 2">
            <a:extLst xmlns:a="http://schemas.openxmlformats.org/drawingml/2006/main">
              <a:ext uri="{FF2B5EF4-FFF2-40B4-BE49-F238E27FC236}">
                <a16:creationId xmlns:a16="http://schemas.microsoft.com/office/drawing/2014/main" id="{B5F6B0A1-C2E9-4973-A81E-B053FBCE4AE2}"/>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El precio del pedido tiene otra exigencia.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CreateOrderHandler consulta el catálogo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persistido. No toma el precio histórico del pedido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desde un DTO posiblemente obsoleto.</a:t>
            </a:r>
          </a:p>
        </p:txBody>
      </p:sp>
    </p:spTree>
    <p:extLst>
      <p:ext uri="{BB962C8B-B14F-4D97-AF65-F5344CB8AC3E}">
        <p14:creationId xmlns:p14="http://schemas.microsoft.com/office/powerpoint/2010/main" val="184555121"/>
      </p:ext>
    </p:extLst>
  </p:cSld>
</p:sld>
</file>

<file path=ppt/slides/slide52.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2EB43BB5-5E01-46C8-8A17-23B4CAC75932}"/>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09</a:t>
            </a:r>
          </a:p>
        </p:txBody>
      </p:sp>
      <p:sp>
        <p:nvSpPr>
          <p:cNvPr id="3" name="Class title">
            <a:extLst xmlns:a="http://schemas.openxmlformats.org/drawingml/2006/main">
              <a:ext uri="{FF2B5EF4-FFF2-40B4-BE49-F238E27FC236}">
                <a16:creationId xmlns:a16="http://schemas.microsoft.com/office/drawing/2014/main" id="{1DE34637-783D-4F67-AD50-9EFAFD5C390B}"/>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Docker</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y diagnóstico</a:t>
            </a:r>
          </a:p>
        </p:txBody>
      </p:sp>
      <p:sp>
        <p:nvSpPr>
          <p:cNvPr id="5" name="Learning outcome">
            <a:extLst xmlns:a="http://schemas.openxmlformats.org/drawingml/2006/main">
              <a:ext uri="{FF2B5EF4-FFF2-40B4-BE49-F238E27FC236}">
                <a16:creationId xmlns:a16="http://schemas.microsoft.com/office/drawing/2014/main" id="{D2ED3284-BA2B-4BF2-AC70-7B7F18ADF290}"/>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Docker para ejecutar servicios.</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OpenTelemetry para observarlos.</a:t>
            </a:r>
          </a:p>
        </p:txBody>
      </p:sp>
      <p:sp>
        <p:nvSpPr>
          <p:cNvPr id="7" name="Practice outcome">
            <a:extLst xmlns:a="http://schemas.openxmlformats.org/drawingml/2006/main">
              <a:ext uri="{FF2B5EF4-FFF2-40B4-BE49-F238E27FC236}">
                <a16:creationId xmlns:a16="http://schemas.microsoft.com/office/drawing/2014/main" id="{66C0B28E-C69B-4B08-AC62-A753D55BCE95}"/>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Levantar el sistema local y detectar</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problemas con métricas y trazas.</a:t>
            </a:r>
          </a:p>
        </p:txBody>
      </p:sp>
      <p:sp>
        <p:nvSpPr>
          <p:cNvPr id="9" name="Module context">
            <a:extLst xmlns:a="http://schemas.openxmlformats.org/drawingml/2006/main">
              <a:ext uri="{FF2B5EF4-FFF2-40B4-BE49-F238E27FC236}">
                <a16:creationId xmlns:a16="http://schemas.microsoft.com/office/drawing/2014/main" id="{65E0378C-E562-45DA-B568-FA47CCE18704}"/>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Docker ayuda a ejecutar el mismo entorno en el equipo.</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 telemetría muestra qué sucede en cada petición</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para encontrar errores y demoras.</a:t>
            </a:r>
          </a:p>
        </p:txBody>
      </p:sp>
    </p:spTree>
    <p:extLst>
      <p:ext uri="{BB962C8B-B14F-4D97-AF65-F5344CB8AC3E}">
        <p14:creationId xmlns:p14="http://schemas.microsoft.com/office/powerpoint/2010/main" val="779224494"/>
      </p:ext>
    </p:extLst>
  </p:cSld>
</p:sld>
</file>

<file path=ppt/slides/slide53.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07408EF6-6593-46E6-AC01-708FB9D1AC5F}"/>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09</a:t>
            </a:r>
          </a:p>
        </p:txBody>
      </p:sp>
      <p:sp>
        <p:nvSpPr>
          <p:cNvPr id="2" name="Concept title">
            <a:extLst xmlns:a="http://schemas.openxmlformats.org/drawingml/2006/main">
              <a:ext uri="{FF2B5EF4-FFF2-40B4-BE49-F238E27FC236}">
                <a16:creationId xmlns:a16="http://schemas.microsoft.com/office/drawing/2014/main" id="{CEE03AD8-7CDC-4A92-912B-C85145759449}"/>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Contenedores y telemetría</a:t>
            </a:r>
          </a:p>
        </p:txBody>
      </p:sp>
      <p:sp>
        <p:nvSpPr>
          <p:cNvPr id="3" name="Concept definition">
            <a:extLst xmlns:a="http://schemas.openxmlformats.org/drawingml/2006/main">
              <a:ext uri="{FF2B5EF4-FFF2-40B4-BE49-F238E27FC236}">
                <a16:creationId xmlns:a16="http://schemas.microsoft.com/office/drawing/2014/main" id="{2BFC6A05-C50E-40A4-9044-4E1977CF3F8E}"/>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Docker crea una imagen con la aplicación y sus dependencias.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Un contenedor ejecuta esa imagen. Compose inicia varios</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servicios juntos, como la API y la base de datos.</a:t>
            </a:r>
          </a:p>
        </p:txBody>
      </p:sp>
      <p:sp>
        <p:nvSpPr>
          <p:cNvPr id="4" name="Concept explanation">
            <a:extLst xmlns:a="http://schemas.openxmlformats.org/drawingml/2006/main">
              <a:ext uri="{FF2B5EF4-FFF2-40B4-BE49-F238E27FC236}">
                <a16:creationId xmlns:a16="http://schemas.microsoft.com/office/drawing/2014/main" id="{67C4A8D8-79D2-4481-A7A1-01E0479DABEC}"/>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OpenTelemetry recopila y exporta señales: logs (sucesos),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métricas (cantidades y tiempos) y trazas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(recorrido de una petición).</a:t>
            </a:r>
          </a:p>
        </p:txBody>
      </p:sp>
      <p:sp>
        <p:nvSpPr>
          <p:cNvPr id="5" name="Concept example label">
            <a:extLst xmlns:a="http://schemas.openxmlformats.org/drawingml/2006/main">
              <a:ext uri="{FF2B5EF4-FFF2-40B4-BE49-F238E27FC236}">
                <a16:creationId xmlns:a16="http://schemas.microsoft.com/office/drawing/2014/main" id="{5288B789-04F2-4C96-B655-9AA1C1A68CEA}"/>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516E8FF7-BFB9-4FE4-83FA-5CA0B1436D3A}"/>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Levantaremos el sistema en nuestra computadora y seguiremos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una petición para encontrar dónde ocurre una demora.</a:t>
            </a:r>
          </a:p>
        </p:txBody>
      </p:sp>
    </p:spTree>
    <p:extLst>
      <p:ext uri="{BB962C8B-B14F-4D97-AF65-F5344CB8AC3E}">
        <p14:creationId xmlns:p14="http://schemas.microsoft.com/office/powerpoint/2010/main" val="2041343156"/>
      </p:ext>
    </p:extLst>
  </p:cSld>
</p:sld>
</file>

<file path=ppt/slides/slide54.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4" name="Deep module">
            <a:extLst xmlns:a="http://schemas.openxmlformats.org/drawingml/2006/main">
              <a:ext uri="{FF2B5EF4-FFF2-40B4-BE49-F238E27FC236}">
                <a16:creationId xmlns:a16="http://schemas.microsoft.com/office/drawing/2014/main" id="{23B21ABB-FC9E-442C-BCBC-F1B20C69F79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09</a:t>
            </a:r>
          </a:p>
        </p:txBody>
      </p:sp>
      <p:sp>
        <p:nvSpPr>
          <p:cNvPr id="2" name="Deep title">
            <a:extLst xmlns:a="http://schemas.openxmlformats.org/drawingml/2006/main">
              <a:ext uri="{FF2B5EF4-FFF2-40B4-BE49-F238E27FC236}">
                <a16:creationId xmlns:a16="http://schemas.microsoft.com/office/drawing/2014/main" id="{46F2D9AE-F303-4146-B195-53B9300517E7}"/>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La imagen final sólo necesita ejecutar</a:t>
            </a:r>
          </a:p>
        </p:txBody>
      </p:sp>
      <p:sp>
        <p:nvSpPr>
          <p:cNvPr id="3" name="Deep lead">
            <a:extLst xmlns:a="http://schemas.openxmlformats.org/drawingml/2006/main">
              <a:ext uri="{FF2B5EF4-FFF2-40B4-BE49-F238E27FC236}">
                <a16:creationId xmlns:a16="http://schemas.microsoft.com/office/drawing/2014/main" id="{F937DD74-F8DD-4871-983A-DD8A50FFF932}"/>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Docker compila en una etapa con SDK y copia el resultado a otra con runtime. La imagen de</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ejecución conserva menos herramientas.</a:t>
            </a:r>
          </a:p>
        </p:txBody>
      </p:sp>
      <p:sp>
        <p:nvSpPr>
          <p:cNvPr id="4" name="Code provenance">
            <a:extLst xmlns:a="http://schemas.openxmlformats.org/drawingml/2006/main">
              <a:ext uri="{FF2B5EF4-FFF2-40B4-BE49-F238E27FC236}">
                <a16:creationId xmlns:a16="http://schemas.microsoft.com/office/drawing/2014/main" id="{168B56D2-7403-44E7-A555-0D72CDD7CA9D}"/>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Dockerfile</a:t>
            </a:r>
          </a:p>
        </p:txBody>
      </p:sp>
      <p:sp>
        <p:nvSpPr>
          <p:cNvPr id="5" name="Code line 1">
            <a:extLst xmlns:a="http://schemas.openxmlformats.org/drawingml/2006/main">
              <a:ext uri="{FF2B5EF4-FFF2-40B4-BE49-F238E27FC236}">
                <a16:creationId xmlns:a16="http://schemas.microsoft.com/office/drawing/2014/main" id="{F2429B42-4684-4863-89C8-81DFE0DB5EB4}"/>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FROM mcr.microsoft.com/dotnet/aspnet:10.0 AS final</a:t>
            </a:r>
          </a:p>
        </p:txBody>
      </p:sp>
      <p:sp>
        <p:nvSpPr>
          <p:cNvPr id="6" name="Code line 2">
            <a:extLst xmlns:a="http://schemas.openxmlformats.org/drawingml/2006/main">
              <a:ext uri="{FF2B5EF4-FFF2-40B4-BE49-F238E27FC236}">
                <a16:creationId xmlns:a16="http://schemas.microsoft.com/office/drawing/2014/main" id="{0FED3554-E736-4C7F-89E6-2FCA3E2B3EFA}"/>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WORKDIR /app</a:t>
            </a:r>
          </a:p>
        </p:txBody>
      </p:sp>
      <p:sp>
        <p:nvSpPr>
          <p:cNvPr id="7" name="Code line 3">
            <a:extLst xmlns:a="http://schemas.openxmlformats.org/drawingml/2006/main">
              <a:ext uri="{FF2B5EF4-FFF2-40B4-BE49-F238E27FC236}">
                <a16:creationId xmlns:a16="http://schemas.microsoft.com/office/drawing/2014/main" id="{B4AC8807-CCE6-4F61-B00C-7BF40A9ED8FF}"/>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COPY --from=build /app/publish .</a:t>
            </a:r>
          </a:p>
        </p:txBody>
      </p:sp>
      <p:sp>
        <p:nvSpPr>
          <p:cNvPr id="8" name="Code line 4">
            <a:extLst xmlns:a="http://schemas.openxmlformats.org/drawingml/2006/main">
              <a:ext uri="{FF2B5EF4-FFF2-40B4-BE49-F238E27FC236}">
                <a16:creationId xmlns:a16="http://schemas.microsoft.com/office/drawing/2014/main" id="{C12DBB4C-460D-4DB0-BA65-0BC8839AA192}"/>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USER $APP_UID</a:t>
            </a:r>
          </a:p>
        </p:txBody>
      </p:sp>
      <p:sp>
        <p:nvSpPr>
          <p:cNvPr id="9" name="Code line 5">
            <a:extLst xmlns:a="http://schemas.openxmlformats.org/drawingml/2006/main">
              <a:ext uri="{FF2B5EF4-FFF2-40B4-BE49-F238E27FC236}">
                <a16:creationId xmlns:a16="http://schemas.microsoft.com/office/drawing/2014/main" id="{29C1826C-DCEB-4428-B834-20F3899C145C}"/>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EXPOSE 8080</a:t>
            </a:r>
          </a:p>
        </p:txBody>
      </p:sp>
      <p:sp>
        <p:nvSpPr>
          <p:cNvPr id="10" name="Code line 6">
            <a:extLst xmlns:a="http://schemas.openxmlformats.org/drawingml/2006/main">
              <a:ext uri="{FF2B5EF4-FFF2-40B4-BE49-F238E27FC236}">
                <a16:creationId xmlns:a16="http://schemas.microsoft.com/office/drawing/2014/main" id="{80464518-2587-4E71-B9E1-55621CB13CF2}"/>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ENV ASPNETCORE_HTTP_PORTS=8080</a:t>
            </a:r>
          </a:p>
        </p:txBody>
      </p:sp>
      <p:sp>
        <p:nvSpPr>
          <p:cNvPr id="11" name="Code line 7">
            <a:extLst xmlns:a="http://schemas.openxmlformats.org/drawingml/2006/main">
              <a:ext uri="{FF2B5EF4-FFF2-40B4-BE49-F238E27FC236}">
                <a16:creationId xmlns:a16="http://schemas.microsoft.com/office/drawing/2014/main" id="{6AE65BF5-7C23-4970-8DC0-BE8C95A4E1E1}"/>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ENTRYPOINT ["dotnet", "AulaPedidos.Api.dll"]</a:t>
            </a:r>
          </a:p>
        </p:txBody>
      </p:sp>
      <p:sp>
        <p:nvSpPr>
          <p:cNvPr id="12" name="Analysis 1">
            <a:extLst xmlns:a="http://schemas.openxmlformats.org/drawingml/2006/main">
              <a:ext uri="{FF2B5EF4-FFF2-40B4-BE49-F238E27FC236}">
                <a16:creationId xmlns:a16="http://schemas.microsoft.com/office/drawing/2014/main" id="{2509800A-2C88-4B26-A173-34E8B7D726BD}"/>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Separación de etapas.</a:t>
            </a:r>
            <a:r>
              <a:rPr sz="1725" b="0">
                <a:solidFill>
                  <a:srgbClr val="D0D8E6"/>
                </a:solidFill>
                <a:latin typeface="Arial"/>
                <a:ea typeface="Arial"/>
                <a:cs typeface="Arial"/>
              </a:rPr>
              <a:t> Build usa el SDK para restore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y publish. La etapa final recibe los archivos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publicados y ejecuta la aplicación.</a:t>
            </a:r>
          </a:p>
        </p:txBody>
      </p:sp>
      <p:sp>
        <p:nvSpPr>
          <p:cNvPr id="13" name="Analysis 2">
            <a:extLst xmlns:a="http://schemas.openxmlformats.org/drawingml/2006/main">
              <a:ext uri="{FF2B5EF4-FFF2-40B4-BE49-F238E27FC236}">
                <a16:creationId xmlns:a16="http://schemas.microsoft.com/office/drawing/2014/main" id="{F2622A55-D9C8-4C0E-AE53-0BC6F5ED605F}"/>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Usuario y puerto.</a:t>
            </a:r>
            <a:r>
              <a:rPr sz="1725" b="0">
                <a:solidFill>
                  <a:srgbClr val="D0D8E6"/>
                </a:solidFill>
                <a:latin typeface="Arial"/>
                <a:ea typeface="Arial"/>
                <a:cs typeface="Arial"/>
              </a:rPr>
              <a:t> USER evita ejecutar la API como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root. EXPOSE documenta el puerto; Compose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realiza su publicación hacia la computadora.</a:t>
            </a:r>
          </a:p>
        </p:txBody>
      </p:sp>
    </p:spTree>
    <p:extLst>
      <p:ext uri="{BB962C8B-B14F-4D97-AF65-F5344CB8AC3E}">
        <p14:creationId xmlns:p14="http://schemas.microsoft.com/office/powerpoint/2010/main" val="224250233"/>
      </p:ext>
    </p:extLst>
  </p:cSld>
</p:sld>
</file>

<file path=ppt/slides/slide55.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8" name="Deep module">
            <a:extLst xmlns:a="http://schemas.openxmlformats.org/drawingml/2006/main">
              <a:ext uri="{FF2B5EF4-FFF2-40B4-BE49-F238E27FC236}">
                <a16:creationId xmlns:a16="http://schemas.microsoft.com/office/drawing/2014/main" id="{CFC6E2D0-D098-4A65-B97B-3DF0DF30F22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09</a:t>
            </a:r>
          </a:p>
        </p:txBody>
      </p:sp>
      <p:sp>
        <p:nvSpPr>
          <p:cNvPr id="2" name="Deep title">
            <a:extLst xmlns:a="http://schemas.openxmlformats.org/drawingml/2006/main">
              <a:ext uri="{FF2B5EF4-FFF2-40B4-BE49-F238E27FC236}">
                <a16:creationId xmlns:a16="http://schemas.microsoft.com/office/drawing/2014/main" id="{EB0CF54F-BECD-4667-8F11-0C86D5D18091}"/>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El arranque espera a la migración</a:t>
            </a:r>
          </a:p>
        </p:txBody>
      </p:sp>
      <p:sp>
        <p:nvSpPr>
          <p:cNvPr id="3" name="Deep lead">
            <a:extLst xmlns:a="http://schemas.openxmlformats.org/drawingml/2006/main">
              <a:ext uri="{FF2B5EF4-FFF2-40B4-BE49-F238E27FC236}">
                <a16:creationId xmlns:a16="http://schemas.microsoft.com/office/drawing/2014/main" id="{1F42759D-AA12-40E6-8B5D-8E08F4A5B438}"/>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La base disponible no implica que el esquema esté listo. Compose encadena salud de SQL</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Server, migración y arranque de la API.</a:t>
            </a:r>
          </a:p>
        </p:txBody>
      </p:sp>
      <p:sp>
        <p:nvSpPr>
          <p:cNvPr id="4" name="Code provenance">
            <a:extLst xmlns:a="http://schemas.openxmlformats.org/drawingml/2006/main">
              <a:ext uri="{FF2B5EF4-FFF2-40B4-BE49-F238E27FC236}">
                <a16:creationId xmlns:a16="http://schemas.microsoft.com/office/drawing/2014/main" id="{0C648433-3A58-4840-A58C-CB2B66B75369}"/>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compose.yaml</a:t>
            </a:r>
          </a:p>
        </p:txBody>
      </p:sp>
      <p:sp>
        <p:nvSpPr>
          <p:cNvPr id="5" name="Code line 1">
            <a:extLst xmlns:a="http://schemas.openxmlformats.org/drawingml/2006/main">
              <a:ext uri="{FF2B5EF4-FFF2-40B4-BE49-F238E27FC236}">
                <a16:creationId xmlns:a16="http://schemas.microsoft.com/office/drawing/2014/main" id="{5D60DD2A-BEA1-4E77-B1DF-01847ABDC25C}"/>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api:</a:t>
            </a:r>
          </a:p>
        </p:txBody>
      </p:sp>
      <p:sp>
        <p:nvSpPr>
          <p:cNvPr id="6" name="Code line 2">
            <a:extLst xmlns:a="http://schemas.openxmlformats.org/drawingml/2006/main">
              <a:ext uri="{FF2B5EF4-FFF2-40B4-BE49-F238E27FC236}">
                <a16:creationId xmlns:a16="http://schemas.microsoft.com/office/drawing/2014/main" id="{75081FE4-68AD-4F7B-B289-415A29F22DF7}"/>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image: aulapedidos-api:local</a:t>
            </a:r>
          </a:p>
        </p:txBody>
      </p:sp>
      <p:sp>
        <p:nvSpPr>
          <p:cNvPr id="7" name="Code line 3">
            <a:extLst xmlns:a="http://schemas.openxmlformats.org/drawingml/2006/main">
              <a:ext uri="{FF2B5EF4-FFF2-40B4-BE49-F238E27FC236}">
                <a16:creationId xmlns:a16="http://schemas.microsoft.com/office/drawing/2014/main" id="{AEDAB430-0509-4F7B-9B53-55DF20785FFA}"/>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build: .</a:t>
            </a:r>
          </a:p>
        </p:txBody>
      </p:sp>
      <p:sp>
        <p:nvSpPr>
          <p:cNvPr id="8" name="Code line 4">
            <a:extLst xmlns:a="http://schemas.openxmlformats.org/drawingml/2006/main">
              <a:ext uri="{FF2B5EF4-FFF2-40B4-BE49-F238E27FC236}">
                <a16:creationId xmlns:a16="http://schemas.microsoft.com/office/drawing/2014/main" id="{AEA43DEB-D2F4-4DEB-976F-730BBE2ACE77}"/>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environment: *api-environment</a:t>
            </a:r>
          </a:p>
        </p:txBody>
      </p:sp>
      <p:sp>
        <p:nvSpPr>
          <p:cNvPr id="9" name="Code line 5">
            <a:extLst xmlns:a="http://schemas.openxmlformats.org/drawingml/2006/main">
              <a:ext uri="{FF2B5EF4-FFF2-40B4-BE49-F238E27FC236}">
                <a16:creationId xmlns:a16="http://schemas.microsoft.com/office/drawing/2014/main" id="{8F31FCD6-0B6A-40D1-9930-5E5227B32B6E}"/>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ports:</a:t>
            </a:r>
          </a:p>
        </p:txBody>
      </p:sp>
      <p:sp>
        <p:nvSpPr>
          <p:cNvPr id="10" name="Code line 6">
            <a:extLst xmlns:a="http://schemas.openxmlformats.org/drawingml/2006/main">
              <a:ext uri="{FF2B5EF4-FFF2-40B4-BE49-F238E27FC236}">
                <a16:creationId xmlns:a16="http://schemas.microsoft.com/office/drawing/2014/main" id="{6B1FA415-8A95-4FCE-B212-F7F2D7430047}"/>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"127.0.0.1:5080:8080"</a:t>
            </a:r>
          </a:p>
        </p:txBody>
      </p:sp>
      <p:sp>
        <p:nvSpPr>
          <p:cNvPr id="11" name="Code line 7">
            <a:extLst xmlns:a="http://schemas.openxmlformats.org/drawingml/2006/main">
              <a:ext uri="{FF2B5EF4-FFF2-40B4-BE49-F238E27FC236}">
                <a16:creationId xmlns:a16="http://schemas.microsoft.com/office/drawing/2014/main" id="{0B565559-4E6F-4403-B4FA-49EEFE3A7DDD}"/>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depends_on:</a:t>
            </a:r>
          </a:p>
        </p:txBody>
      </p:sp>
      <p:sp>
        <p:nvSpPr>
          <p:cNvPr id="12" name="Code line 8">
            <a:extLst xmlns:a="http://schemas.openxmlformats.org/drawingml/2006/main">
              <a:ext uri="{FF2B5EF4-FFF2-40B4-BE49-F238E27FC236}">
                <a16:creationId xmlns:a16="http://schemas.microsoft.com/office/drawing/2014/main" id="{D7B05F1C-BBE9-47A1-B236-92F747BCCDFC}"/>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migrate:</a:t>
            </a:r>
          </a:p>
        </p:txBody>
      </p:sp>
      <p:sp>
        <p:nvSpPr>
          <p:cNvPr id="13" name="Code line 9">
            <a:extLst xmlns:a="http://schemas.openxmlformats.org/drawingml/2006/main">
              <a:ext uri="{FF2B5EF4-FFF2-40B4-BE49-F238E27FC236}">
                <a16:creationId xmlns:a16="http://schemas.microsoft.com/office/drawing/2014/main" id="{4030666C-A182-49BC-9EFE-7F8E2F3593DA}"/>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condition: service_completed_successfully</a:t>
            </a:r>
          </a:p>
        </p:txBody>
      </p:sp>
      <p:sp>
        <p:nvSpPr>
          <p:cNvPr id="14" name="Code line 10">
            <a:extLst xmlns:a="http://schemas.openxmlformats.org/drawingml/2006/main">
              <a:ext uri="{FF2B5EF4-FFF2-40B4-BE49-F238E27FC236}">
                <a16:creationId xmlns:a16="http://schemas.microsoft.com/office/drawing/2014/main" id="{90D697B2-91C8-476A-8802-40BE310A524C}"/>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notifications:</a:t>
            </a:r>
          </a:p>
        </p:txBody>
      </p:sp>
      <p:sp>
        <p:nvSpPr>
          <p:cNvPr id="15" name="Code line 11">
            <a:extLst xmlns:a="http://schemas.openxmlformats.org/drawingml/2006/main">
              <a:ext uri="{FF2B5EF4-FFF2-40B4-BE49-F238E27FC236}">
                <a16:creationId xmlns:a16="http://schemas.microsoft.com/office/drawing/2014/main" id="{1AEB973B-6EF5-44D6-9E7F-DD395AC4C7FC}"/>
              </a:ext>
            </a:extLst>
          </p:cNvPr>
          <p:cNvSpPr>
            <a:spLocks xmlns:a="http://schemas.openxmlformats.org/drawingml/2006/main" noGrp="1"/>
          </p:cNvSpPr>
          <p:nvPr/>
        </p:nvSpPr>
        <p:spPr>
          <a:xfrm xmlns:a="http://schemas.openxmlformats.org/drawingml/2006/main">
            <a:off x="781050" y="51435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condition: service_started</a:t>
            </a:r>
          </a:p>
        </p:txBody>
      </p:sp>
      <p:sp>
        <p:nvSpPr>
          <p:cNvPr id="16" name="Analysis 1">
            <a:extLst xmlns:a="http://schemas.openxmlformats.org/drawingml/2006/main">
              <a:ext uri="{FF2B5EF4-FFF2-40B4-BE49-F238E27FC236}">
                <a16:creationId xmlns:a16="http://schemas.microsoft.com/office/drawing/2014/main" id="{D7996361-7647-4178-878D-406DA5ACF98E}"/>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Orden con condiciones.</a:t>
            </a:r>
            <a:r>
              <a:rPr sz="1725" b="0">
                <a:solidFill>
                  <a:srgbClr val="D0D8E6"/>
                </a:solidFill>
                <a:latin typeface="Arial"/>
                <a:ea typeface="Arial"/>
                <a:cs typeface="Arial"/>
              </a:rPr>
              <a:t> Migrate espera SQL Server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healthy y ejecuta --migrate. La API espera que esa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operación termine correctamente.</a:t>
            </a:r>
          </a:p>
        </p:txBody>
      </p:sp>
      <p:sp>
        <p:nvSpPr>
          <p:cNvPr id="17" name="Analysis 2">
            <a:extLst xmlns:a="http://schemas.openxmlformats.org/drawingml/2006/main">
              <a:ext uri="{FF2B5EF4-FFF2-40B4-BE49-F238E27FC236}">
                <a16:creationId xmlns:a16="http://schemas.microsoft.com/office/drawing/2014/main" id="{8239DC21-29F8-409E-9D79-DF49A23DA92A}"/>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Límite del arranque.</a:t>
            </a:r>
            <a:r>
              <a:rPr sz="1725" b="0">
                <a:solidFill>
                  <a:srgbClr val="D0D8E6"/>
                </a:solidFill>
                <a:latin typeface="Arial"/>
                <a:ea typeface="Arial"/>
                <a:cs typeface="Arial"/>
              </a:rPr>
              <a:t> service_started confirma inicio,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no salud funcional. Las dependencias pueden fallar</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después y la aplicación debe manejarlo.</a:t>
            </a:r>
          </a:p>
        </p:txBody>
      </p:sp>
    </p:spTree>
    <p:extLst>
      <p:ext uri="{BB962C8B-B14F-4D97-AF65-F5344CB8AC3E}">
        <p14:creationId xmlns:p14="http://schemas.microsoft.com/office/powerpoint/2010/main" val="1360548781"/>
      </p:ext>
    </p:extLst>
  </p:cSld>
</p:sld>
</file>

<file path=ppt/slides/slide56.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3EF79CE6-C656-4DD8-84B4-C5A499EB1B0C}"/>
              </a:ext>
            </a:extLst>
          </p:cNvPr>
          <p:cNvCxnSpPr>
            <a:stCxn xmlns:a="http://schemas.openxmlformats.org/drawingml/2006/main" id="13" idx="3"/>
            <a:endCxn xmlns:a="http://schemas.openxmlformats.org/drawingml/2006/main" id="16" idx="1"/>
          </p:cNvCxnSpPr>
          <p:nvPr/>
        </p:nvCxnSpPr>
        <p:spPr>
          <a:xfrm xmlns:a="http://schemas.openxmlformats.org/drawingml/2006/main">
            <a:off x="7905750" y="3986213"/>
            <a:ext cx="1095375"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1" name="">
            <a:extLst xmlns:a="http://schemas.openxmlformats.org/drawingml/2006/main">
              <a:ext uri="{FF2B5EF4-FFF2-40B4-BE49-F238E27FC236}">
                <a16:creationId xmlns:a16="http://schemas.microsoft.com/office/drawing/2014/main" id="{4D2DCBDC-79DE-43A3-B0C0-C31244205944}"/>
              </a:ext>
            </a:extLst>
          </p:cNvPr>
          <p:cNvCxnSpPr>
            <a:stCxn xmlns:a="http://schemas.openxmlformats.org/drawingml/2006/main" id="10" idx="3"/>
            <a:endCxn xmlns:a="http://schemas.openxmlformats.org/drawingml/2006/main" id="13" idx="1"/>
          </p:cNvCxnSpPr>
          <p:nvPr/>
        </p:nvCxnSpPr>
        <p:spPr>
          <a:xfrm xmlns:a="http://schemas.openxmlformats.org/drawingml/2006/main" flipV="1">
            <a:off x="3714750" y="3986213"/>
            <a:ext cx="1381125" cy="957263"/>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20" name="">
            <a:extLst xmlns:a="http://schemas.openxmlformats.org/drawingml/2006/main">
              <a:ext uri="{FF2B5EF4-FFF2-40B4-BE49-F238E27FC236}">
                <a16:creationId xmlns:a16="http://schemas.microsoft.com/office/drawing/2014/main" id="{823AAAD6-F79C-4267-8154-A6602F42EECF}"/>
              </a:ext>
            </a:extLst>
          </p:cNvPr>
          <p:cNvCxnSpPr>
            <a:stCxn xmlns:a="http://schemas.openxmlformats.org/drawingml/2006/main" id="7" idx="3"/>
            <a:endCxn xmlns:a="http://schemas.openxmlformats.org/drawingml/2006/main" id="13" idx="1"/>
          </p:cNvCxnSpPr>
          <p:nvPr/>
        </p:nvCxnSpPr>
        <p:spPr>
          <a:xfrm xmlns:a="http://schemas.openxmlformats.org/drawingml/2006/main">
            <a:off x="3714750" y="3924300"/>
            <a:ext cx="1381125" cy="61913"/>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9" name="">
            <a:extLst xmlns:a="http://schemas.openxmlformats.org/drawingml/2006/main">
              <a:ext uri="{FF2B5EF4-FFF2-40B4-BE49-F238E27FC236}">
                <a16:creationId xmlns:a16="http://schemas.microsoft.com/office/drawing/2014/main" id="{5900AA40-A081-423B-957F-C78636131F84}"/>
              </a:ext>
            </a:extLst>
          </p:cNvPr>
          <p:cNvCxnSpPr>
            <a:stCxn xmlns:a="http://schemas.openxmlformats.org/drawingml/2006/main" id="4" idx="3"/>
            <a:endCxn xmlns:a="http://schemas.openxmlformats.org/drawingml/2006/main" id="13" idx="1"/>
          </p:cNvCxnSpPr>
          <p:nvPr/>
        </p:nvCxnSpPr>
        <p:spPr>
          <a:xfrm xmlns:a="http://schemas.openxmlformats.org/drawingml/2006/main">
            <a:off x="3714750" y="2905125"/>
            <a:ext cx="1381125" cy="1081088"/>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6" name="Deep module">
            <a:extLst xmlns:a="http://schemas.openxmlformats.org/drawingml/2006/main">
              <a:ext uri="{FF2B5EF4-FFF2-40B4-BE49-F238E27FC236}">
                <a16:creationId xmlns:a16="http://schemas.microsoft.com/office/drawing/2014/main" id="{753BEE3C-673F-4410-8F7B-E66F843AA980}"/>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09</a:t>
            </a:r>
          </a:p>
        </p:txBody>
      </p:sp>
      <p:sp>
        <p:nvSpPr>
          <p:cNvPr id="2" name="Deep title">
            <a:extLst xmlns:a="http://schemas.openxmlformats.org/drawingml/2006/main">
              <a:ext uri="{FF2B5EF4-FFF2-40B4-BE49-F238E27FC236}">
                <a16:creationId xmlns:a16="http://schemas.microsoft.com/office/drawing/2014/main" id="{918B4DD5-E87E-411C-BA54-2F8692071988}"/>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Tres señales responden preguntas distintas</a:t>
            </a:r>
          </a:p>
        </p:txBody>
      </p:sp>
      <p:sp>
        <p:nvSpPr>
          <p:cNvPr id="3" name="Deep lead">
            <a:extLst xmlns:a="http://schemas.openxmlformats.org/drawingml/2006/main">
              <a:ext uri="{FF2B5EF4-FFF2-40B4-BE49-F238E27FC236}">
                <a16:creationId xmlns:a16="http://schemas.microsoft.com/office/drawing/2014/main" id="{7BFF8AB1-D5FB-4E8E-9962-39F7475DDABD}"/>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Al crear un pedido queremos conocer el resultado, medir el volumen y localizar el tiempo</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empleado. Cada señal aporta una parte de la evidencia.</a:t>
            </a:r>
          </a:p>
        </p:txBody>
      </p:sp>
      <p:sp>
        <p:nvSpPr>
          <p:cNvPr id="4" name="Diagram node log">
            <a:extLst xmlns:a="http://schemas.openxmlformats.org/drawingml/2006/main">
              <a:ext uri="{FF2B5EF4-FFF2-40B4-BE49-F238E27FC236}">
                <a16:creationId xmlns:a16="http://schemas.microsoft.com/office/drawing/2014/main" id="{CA18A1F0-D07A-430C-AC85-00B02F7B2F34}"/>
              </a:ext>
            </a:extLst>
          </p:cNvPr>
          <p:cNvSpPr>
            <a:spLocks xmlns:a="http://schemas.openxmlformats.org/drawingml/2006/main" noGrp="1"/>
          </p:cNvSpPr>
          <p:nvPr/>
        </p:nvSpPr>
        <p:spPr>
          <a:xfrm xmlns:a="http://schemas.openxmlformats.org/drawingml/2006/main">
            <a:off x="762000" y="2428875"/>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log">
            <a:extLst xmlns:a="http://schemas.openxmlformats.org/drawingml/2006/main">
              <a:ext uri="{FF2B5EF4-FFF2-40B4-BE49-F238E27FC236}">
                <a16:creationId xmlns:a16="http://schemas.microsoft.com/office/drawing/2014/main" id="{A4FF7085-D0BB-44DE-9695-0E81125B6213}"/>
              </a:ext>
            </a:extLst>
          </p:cNvPr>
          <p:cNvSpPr>
            <a:spLocks xmlns:a="http://schemas.openxmlformats.org/drawingml/2006/main" noGrp="1"/>
          </p:cNvSpPr>
          <p:nvPr/>
        </p:nvSpPr>
        <p:spPr>
          <a:xfrm xmlns:a="http://schemas.openxmlformats.org/drawingml/2006/main">
            <a:off x="876300" y="2552700"/>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Log</a:t>
            </a:r>
          </a:p>
        </p:txBody>
      </p:sp>
      <p:sp>
        <p:nvSpPr>
          <p:cNvPr id="6" name="Node detail log">
            <a:extLst xmlns:a="http://schemas.openxmlformats.org/drawingml/2006/main">
              <a:ext uri="{FF2B5EF4-FFF2-40B4-BE49-F238E27FC236}">
                <a16:creationId xmlns:a16="http://schemas.microsoft.com/office/drawing/2014/main" id="{C9E44B90-28F7-4BC5-AD0E-10AE9505BFE3}"/>
              </a:ext>
            </a:extLst>
          </p:cNvPr>
          <p:cNvSpPr>
            <a:spLocks xmlns:a="http://schemas.openxmlformats.org/drawingml/2006/main" noGrp="1"/>
          </p:cNvSpPr>
          <p:nvPr/>
        </p:nvSpPr>
        <p:spPr>
          <a:xfrm xmlns:a="http://schemas.openxmlformats.org/drawingml/2006/main">
            <a:off x="876300" y="2867025"/>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Pedido y partidas</a:t>
            </a:r>
          </a:p>
        </p:txBody>
      </p:sp>
      <p:sp>
        <p:nvSpPr>
          <p:cNvPr id="7" name="Diagram node metric">
            <a:extLst xmlns:a="http://schemas.openxmlformats.org/drawingml/2006/main">
              <a:ext uri="{FF2B5EF4-FFF2-40B4-BE49-F238E27FC236}">
                <a16:creationId xmlns:a16="http://schemas.microsoft.com/office/drawing/2014/main" id="{8570333A-09C4-4A23-8927-23902DDE4310}"/>
              </a:ext>
            </a:extLst>
          </p:cNvPr>
          <p:cNvSpPr>
            <a:spLocks xmlns:a="http://schemas.openxmlformats.org/drawingml/2006/main" noGrp="1"/>
          </p:cNvSpPr>
          <p:nvPr/>
        </p:nvSpPr>
        <p:spPr>
          <a:xfrm xmlns:a="http://schemas.openxmlformats.org/drawingml/2006/main">
            <a:off x="762000" y="3448050"/>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metric">
            <a:extLst xmlns:a="http://schemas.openxmlformats.org/drawingml/2006/main">
              <a:ext uri="{FF2B5EF4-FFF2-40B4-BE49-F238E27FC236}">
                <a16:creationId xmlns:a16="http://schemas.microsoft.com/office/drawing/2014/main" id="{44F25A62-812B-4448-96FF-E950CBAAFE13}"/>
              </a:ext>
            </a:extLst>
          </p:cNvPr>
          <p:cNvSpPr>
            <a:spLocks xmlns:a="http://schemas.openxmlformats.org/drawingml/2006/main" noGrp="1"/>
          </p:cNvSpPr>
          <p:nvPr/>
        </p:nvSpPr>
        <p:spPr>
          <a:xfrm xmlns:a="http://schemas.openxmlformats.org/drawingml/2006/main">
            <a:off x="876300" y="3571875"/>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Métrica</a:t>
            </a:r>
          </a:p>
        </p:txBody>
      </p:sp>
      <p:sp>
        <p:nvSpPr>
          <p:cNvPr id="9" name="Node detail metric">
            <a:extLst xmlns:a="http://schemas.openxmlformats.org/drawingml/2006/main">
              <a:ext uri="{FF2B5EF4-FFF2-40B4-BE49-F238E27FC236}">
                <a16:creationId xmlns:a16="http://schemas.microsoft.com/office/drawing/2014/main" id="{7CB1FD87-02F9-48D5-AB85-9C4E7AA91655}"/>
              </a:ext>
            </a:extLst>
          </p:cNvPr>
          <p:cNvSpPr>
            <a:spLocks xmlns:a="http://schemas.openxmlformats.org/drawingml/2006/main" noGrp="1"/>
          </p:cNvSpPr>
          <p:nvPr/>
        </p:nvSpPr>
        <p:spPr>
          <a:xfrm xmlns:a="http://schemas.openxmlformats.org/drawingml/2006/main">
            <a:off x="876300" y="38862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aulapedidos.orders.created</a:t>
            </a:r>
          </a:p>
        </p:txBody>
      </p:sp>
      <p:sp>
        <p:nvSpPr>
          <p:cNvPr id="10" name="Diagram node trace">
            <a:extLst xmlns:a="http://schemas.openxmlformats.org/drawingml/2006/main">
              <a:ext uri="{FF2B5EF4-FFF2-40B4-BE49-F238E27FC236}">
                <a16:creationId xmlns:a16="http://schemas.microsoft.com/office/drawing/2014/main" id="{18C1E4F4-D146-405B-85AE-A4CFEF0049E5}"/>
              </a:ext>
            </a:extLst>
          </p:cNvPr>
          <p:cNvSpPr>
            <a:spLocks xmlns:a="http://schemas.openxmlformats.org/drawingml/2006/main" noGrp="1"/>
          </p:cNvSpPr>
          <p:nvPr/>
        </p:nvSpPr>
        <p:spPr>
          <a:xfrm xmlns:a="http://schemas.openxmlformats.org/drawingml/2006/main">
            <a:off x="762000" y="4467225"/>
            <a:ext cx="2952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trace">
            <a:extLst xmlns:a="http://schemas.openxmlformats.org/drawingml/2006/main">
              <a:ext uri="{FF2B5EF4-FFF2-40B4-BE49-F238E27FC236}">
                <a16:creationId xmlns:a16="http://schemas.microsoft.com/office/drawing/2014/main" id="{58DA1B28-0646-4BD3-856B-CEF4B3A564E6}"/>
              </a:ext>
            </a:extLst>
          </p:cNvPr>
          <p:cNvSpPr>
            <a:spLocks xmlns:a="http://schemas.openxmlformats.org/drawingml/2006/main" noGrp="1"/>
          </p:cNvSpPr>
          <p:nvPr/>
        </p:nvSpPr>
        <p:spPr>
          <a:xfrm xmlns:a="http://schemas.openxmlformats.org/drawingml/2006/main">
            <a:off x="876300" y="4591050"/>
            <a:ext cx="27241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Traza</a:t>
            </a:r>
          </a:p>
        </p:txBody>
      </p:sp>
      <p:sp>
        <p:nvSpPr>
          <p:cNvPr id="12" name="Node detail trace">
            <a:extLst xmlns:a="http://schemas.openxmlformats.org/drawingml/2006/main">
              <a:ext uri="{FF2B5EF4-FFF2-40B4-BE49-F238E27FC236}">
                <a16:creationId xmlns:a16="http://schemas.microsoft.com/office/drawing/2014/main" id="{4A0F1F55-2E31-4913-A4B8-48C34E7681BD}"/>
              </a:ext>
            </a:extLst>
          </p:cNvPr>
          <p:cNvSpPr>
            <a:spLocks xmlns:a="http://schemas.openxmlformats.org/drawingml/2006/main" noGrp="1"/>
          </p:cNvSpPr>
          <p:nvPr/>
        </p:nvSpPr>
        <p:spPr>
          <a:xfrm xmlns:a="http://schemas.openxmlformats.org/drawingml/2006/main">
            <a:off x="876300" y="4905375"/>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orders.create y HTTP</a:t>
            </a:r>
          </a:p>
        </p:txBody>
      </p:sp>
      <p:sp>
        <p:nvSpPr>
          <p:cNvPr id="13" name="Diagram node export">
            <a:extLst xmlns:a="http://schemas.openxmlformats.org/drawingml/2006/main">
              <a:ext uri="{FF2B5EF4-FFF2-40B4-BE49-F238E27FC236}">
                <a16:creationId xmlns:a16="http://schemas.microsoft.com/office/drawing/2014/main" id="{719124D1-D6AB-47C9-BE77-85F053F1B74D}"/>
              </a:ext>
            </a:extLst>
          </p:cNvPr>
          <p:cNvSpPr>
            <a:spLocks xmlns:a="http://schemas.openxmlformats.org/drawingml/2006/main" noGrp="1"/>
          </p:cNvSpPr>
          <p:nvPr/>
        </p:nvSpPr>
        <p:spPr>
          <a:xfrm xmlns:a="http://schemas.openxmlformats.org/drawingml/2006/main">
            <a:off x="5095875" y="3352800"/>
            <a:ext cx="2809875" cy="12668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export">
            <a:extLst xmlns:a="http://schemas.openxmlformats.org/drawingml/2006/main">
              <a:ext uri="{FF2B5EF4-FFF2-40B4-BE49-F238E27FC236}">
                <a16:creationId xmlns:a16="http://schemas.microsoft.com/office/drawing/2014/main" id="{2EAC1ACA-C2F0-4990-8E55-AB313168E8CF}"/>
              </a:ext>
            </a:extLst>
          </p:cNvPr>
          <p:cNvSpPr>
            <a:spLocks xmlns:a="http://schemas.openxmlformats.org/drawingml/2006/main" noGrp="1"/>
          </p:cNvSpPr>
          <p:nvPr/>
        </p:nvSpPr>
        <p:spPr>
          <a:xfrm xmlns:a="http://schemas.openxmlformats.org/drawingml/2006/main">
            <a:off x="5210175" y="3476625"/>
            <a:ext cx="2581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Exportador OTLP</a:t>
            </a:r>
          </a:p>
        </p:txBody>
      </p:sp>
      <p:sp>
        <p:nvSpPr>
          <p:cNvPr id="15" name="Node detail export">
            <a:extLst xmlns:a="http://schemas.openxmlformats.org/drawingml/2006/main">
              <a:ext uri="{FF2B5EF4-FFF2-40B4-BE49-F238E27FC236}">
                <a16:creationId xmlns:a16="http://schemas.microsoft.com/office/drawing/2014/main" id="{8BE7A9B5-BC17-4EC8-B2A9-9F3D83A6B96F}"/>
              </a:ext>
            </a:extLst>
          </p:cNvPr>
          <p:cNvSpPr>
            <a:spLocks xmlns:a="http://schemas.openxmlformats.org/drawingml/2006/main" noGrp="1"/>
          </p:cNvSpPr>
          <p:nvPr/>
        </p:nvSpPr>
        <p:spPr>
          <a:xfrm xmlns:a="http://schemas.openxmlformats.org/drawingml/2006/main">
            <a:off x="5210175" y="3790950"/>
            <a:ext cx="25812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Envía señales al destino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configurado</a:t>
            </a:r>
          </a:p>
        </p:txBody>
      </p:sp>
      <p:sp>
        <p:nvSpPr>
          <p:cNvPr id="16" name="Diagram node dashboard">
            <a:extLst xmlns:a="http://schemas.openxmlformats.org/drawingml/2006/main">
              <a:ext uri="{FF2B5EF4-FFF2-40B4-BE49-F238E27FC236}">
                <a16:creationId xmlns:a16="http://schemas.microsoft.com/office/drawing/2014/main" id="{8171B2F4-2398-4AC3-B849-C4DE84CB6432}"/>
              </a:ext>
            </a:extLst>
          </p:cNvPr>
          <p:cNvSpPr>
            <a:spLocks xmlns:a="http://schemas.openxmlformats.org/drawingml/2006/main" noGrp="1"/>
          </p:cNvSpPr>
          <p:nvPr/>
        </p:nvSpPr>
        <p:spPr>
          <a:xfrm xmlns:a="http://schemas.openxmlformats.org/drawingml/2006/main">
            <a:off x="9001125" y="3352800"/>
            <a:ext cx="2428875" cy="12668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7" name="Node label dashboard">
            <a:extLst xmlns:a="http://schemas.openxmlformats.org/drawingml/2006/main">
              <a:ext uri="{FF2B5EF4-FFF2-40B4-BE49-F238E27FC236}">
                <a16:creationId xmlns:a16="http://schemas.microsoft.com/office/drawing/2014/main" id="{952CD84A-D43B-4E6C-ABE6-1F49389AA84A}"/>
              </a:ext>
            </a:extLst>
          </p:cNvPr>
          <p:cNvSpPr>
            <a:spLocks xmlns:a="http://schemas.openxmlformats.org/drawingml/2006/main" noGrp="1"/>
          </p:cNvSpPr>
          <p:nvPr/>
        </p:nvSpPr>
        <p:spPr>
          <a:xfrm xmlns:a="http://schemas.openxmlformats.org/drawingml/2006/main">
            <a:off x="9115425" y="3476625"/>
            <a:ext cx="2200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Dashboard</a:t>
            </a:r>
          </a:p>
        </p:txBody>
      </p:sp>
      <p:sp>
        <p:nvSpPr>
          <p:cNvPr id="18" name="Node detail dashboard">
            <a:extLst xmlns:a="http://schemas.openxmlformats.org/drawingml/2006/main">
              <a:ext uri="{FF2B5EF4-FFF2-40B4-BE49-F238E27FC236}">
                <a16:creationId xmlns:a16="http://schemas.microsoft.com/office/drawing/2014/main" id="{1C3BB849-EFFF-425B-AD76-B62FB2BC9E3D}"/>
              </a:ext>
            </a:extLst>
          </p:cNvPr>
          <p:cNvSpPr>
            <a:spLocks xmlns:a="http://schemas.openxmlformats.org/drawingml/2006/main" noGrp="1"/>
          </p:cNvSpPr>
          <p:nvPr/>
        </p:nvSpPr>
        <p:spPr>
          <a:xfrm xmlns:a="http://schemas.openxmlformats.org/drawingml/2006/main">
            <a:off x="9115425" y="3790950"/>
            <a:ext cx="22002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Permite buscar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observar</a:t>
            </a:r>
          </a:p>
        </p:txBody>
      </p:sp>
      <p:sp>
        <p:nvSpPr>
          <p:cNvPr id="23" name="Relationship export dashboard">
            <a:extLst xmlns:a="http://schemas.openxmlformats.org/drawingml/2006/main">
              <a:ext uri="{FF2B5EF4-FFF2-40B4-BE49-F238E27FC236}">
                <a16:creationId xmlns:a16="http://schemas.microsoft.com/office/drawing/2014/main" id="{3684CDC1-68CD-49B7-BC4A-D130A4944D6D}"/>
              </a:ext>
            </a:extLst>
          </p:cNvPr>
          <p:cNvSpPr>
            <a:spLocks xmlns:a="http://schemas.openxmlformats.org/drawingml/2006/main" noGrp="1"/>
          </p:cNvSpPr>
          <p:nvPr/>
        </p:nvSpPr>
        <p:spPr>
          <a:xfrm xmlns:a="http://schemas.openxmlformats.org/drawingml/2006/main">
            <a:off x="7805738" y="3614738"/>
            <a:ext cx="1295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OTLP</a:t>
            </a:r>
          </a:p>
        </p:txBody>
      </p:sp>
      <p:sp>
        <p:nvSpPr>
          <p:cNvPr id="24" name="Analysis 1">
            <a:extLst xmlns:a="http://schemas.openxmlformats.org/drawingml/2006/main">
              <a:ext uri="{FF2B5EF4-FFF2-40B4-BE49-F238E27FC236}">
                <a16:creationId xmlns:a16="http://schemas.microsoft.com/office/drawing/2014/main" id="{A9175E64-944D-4E5D-B05F-85C43681F710}"/>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Exportación.</a:t>
            </a:r>
            <a:r>
              <a:rPr sz="1800" b="0">
                <a:solidFill>
                  <a:srgbClr val="45516A"/>
                </a:solidFill>
                <a:latin typeface="Arial"/>
                <a:ea typeface="Arial"/>
                <a:cs typeface="Arial"/>
              </a:rPr>
              <a:t> El envío requiere un endpoint OTLP.</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Un dashboard vacío puede indicar configuración</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incorrecta o falta de tráfico.</a:t>
            </a:r>
          </a:p>
        </p:txBody>
      </p:sp>
      <p:sp>
        <p:nvSpPr>
          <p:cNvPr id="25" name="Analysis 2">
            <a:extLst xmlns:a="http://schemas.openxmlformats.org/drawingml/2006/main">
              <a:ext uri="{FF2B5EF4-FFF2-40B4-BE49-F238E27FC236}">
                <a16:creationId xmlns:a16="http://schemas.microsoft.com/office/drawing/2014/main" id="{C65E9322-DF36-4900-A54E-E375A3576999}"/>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Identificadores con propósito.</a:t>
            </a:r>
            <a:r>
              <a:rPr sz="1800" b="0">
                <a:solidFill>
                  <a:srgbClr val="45516A"/>
                </a:solidFill>
                <a:latin typeface="Arial"/>
                <a:ea typeface="Arial"/>
                <a:cs typeface="Arial"/>
              </a:rPr>
              <a:t> Relacionamos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Outbox por OrderId y EventId. Los identificadores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ayudan en logs, pero como etiquetas de métricas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multiplican series.</a:t>
            </a:r>
          </a:p>
        </p:txBody>
      </p:sp>
    </p:spTree>
    <p:extLst>
      <p:ext uri="{BB962C8B-B14F-4D97-AF65-F5344CB8AC3E}">
        <p14:creationId xmlns:p14="http://schemas.microsoft.com/office/powerpoint/2010/main" val="1404650527"/>
      </p:ext>
    </p:extLst>
  </p:cSld>
</p:sld>
</file>

<file path=ppt/slides/slide57.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6EECB1A9-DFFB-4ED5-8CD8-F36734E929DB}"/>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09</a:t>
            </a:r>
          </a:p>
        </p:txBody>
      </p:sp>
      <p:sp>
        <p:nvSpPr>
          <p:cNvPr id="2" name="Deep title">
            <a:extLst xmlns:a="http://schemas.openxmlformats.org/drawingml/2006/main">
              <a:ext uri="{FF2B5EF4-FFF2-40B4-BE49-F238E27FC236}">
                <a16:creationId xmlns:a16="http://schemas.microsoft.com/office/drawing/2014/main" id="{CC2A8087-7A13-4C5B-8ECC-BEA4F3027E18}"/>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Diagnosticar una falla antes de reiniciar</a:t>
            </a:r>
          </a:p>
        </p:txBody>
      </p:sp>
      <p:sp>
        <p:nvSpPr>
          <p:cNvPr id="3" name="Deep lead">
            <a:extLst xmlns:a="http://schemas.openxmlformats.org/drawingml/2006/main">
              <a:ext uri="{FF2B5EF4-FFF2-40B4-BE49-F238E27FC236}">
                <a16:creationId xmlns:a16="http://schemas.microsoft.com/office/drawing/2014/main" id="{1FADAA4C-5CCA-4788-B41E-D70D69AF6F7E}"/>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Cada hipótesis necesita una comprobación pequeña. Cambiar varios elementos a la vez</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dificulta saber qué causó el problema y qué lo corrigió.</a:t>
            </a:r>
          </a:p>
        </p:txBody>
      </p:sp>
      <p:sp>
        <p:nvSpPr>
          <p:cNvPr id="4" name="Explanation heading 1">
            <a:extLst xmlns:a="http://schemas.openxmlformats.org/drawingml/2006/main">
              <a:ext uri="{FF2B5EF4-FFF2-40B4-BE49-F238E27FC236}">
                <a16:creationId xmlns:a16="http://schemas.microsoft.com/office/drawing/2014/main" id="{F0324876-0934-4F63-B6D3-378687EB5C6E}"/>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Live responde, ready falla</a:t>
            </a:r>
          </a:p>
        </p:txBody>
      </p:sp>
      <p:sp>
        <p:nvSpPr>
          <p:cNvPr id="5" name="Explanation body 1">
            <a:extLst xmlns:a="http://schemas.openxmlformats.org/drawingml/2006/main">
              <a:ext uri="{FF2B5EF4-FFF2-40B4-BE49-F238E27FC236}">
                <a16:creationId xmlns:a16="http://schemas.microsoft.com/office/drawing/2014/main" id="{697A88B7-FC88-4475-96EE-4469C3059176}"/>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El proceso atiende, pero la consulta de salud a la base falla. Revisar SQL Server y</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migraciones antes de culpar a toda la API.</a:t>
            </a:r>
          </a:p>
        </p:txBody>
      </p:sp>
      <p:sp>
        <p:nvSpPr>
          <p:cNvPr id="6" name="Explanation heading 2">
            <a:extLst xmlns:a="http://schemas.openxmlformats.org/drawingml/2006/main">
              <a:ext uri="{FF2B5EF4-FFF2-40B4-BE49-F238E27FC236}">
                <a16:creationId xmlns:a16="http://schemas.microsoft.com/office/drawing/2014/main" id="{282E7536-2552-4422-BD4D-4AEAE7BFBE35}"/>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La API responde, el dashboard está vacío</a:t>
            </a:r>
          </a:p>
        </p:txBody>
      </p:sp>
      <p:sp>
        <p:nvSpPr>
          <p:cNvPr id="7" name="Explanation body 2">
            <a:extLst xmlns:a="http://schemas.openxmlformats.org/drawingml/2006/main">
              <a:ext uri="{FF2B5EF4-FFF2-40B4-BE49-F238E27FC236}">
                <a16:creationId xmlns:a16="http://schemas.microsoft.com/office/drawing/2014/main" id="{D5248AE6-DD1A-4460-91D6-6C31A55CFE20}"/>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Generar una petición. Revisar endpoint OTLP y puerto de ingestión. La interfaz visual del</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dashboard no recibe telemetría en su puerto web.</a:t>
            </a:r>
          </a:p>
        </p:txBody>
      </p:sp>
      <p:sp>
        <p:nvSpPr>
          <p:cNvPr id="8" name="Explanation heading 3">
            <a:extLst xmlns:a="http://schemas.openxmlformats.org/drawingml/2006/main">
              <a:ext uri="{FF2B5EF4-FFF2-40B4-BE49-F238E27FC236}">
                <a16:creationId xmlns:a16="http://schemas.microsoft.com/office/drawing/2014/main" id="{48FB55F9-700A-4C2E-B99A-39BC30A397C6}"/>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El pedido existe, la notificación falta</a:t>
            </a:r>
          </a:p>
        </p:txBody>
      </p:sp>
      <p:sp>
        <p:nvSpPr>
          <p:cNvPr id="9" name="Explanation body 3">
            <a:extLst xmlns:a="http://schemas.openxmlformats.org/drawingml/2006/main">
              <a:ext uri="{FF2B5EF4-FFF2-40B4-BE49-F238E27FC236}">
                <a16:creationId xmlns:a16="http://schemas.microsoft.com/office/drawing/2014/main" id="{54C8312C-B218-428F-9D7D-13016A3BB170}"/>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Revisar Attempts, NextAttemptAt y LastErrorCode de Outbox. Recuperar el receptor y</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conservar el historial del mensaje.</a:t>
            </a:r>
          </a:p>
        </p:txBody>
      </p:sp>
    </p:spTree>
    <p:extLst>
      <p:ext uri="{BB962C8B-B14F-4D97-AF65-F5344CB8AC3E}">
        <p14:creationId xmlns:p14="http://schemas.microsoft.com/office/powerpoint/2010/main" val="568114246"/>
      </p:ext>
    </p:extLst>
  </p:cSld>
</p:sld>
</file>

<file path=ppt/slides/slide58.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8" name="Class number">
            <a:extLst xmlns:a="http://schemas.openxmlformats.org/drawingml/2006/main">
              <a:ext uri="{FF2B5EF4-FFF2-40B4-BE49-F238E27FC236}">
                <a16:creationId xmlns:a16="http://schemas.microsoft.com/office/drawing/2014/main" id="{B5E2F4E8-EF29-4027-9FE8-AA119D6475B8}"/>
              </a:ext>
            </a:extLst>
          </p:cNvPr>
          <p:cNvSpPr>
            <a:spLocks xmlns:a="http://schemas.openxmlformats.org/drawingml/2006/main" noGrp="1"/>
          </p:cNvSpPr>
          <p:nvPr/>
        </p:nvSpPr>
        <p:spPr>
          <a:xfrm xmlns:a="http://schemas.openxmlformats.org/drawingml/2006/main">
            <a:off x="714375" y="619125"/>
            <a:ext cx="21717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1550" b="1">
                <a:solidFill>
                  <a:srgbClr val="C1B4E7"/>
                </a:solidFill>
                <a:latin typeface="Arial"/>
                <a:ea typeface="Arial"/>
                <a:cs typeface="Arial"/>
              </a:defRPr>
            </a:pPr>
            <a:r>
              <a:rPr sz="11550" b="1">
                <a:solidFill>
                  <a:srgbClr val="C1B4E7"/>
                </a:solidFill>
                <a:latin typeface="Arial"/>
                <a:ea typeface="Arial"/>
                <a:cs typeface="Arial"/>
              </a:rPr>
              <a:t>10</a:t>
            </a:r>
          </a:p>
        </p:txBody>
      </p:sp>
      <p:sp>
        <p:nvSpPr>
          <p:cNvPr id="3" name="Class title">
            <a:extLst xmlns:a="http://schemas.openxmlformats.org/drawingml/2006/main">
              <a:ext uri="{FF2B5EF4-FFF2-40B4-BE49-F238E27FC236}">
                <a16:creationId xmlns:a16="http://schemas.microsoft.com/office/drawing/2014/main" id="{B824E76C-F928-45D9-B40B-3B78F0499216}"/>
              </a:ext>
            </a:extLst>
          </p:cNvPr>
          <p:cNvSpPr>
            <a:spLocks xmlns:a="http://schemas.openxmlformats.org/drawingml/2006/main" noGrp="1"/>
          </p:cNvSpPr>
          <p:nvPr/>
        </p:nvSpPr>
        <p:spPr>
          <a:xfrm xmlns:a="http://schemas.openxmlformats.org/drawingml/2006/main">
            <a:off x="3219450" y="809625"/>
            <a:ext cx="8191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Integración</a:t>
            </a:r>
          </a:p>
          <a:p xmlns:a="http://schemas.openxmlformats.org/drawingml/2006/main">
            <a:pPr>
              <a:buNone/>
              <a:defRPr sz="4275" b="1">
                <a:solidFill>
                  <a:srgbClr val="172137"/>
                </a:solidFill>
                <a:latin typeface="Arial"/>
                <a:ea typeface="Arial"/>
                <a:cs typeface="Arial"/>
              </a:defRPr>
            </a:pPr>
            <a:r>
              <a:rPr sz="4275" b="1">
                <a:solidFill>
                  <a:srgbClr val="172137"/>
                </a:solidFill>
                <a:latin typeface="Arial"/>
                <a:ea typeface="Arial"/>
                <a:cs typeface="Arial"/>
              </a:rPr>
              <a:t>y entrega</a:t>
            </a:r>
          </a:p>
        </p:txBody>
      </p:sp>
      <p:sp>
        <p:nvSpPr>
          <p:cNvPr id="5" name="Learning outcome">
            <a:extLst xmlns:a="http://schemas.openxmlformats.org/drawingml/2006/main">
              <a:ext uri="{FF2B5EF4-FFF2-40B4-BE49-F238E27FC236}">
                <a16:creationId xmlns:a16="http://schemas.microsoft.com/office/drawing/2014/main" id="{FA7D994D-EE34-463A-A8E6-BC27859320CB}"/>
              </a:ext>
            </a:extLst>
          </p:cNvPr>
          <p:cNvSpPr>
            <a:spLocks xmlns:a="http://schemas.openxmlformats.org/drawingml/2006/main" noGrp="1"/>
          </p:cNvSpPr>
          <p:nvPr/>
        </p:nvSpPr>
        <p:spPr>
          <a:xfrm xmlns:a="http://schemas.openxmlformats.org/drawingml/2006/main">
            <a:off x="3219450" y="390525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Cómo revisar la solución completa</a:t>
            </a:r>
          </a:p>
          <a:p xmlns:a="http://schemas.openxmlformats.org/drawingml/2006/main">
            <a:pPr>
              <a:buNone/>
              <a:defRPr sz="2700" b="0">
                <a:solidFill>
                  <a:srgbClr val="172137"/>
                </a:solidFill>
                <a:latin typeface="Arial"/>
                <a:ea typeface="Arial"/>
                <a:cs typeface="Arial"/>
              </a:defRPr>
            </a:pPr>
            <a:r>
              <a:rPr sz="2400" b="0">
                <a:solidFill>
                  <a:srgbClr val="172137"/>
                </a:solidFill>
                <a:latin typeface="Arial"/>
                <a:ea typeface="Arial"/>
                <a:cs typeface="Arial"/>
              </a:rPr>
              <a:t>y preparar su siguiente etapa.</a:t>
            </a:r>
          </a:p>
        </p:txBody>
      </p:sp>
      <p:sp>
        <p:nvSpPr>
          <p:cNvPr id="7" name="Practice outcome">
            <a:extLst xmlns:a="http://schemas.openxmlformats.org/drawingml/2006/main">
              <a:ext uri="{FF2B5EF4-FFF2-40B4-BE49-F238E27FC236}">
                <a16:creationId xmlns:a16="http://schemas.microsoft.com/office/drawing/2014/main" id="{88B4F69C-8D22-4185-A92F-016361B290BA}"/>
              </a:ext>
            </a:extLst>
          </p:cNvPr>
          <p:cNvSpPr>
            <a:spLocks xmlns:a="http://schemas.openxmlformats.org/drawingml/2006/main" noGrp="1"/>
          </p:cNvSpPr>
          <p:nvPr/>
        </p:nvSpPr>
        <p:spPr>
          <a:xfrm xmlns:a="http://schemas.openxmlformats.org/drawingml/2006/main">
            <a:off x="3219450" y="5143500"/>
            <a:ext cx="819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Resolver el desafío final</a:t>
            </a:r>
          </a:p>
          <a:p xmlns:a="http://schemas.openxmlformats.org/drawingml/2006/main">
            <a:pPr>
              <a:buNone/>
              <a:defRPr sz="2550" b="0">
                <a:solidFill>
                  <a:srgbClr val="172137"/>
                </a:solidFill>
                <a:latin typeface="Arial"/>
                <a:ea typeface="Arial"/>
                <a:cs typeface="Arial"/>
              </a:defRPr>
            </a:pPr>
            <a:r>
              <a:rPr sz="2250" b="0">
                <a:solidFill>
                  <a:srgbClr val="172137"/>
                </a:solidFill>
                <a:latin typeface="Arial"/>
                <a:ea typeface="Arial"/>
                <a:cs typeface="Arial"/>
              </a:rPr>
              <a:t>y justificar tus decisiones.</a:t>
            </a:r>
          </a:p>
        </p:txBody>
      </p:sp>
      <p:sp>
        <p:nvSpPr>
          <p:cNvPr id="9" name="Module context">
            <a:extLst xmlns:a="http://schemas.openxmlformats.org/drawingml/2006/main">
              <a:ext uri="{FF2B5EF4-FFF2-40B4-BE49-F238E27FC236}">
                <a16:creationId xmlns:a16="http://schemas.microsoft.com/office/drawing/2014/main" id="{F932CE8D-F249-418E-B979-704F680BB683}"/>
              </a:ext>
            </a:extLst>
          </p:cNvPr>
          <p:cNvSpPr>
            <a:spLocks xmlns:a="http://schemas.openxmlformats.org/drawingml/2006/main" noGrp="1"/>
          </p:cNvSpPr>
          <p:nvPr/>
        </p:nvSpPr>
        <p:spPr>
          <a:xfrm xmlns:a="http://schemas.openxmlformats.org/drawingml/2006/main">
            <a:off x="3219450" y="2390775"/>
            <a:ext cx="819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 entrega reúne lo aprendido en un cambio completo.</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Demostrarás cómo funciona y explicarás sus decisiones,</a:t>
            </a:r>
          </a:p>
          <a:p xmlns:a="http://schemas.openxmlformats.org/drawingml/2006/main">
            <a:pPr>
              <a:buNone/>
              <a:defRPr sz="2100">
                <a:solidFill>
                  <a:srgbClr val="45516A"/>
                </a:solidFill>
                <a:latin typeface="Arial"/>
                <a:ea typeface="Arial"/>
                <a:cs typeface="Arial"/>
              </a:defRPr>
            </a:pPr>
            <a:r>
              <a:rPr sz="2100">
                <a:solidFill>
                  <a:srgbClr val="45516A"/>
                </a:solidFill>
                <a:latin typeface="Arial"/>
                <a:ea typeface="Arial"/>
                <a:cs typeface="Arial"/>
              </a:rPr>
              <a:t>la evidencia y los pendientes para producción.</a:t>
            </a:r>
          </a:p>
        </p:txBody>
      </p:sp>
    </p:spTree>
    <p:extLst>
      <p:ext uri="{BB962C8B-B14F-4D97-AF65-F5344CB8AC3E}">
        <p14:creationId xmlns:p14="http://schemas.microsoft.com/office/powerpoint/2010/main" val="843059531"/>
      </p:ext>
    </p:extLst>
  </p:cSld>
</p:sld>
</file>

<file path=ppt/slides/slide59.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7" name="Concept module">
            <a:extLst xmlns:a="http://schemas.openxmlformats.org/drawingml/2006/main">
              <a:ext uri="{FF2B5EF4-FFF2-40B4-BE49-F238E27FC236}">
                <a16:creationId xmlns:a16="http://schemas.microsoft.com/office/drawing/2014/main" id="{095ADEB7-A417-4A7E-A727-9A193AD57211}"/>
              </a:ext>
            </a:extLst>
          </p:cNvPr>
          <p:cNvSpPr>
            <a:spLocks xmlns:a="http://schemas.openxmlformats.org/drawingml/2006/main" noGrp="1"/>
          </p:cNvSpPr>
          <p:nvPr/>
        </p:nvSpPr>
        <p:spPr>
          <a:xfrm xmlns:a="http://schemas.openxmlformats.org/drawingml/2006/main">
            <a:off x="762000" y="495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MÓDULO 10</a:t>
            </a:r>
          </a:p>
        </p:txBody>
      </p:sp>
      <p:sp>
        <p:nvSpPr>
          <p:cNvPr id="2" name="Concept title">
            <a:extLst xmlns:a="http://schemas.openxmlformats.org/drawingml/2006/main">
              <a:ext uri="{FF2B5EF4-FFF2-40B4-BE49-F238E27FC236}">
                <a16:creationId xmlns:a16="http://schemas.microsoft.com/office/drawing/2014/main" id="{2261A6DD-CE94-4A3D-BF04-7DA8A7B9062F}"/>
              </a:ext>
            </a:extLst>
          </p:cNvPr>
          <p:cNvSpPr>
            <a:spLocks xmlns:a="http://schemas.openxmlformats.org/drawingml/2006/main" noGrp="1"/>
          </p:cNvSpPr>
          <p:nvPr/>
        </p:nvSpPr>
        <p:spPr>
          <a:xfrm xmlns:a="http://schemas.openxmlformats.org/drawingml/2006/main">
            <a:off x="762000" y="10668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FFFFF"/>
                </a:solidFill>
                <a:latin typeface="Arial"/>
                <a:ea typeface="Arial"/>
                <a:cs typeface="Arial"/>
              </a:defRPr>
            </a:pPr>
            <a:r>
              <a:rPr sz="4050" b="1">
                <a:solidFill>
                  <a:srgbClr val="FFFFFF"/>
                </a:solidFill>
                <a:latin typeface="Arial"/>
                <a:ea typeface="Arial"/>
                <a:cs typeface="Arial"/>
              </a:rPr>
              <a:t>CI, decisiones y entrega</a:t>
            </a:r>
          </a:p>
        </p:txBody>
      </p:sp>
      <p:sp>
        <p:nvSpPr>
          <p:cNvPr id="3" name="Concept definition">
            <a:extLst xmlns:a="http://schemas.openxmlformats.org/drawingml/2006/main">
              <a:ext uri="{FF2B5EF4-FFF2-40B4-BE49-F238E27FC236}">
                <a16:creationId xmlns:a16="http://schemas.microsoft.com/office/drawing/2014/main" id="{06EFD895-A026-4C29-ABCA-C56972B7574E}"/>
              </a:ext>
            </a:extLst>
          </p:cNvPr>
          <p:cNvSpPr>
            <a:spLocks xmlns:a="http://schemas.openxmlformats.org/drawingml/2006/main" noGrp="1"/>
          </p:cNvSpPr>
          <p:nvPr/>
        </p:nvSpPr>
        <p:spPr>
          <a:xfrm xmlns:a="http://schemas.openxmlformats.org/drawingml/2006/main">
            <a:off x="781050" y="2266950"/>
            <a:ext cx="1062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CI = Continuous Integration, o integración continua.</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Automatiza comprobaciones como compilar y ejecutar pruebas.</a:t>
            </a:r>
          </a:p>
        </p:txBody>
      </p:sp>
      <p:sp>
        <p:nvSpPr>
          <p:cNvPr id="4" name="Concept explanation">
            <a:extLst xmlns:a="http://schemas.openxmlformats.org/drawingml/2006/main">
              <a:ext uri="{FF2B5EF4-FFF2-40B4-BE49-F238E27FC236}">
                <a16:creationId xmlns:a16="http://schemas.microsoft.com/office/drawing/2014/main" id="{5529AAAD-C57C-48DC-8260-4BEC456CD3A6}"/>
              </a:ext>
            </a:extLst>
          </p:cNvPr>
          <p:cNvSpPr>
            <a:spLocks xmlns:a="http://schemas.openxmlformats.org/drawingml/2006/main" noGrp="1"/>
          </p:cNvSpPr>
          <p:nvPr/>
        </p:nvSpPr>
        <p:spPr>
          <a:xfrm xmlns:a="http://schemas.openxmlformats.org/drawingml/2006/main">
            <a:off x="781050" y="3609975"/>
            <a:ext cx="106299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ADR = Architecture Decision Record: registro de una decisión.</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Explica el contexto, las alternativas y las consecuencias.</a:t>
            </a:r>
          </a:p>
          <a:p xmlns:a="http://schemas.openxmlformats.org/drawingml/2006/main">
            <a:pPr>
              <a:buNone/>
              <a:defRPr sz="2250" b="0">
                <a:solidFill>
                  <a:srgbClr val="D0D8E6"/>
                </a:solidFill>
                <a:latin typeface="Arial"/>
                <a:ea typeface="Arial"/>
                <a:cs typeface="Arial"/>
              </a:defRPr>
            </a:pPr>
            <a:r>
              <a:rPr sz="2250" b="0">
                <a:solidFill>
                  <a:srgbClr val="D0D8E6"/>
                </a:solidFill>
                <a:latin typeface="Arial"/>
                <a:ea typeface="Arial"/>
                <a:cs typeface="Arial"/>
              </a:rPr>
              <a:t>El plan de producción indica qué falta y cómo verificarlo.</a:t>
            </a:r>
          </a:p>
        </p:txBody>
      </p:sp>
      <p:sp>
        <p:nvSpPr>
          <p:cNvPr id="5" name="Concept example label">
            <a:extLst xmlns:a="http://schemas.openxmlformats.org/drawingml/2006/main">
              <a:ext uri="{FF2B5EF4-FFF2-40B4-BE49-F238E27FC236}">
                <a16:creationId xmlns:a16="http://schemas.microsoft.com/office/drawing/2014/main" id="{2EC18040-B2FB-4749-9314-DF9C34C93968}"/>
              </a:ext>
            </a:extLst>
          </p:cNvPr>
          <p:cNvSpPr>
            <a:spLocks xmlns:a="http://schemas.openxmlformats.org/drawingml/2006/main" noGrp="1"/>
          </p:cNvSpPr>
          <p:nvPr/>
        </p:nvSpPr>
        <p:spPr>
          <a:xfrm xmlns:a="http://schemas.openxmlformats.org/drawingml/2006/main">
            <a:off x="790575" y="5067300"/>
            <a:ext cx="10629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A7E2D7"/>
                </a:solidFill>
                <a:latin typeface="Arial"/>
                <a:ea typeface="Arial"/>
                <a:cs typeface="Arial"/>
              </a:defRPr>
            </a:pPr>
            <a:r>
              <a:rPr sz="1800" b="1">
                <a:solidFill>
                  <a:srgbClr val="A7E2D7"/>
                </a:solidFill>
                <a:latin typeface="Arial"/>
                <a:ea typeface="Arial"/>
                <a:cs typeface="Arial"/>
              </a:rPr>
              <a:t>EN AULAPEDIDOS</a:t>
            </a:r>
          </a:p>
        </p:txBody>
      </p:sp>
      <p:sp>
        <p:nvSpPr>
          <p:cNvPr id="6" name="Concept example">
            <a:extLst xmlns:a="http://schemas.openxmlformats.org/drawingml/2006/main">
              <a:ext uri="{FF2B5EF4-FFF2-40B4-BE49-F238E27FC236}">
                <a16:creationId xmlns:a16="http://schemas.microsoft.com/office/drawing/2014/main" id="{7C6C2E55-9B18-40DF-8D9D-A336E8A42446}"/>
              </a:ext>
            </a:extLst>
          </p:cNvPr>
          <p:cNvSpPr>
            <a:spLocks xmlns:a="http://schemas.openxmlformats.org/drawingml/2006/main" noGrp="1"/>
          </p:cNvSpPr>
          <p:nvPr/>
        </p:nvSpPr>
        <p:spPr>
          <a:xfrm xmlns:a="http://schemas.openxmlformats.org/drawingml/2006/main">
            <a:off x="781050" y="5524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Añadiremos un filtro por estado a los pedidos propios.</a:t>
            </a:r>
          </a:p>
          <a:p xmlns:a="http://schemas.openxmlformats.org/drawingml/2006/main">
            <a:pPr>
              <a:buNone/>
              <a:defRPr sz="2250" b="0">
                <a:solidFill>
                  <a:srgbClr val="FFFFFF"/>
                </a:solidFill>
                <a:latin typeface="Arial"/>
                <a:ea typeface="Arial"/>
                <a:cs typeface="Arial"/>
              </a:defRPr>
            </a:pPr>
            <a:r>
              <a:rPr sz="2250" b="0">
                <a:solidFill>
                  <a:srgbClr val="FFFFFF"/>
                </a:solidFill>
                <a:latin typeface="Arial"/>
                <a:ea typeface="Arial"/>
                <a:cs typeface="Arial"/>
              </a:rPr>
              <a:t>Mostraremos pruebas y explicaremos las decisiones del cambio.</a:t>
            </a:r>
          </a:p>
        </p:txBody>
      </p:sp>
    </p:spTree>
    <p:extLst>
      <p:ext uri="{BB962C8B-B14F-4D97-AF65-F5344CB8AC3E}">
        <p14:creationId xmlns:p14="http://schemas.microsoft.com/office/powerpoint/2010/main" val="1056622573"/>
      </p:ext>
    </p:extLst>
  </p:cSld>
</p:sld>
</file>

<file path=ppt/slides/slide60.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8" name="Deep module">
            <a:extLst xmlns:a="http://schemas.openxmlformats.org/drawingml/2006/main">
              <a:ext uri="{FF2B5EF4-FFF2-40B4-BE49-F238E27FC236}">
                <a16:creationId xmlns:a16="http://schemas.microsoft.com/office/drawing/2014/main" id="{3D845170-24F6-4E2D-AD04-1D0506A62156}"/>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10</a:t>
            </a:r>
          </a:p>
        </p:txBody>
      </p:sp>
      <p:sp>
        <p:nvSpPr>
          <p:cNvPr id="2" name="Deep title">
            <a:extLst xmlns:a="http://schemas.openxmlformats.org/drawingml/2006/main">
              <a:ext uri="{FF2B5EF4-FFF2-40B4-BE49-F238E27FC236}">
                <a16:creationId xmlns:a16="http://schemas.microsoft.com/office/drawing/2014/main" id="{7009E04A-F3A2-4070-BCC5-2707B3E9A9E2}"/>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El filtro conserva la frontera del propietario</a:t>
            </a:r>
          </a:p>
        </p:txBody>
      </p:sp>
      <p:sp>
        <p:nvSpPr>
          <p:cNvPr id="3" name="Deep lead">
            <a:extLst xmlns:a="http://schemas.openxmlformats.org/drawingml/2006/main">
              <a:ext uri="{FF2B5EF4-FFF2-40B4-BE49-F238E27FC236}">
                <a16:creationId xmlns:a16="http://schemas.microsoft.com/office/drawing/2014/main" id="{E9A6E244-F4BF-42D2-A8ED-2833CE28192D}"/>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Propuesta del ejercicio final: filtrar por estado antes de contar y paginar. La identidad sigue</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procediendo del token, no de parámetros del cliente.</a:t>
            </a:r>
          </a:p>
        </p:txBody>
      </p:sp>
      <p:sp>
        <p:nvSpPr>
          <p:cNvPr id="4" name="Code provenance">
            <a:extLst xmlns:a="http://schemas.openxmlformats.org/drawingml/2006/main">
              <a:ext uri="{FF2B5EF4-FFF2-40B4-BE49-F238E27FC236}">
                <a16:creationId xmlns:a16="http://schemas.microsoft.com/office/drawing/2014/main" id="{6C5D1D8C-D971-4F69-B6DA-942F4BA27C3E}"/>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Esquema didáctico</a:t>
            </a:r>
          </a:p>
        </p:txBody>
      </p:sp>
      <p:sp>
        <p:nvSpPr>
          <p:cNvPr id="5" name="Code line 1">
            <a:extLst xmlns:a="http://schemas.openxmlformats.org/drawingml/2006/main">
              <a:ext uri="{FF2B5EF4-FFF2-40B4-BE49-F238E27FC236}">
                <a16:creationId xmlns:a16="http://schemas.microsoft.com/office/drawing/2014/main" id="{E0F60EE5-3054-4269-8DEB-09BA9B4CA4A1}"/>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A7E2D7"/>
                </a:solidFill>
                <a:latin typeface="Consolas"/>
                <a:ea typeface="Consolas"/>
                <a:cs typeface="Consolas"/>
              </a:defRPr>
            </a:defPPr>
          </a:lstStyle>
          <a:p xmlns:a="http://schemas.openxmlformats.org/drawingml/2006/main">
            <a:pPr algn="l">
              <a:buNone/>
              <a:defRPr sz="1875" b="0">
                <a:solidFill>
                  <a:srgbClr val="A7E2D7"/>
                </a:solidFill>
                <a:latin typeface="Consolas"/>
                <a:ea typeface="Consolas"/>
                <a:cs typeface="Consolas"/>
              </a:defRPr>
            </a:pPr>
            <a:r>
              <a:rPr sz="1875" b="0">
                <a:solidFill>
                  <a:srgbClr val="A7E2D7"/>
                </a:solidFill>
                <a:latin typeface="Consolas"/>
                <a:ea typeface="Consolas"/>
                <a:cs typeface="Consolas"/>
              </a:rPr>
              <a:t>// Propuesta del ejercicio; aún no implementada.</a:t>
            </a:r>
          </a:p>
        </p:txBody>
      </p:sp>
      <p:sp>
        <p:nvSpPr>
          <p:cNvPr id="6" name="Code line 2">
            <a:extLst xmlns:a="http://schemas.openxmlformats.org/drawingml/2006/main">
              <a:ext uri="{FF2B5EF4-FFF2-40B4-BE49-F238E27FC236}">
                <a16:creationId xmlns:a16="http://schemas.microsoft.com/office/drawing/2014/main" id="{5E046088-987A-402F-B525-B370F4E892D2}"/>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query = Context.Orders.AsNoTracking()</a:t>
            </a:r>
          </a:p>
        </p:txBody>
      </p:sp>
      <p:sp>
        <p:nvSpPr>
          <p:cNvPr id="7" name="Code line 3">
            <a:extLst xmlns:a="http://schemas.openxmlformats.org/drawingml/2006/main">
              <a:ext uri="{FF2B5EF4-FFF2-40B4-BE49-F238E27FC236}">
                <a16:creationId xmlns:a16="http://schemas.microsoft.com/office/drawing/2014/main" id="{67572036-FF37-45AC-B73D-016147CD53B7}"/>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.Where(order =&gt; order.CustomerId == customerId);</a:t>
            </a:r>
          </a:p>
        </p:txBody>
      </p:sp>
      <p:sp>
        <p:nvSpPr>
          <p:cNvPr id="8" name="Code line 4">
            <a:extLst xmlns:a="http://schemas.openxmlformats.org/drawingml/2006/main">
              <a:ext uri="{FF2B5EF4-FFF2-40B4-BE49-F238E27FC236}">
                <a16:creationId xmlns:a16="http://schemas.microsoft.com/office/drawing/2014/main" id="{4B73FB38-9F9E-49CA-9465-88E6A847F462}"/>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if (status is not null)</a:t>
            </a:r>
          </a:p>
        </p:txBody>
      </p:sp>
      <p:sp>
        <p:nvSpPr>
          <p:cNvPr id="9" name="Code line 5">
            <a:extLst xmlns:a="http://schemas.openxmlformats.org/drawingml/2006/main">
              <a:ext uri="{FF2B5EF4-FFF2-40B4-BE49-F238E27FC236}">
                <a16:creationId xmlns:a16="http://schemas.microsoft.com/office/drawing/2014/main" id="{90825FAF-DF24-42F9-95DC-A00A5D00D074}"/>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query = query.Where(order =&gt; order.Status == status);</a:t>
            </a:r>
          </a:p>
        </p:txBody>
      </p:sp>
      <p:sp>
        <p:nvSpPr>
          <p:cNvPr id="10" name="Code line 6">
            <a:extLst xmlns:a="http://schemas.openxmlformats.org/drawingml/2006/main">
              <a:ext uri="{FF2B5EF4-FFF2-40B4-BE49-F238E27FC236}">
                <a16:creationId xmlns:a16="http://schemas.microsoft.com/office/drawing/2014/main" id="{9E330225-B907-41D4-81A6-005B7A9BBBD8}"/>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count = await query.CountAsync(cancellationToken);</a:t>
            </a:r>
          </a:p>
        </p:txBody>
      </p:sp>
      <p:sp>
        <p:nvSpPr>
          <p:cNvPr id="11" name="Code line 7">
            <a:extLst xmlns:a="http://schemas.openxmlformats.org/drawingml/2006/main">
              <a:ext uri="{FF2B5EF4-FFF2-40B4-BE49-F238E27FC236}">
                <a16:creationId xmlns:a16="http://schemas.microsoft.com/office/drawing/2014/main" id="{6926324E-8C6C-44E6-9C15-888D24BDC584}"/>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var orders = await query.Include(order =&gt; order.Items)</a:t>
            </a:r>
          </a:p>
        </p:txBody>
      </p:sp>
      <p:sp>
        <p:nvSpPr>
          <p:cNvPr id="12" name="Code line 8">
            <a:extLst xmlns:a="http://schemas.openxmlformats.org/drawingml/2006/main">
              <a:ext uri="{FF2B5EF4-FFF2-40B4-BE49-F238E27FC236}">
                <a16:creationId xmlns:a16="http://schemas.microsoft.com/office/drawing/2014/main" id="{6CB0CD55-6EED-40EC-B0FF-BFFA22D26276}"/>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.OrderByDescending(order =&gt; order.CreatedAt)</a:t>
            </a:r>
          </a:p>
        </p:txBody>
      </p:sp>
      <p:sp>
        <p:nvSpPr>
          <p:cNvPr id="13" name="Code line 9">
            <a:extLst xmlns:a="http://schemas.openxmlformats.org/drawingml/2006/main">
              <a:ext uri="{FF2B5EF4-FFF2-40B4-BE49-F238E27FC236}">
                <a16:creationId xmlns:a16="http://schemas.microsoft.com/office/drawing/2014/main" id="{98E39712-581C-4FFD-91DD-D09A6BD1D195}"/>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.ThenBy(order =&gt; order.Id)</a:t>
            </a:r>
          </a:p>
        </p:txBody>
      </p:sp>
      <p:sp>
        <p:nvSpPr>
          <p:cNvPr id="14" name="Code line 10">
            <a:extLst xmlns:a="http://schemas.openxmlformats.org/drawingml/2006/main">
              <a:ext uri="{FF2B5EF4-FFF2-40B4-BE49-F238E27FC236}">
                <a16:creationId xmlns:a16="http://schemas.microsoft.com/office/drawing/2014/main" id="{3382D621-354A-402A-B327-2EF83B68B146}"/>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.Skip(page.Skip).Take(page.PageSize)</a:t>
            </a:r>
          </a:p>
        </p:txBody>
      </p:sp>
      <p:sp>
        <p:nvSpPr>
          <p:cNvPr id="15" name="Code line 11">
            <a:extLst xmlns:a="http://schemas.openxmlformats.org/drawingml/2006/main">
              <a:ext uri="{FF2B5EF4-FFF2-40B4-BE49-F238E27FC236}">
                <a16:creationId xmlns:a16="http://schemas.microsoft.com/office/drawing/2014/main" id="{27F7D936-5D52-4287-BBF6-6211B2C4EE92}"/>
              </a:ext>
            </a:extLst>
          </p:cNvPr>
          <p:cNvSpPr>
            <a:spLocks xmlns:a="http://schemas.openxmlformats.org/drawingml/2006/main" noGrp="1"/>
          </p:cNvSpPr>
          <p:nvPr/>
        </p:nvSpPr>
        <p:spPr>
          <a:xfrm xmlns:a="http://schemas.openxmlformats.org/drawingml/2006/main">
            <a:off x="781050" y="51435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.ToListAsync(cancellationToken);</a:t>
            </a:r>
          </a:p>
        </p:txBody>
      </p:sp>
      <p:sp>
        <p:nvSpPr>
          <p:cNvPr id="16" name="Analysis 1">
            <a:extLst xmlns:a="http://schemas.openxmlformats.org/drawingml/2006/main">
              <a:ext uri="{FF2B5EF4-FFF2-40B4-BE49-F238E27FC236}">
                <a16:creationId xmlns:a16="http://schemas.microsoft.com/office/drawing/2014/main" id="{BE036F7C-70FC-4896-BDCC-0ACDBFD71C69}"/>
              </a:ext>
            </a:extLst>
          </p:cNvPr>
          <p:cNvSpPr>
            <a:spLocks xmlns:a="http://schemas.openxmlformats.org/drawingml/2006/main" noGrp="1"/>
          </p:cNvSpPr>
          <p:nvPr/>
        </p:nvSpPr>
        <p:spPr>
          <a:xfrm xmlns:a="http://schemas.openxmlformats.org/drawingml/2006/main">
            <a:off x="762000"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Un mismo conjunto.</a:t>
            </a:r>
            <a:r>
              <a:rPr sz="1725" b="0">
                <a:solidFill>
                  <a:srgbClr val="D0D8E6"/>
                </a:solidFill>
                <a:latin typeface="Arial"/>
                <a:ea typeface="Arial"/>
                <a:cs typeface="Arial"/>
              </a:rPr>
              <a:t> Count e Items parten de la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misma consulta filtrada. TotalCount no incluye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estados excluidos de la página.</a:t>
            </a:r>
          </a:p>
        </p:txBody>
      </p:sp>
      <p:sp>
        <p:nvSpPr>
          <p:cNvPr id="17" name="Analysis 2">
            <a:extLst xmlns:a="http://schemas.openxmlformats.org/drawingml/2006/main">
              <a:ext uri="{FF2B5EF4-FFF2-40B4-BE49-F238E27FC236}">
                <a16:creationId xmlns:a16="http://schemas.microsoft.com/office/drawing/2014/main" id="{ED3D72BB-C552-4608-842B-B76677C754EF}"/>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Compatibilidad y orden.</a:t>
            </a:r>
            <a:r>
              <a:rPr sz="1725" b="0">
                <a:solidFill>
                  <a:srgbClr val="D0D8E6"/>
                </a:solidFill>
                <a:latin typeface="Arial"/>
                <a:ea typeface="Arial"/>
                <a:cs typeface="Arial"/>
              </a:rPr>
              <a:t> Sin status se conserva la</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consulta actual. CreatedAt ordena por fecha e Id</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desempata antes de paginar.</a:t>
            </a:r>
          </a:p>
        </p:txBody>
      </p:sp>
    </p:spTree>
    <p:extLst>
      <p:ext uri="{BB962C8B-B14F-4D97-AF65-F5344CB8AC3E}">
        <p14:creationId xmlns:p14="http://schemas.microsoft.com/office/powerpoint/2010/main" val="1403171906"/>
      </p:ext>
    </p:extLst>
  </p:cSld>
</p:sld>
</file>

<file path=ppt/slides/slide61.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68063CCB-1719-4C37-B63D-B953EFEB15EC}"/>
              </a:ext>
            </a:extLst>
          </p:cNvPr>
          <p:cNvCxnSpPr>
            <a:stCxn xmlns:a="http://schemas.openxmlformats.org/drawingml/2006/main" id="10" idx="3"/>
            <a:endCxn xmlns:a="http://schemas.openxmlformats.org/drawingml/2006/main" id="13" idx="1"/>
          </p:cNvCxnSpPr>
          <p:nvPr/>
        </p:nvCxnSpPr>
        <p:spPr>
          <a:xfrm xmlns:a="http://schemas.openxmlformats.org/drawingml/2006/main">
            <a:off x="862012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8" name="">
            <a:extLst xmlns:a="http://schemas.openxmlformats.org/drawingml/2006/main">
              <a:ext uri="{FF2B5EF4-FFF2-40B4-BE49-F238E27FC236}">
                <a16:creationId xmlns:a16="http://schemas.microsoft.com/office/drawing/2014/main" id="{52CE82AE-0ED0-4DC4-97F5-E3F2E07CD152}"/>
              </a:ext>
            </a:extLst>
          </p:cNvPr>
          <p:cNvCxnSpPr>
            <a:stCxn xmlns:a="http://schemas.openxmlformats.org/drawingml/2006/main" id="7" idx="3"/>
            <a:endCxn xmlns:a="http://schemas.openxmlformats.org/drawingml/2006/main" id="10" idx="1"/>
          </p:cNvCxnSpPr>
          <p:nvPr/>
        </p:nvCxnSpPr>
        <p:spPr>
          <a:xfrm xmlns:a="http://schemas.openxmlformats.org/drawingml/2006/main">
            <a:off x="5810250"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cxnSp>
        <p:nvCxnSpPr>
          <p:cNvPr id="16" name="">
            <a:extLst xmlns:a="http://schemas.openxmlformats.org/drawingml/2006/main">
              <a:ext uri="{FF2B5EF4-FFF2-40B4-BE49-F238E27FC236}">
                <a16:creationId xmlns:a16="http://schemas.microsoft.com/office/drawing/2014/main" id="{1D01CEE0-617C-498C-A6D3-8809BF2A5FA9}"/>
              </a:ext>
            </a:extLst>
          </p:cNvPr>
          <p:cNvCxnSpPr>
            <a:stCxn xmlns:a="http://schemas.openxmlformats.org/drawingml/2006/main" id="4" idx="3"/>
            <a:endCxn xmlns:a="http://schemas.openxmlformats.org/drawingml/2006/main" id="7" idx="1"/>
          </p:cNvCxnSpPr>
          <p:nvPr/>
        </p:nvCxnSpPr>
        <p:spPr>
          <a:xfrm xmlns:a="http://schemas.openxmlformats.org/drawingml/2006/main">
            <a:off x="3000375" y="3929063"/>
            <a:ext cx="571500" cy="0"/>
          </a:xfrm>
          <a:prstGeom xmlns:a="http://schemas.openxmlformats.org/drawingml/2006/main" prst="straightConnector1">
            <a:avLst/>
          </a:prstGeom>
          <a:ln xmlns:a="http://schemas.openxmlformats.org/drawingml/2006/main" w="19050">
            <a:solidFill>
              <a:srgbClr val="6044B6"/>
            </a:solidFill>
            <a:tailEnd type="triangle" w="med" len="med"/>
          </a:ln>
        </p:spPr>
      </p:cxnSp>
      <p:sp>
        <p:nvSpPr>
          <p:cNvPr id="24" name="Deep module">
            <a:extLst xmlns:a="http://schemas.openxmlformats.org/drawingml/2006/main">
              <a:ext uri="{FF2B5EF4-FFF2-40B4-BE49-F238E27FC236}">
                <a16:creationId xmlns:a16="http://schemas.microsoft.com/office/drawing/2014/main" id="{14F7EFC7-8ED7-4D68-AE6E-F897D3C2066A}"/>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10</a:t>
            </a:r>
          </a:p>
        </p:txBody>
      </p:sp>
      <p:sp>
        <p:nvSpPr>
          <p:cNvPr id="2" name="Deep title">
            <a:extLst xmlns:a="http://schemas.openxmlformats.org/drawingml/2006/main">
              <a:ext uri="{FF2B5EF4-FFF2-40B4-BE49-F238E27FC236}">
                <a16:creationId xmlns:a16="http://schemas.microsoft.com/office/drawing/2014/main" id="{1884A93A-13F8-4475-AC4F-F41AB152CDF7}"/>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El criterio conecta las capas</a:t>
            </a:r>
          </a:p>
        </p:txBody>
      </p:sp>
      <p:sp>
        <p:nvSpPr>
          <p:cNvPr id="3" name="Deep lead">
            <a:extLst xmlns:a="http://schemas.openxmlformats.org/drawingml/2006/main">
              <a:ext uri="{FF2B5EF4-FFF2-40B4-BE49-F238E27FC236}">
                <a16:creationId xmlns:a16="http://schemas.microsoft.com/office/drawing/2014/main" id="{36DDAFA1-BA7B-4281-99CE-27448E1C6B1F}"/>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Propuesta del ejercicio final: una función termina cuando el contrato, la consulta y las</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pruebas expresan el mismo comportamiento observable.</a:t>
            </a:r>
          </a:p>
        </p:txBody>
      </p:sp>
      <p:sp>
        <p:nvSpPr>
          <p:cNvPr id="4" name="Diagram node contract">
            <a:extLst xmlns:a="http://schemas.openxmlformats.org/drawingml/2006/main">
              <a:ext uri="{FF2B5EF4-FFF2-40B4-BE49-F238E27FC236}">
                <a16:creationId xmlns:a16="http://schemas.microsoft.com/office/drawing/2014/main" id="{3EDAE7A3-13D6-4F9D-8349-55BF7247A4AB}"/>
              </a:ext>
            </a:extLst>
          </p:cNvPr>
          <p:cNvSpPr>
            <a:spLocks xmlns:a="http://schemas.openxmlformats.org/drawingml/2006/main" noGrp="1"/>
          </p:cNvSpPr>
          <p:nvPr/>
        </p:nvSpPr>
        <p:spPr>
          <a:xfrm xmlns:a="http://schemas.openxmlformats.org/drawingml/2006/main">
            <a:off x="76200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5" name="Node label contract">
            <a:extLst xmlns:a="http://schemas.openxmlformats.org/drawingml/2006/main">
              <a:ext uri="{FF2B5EF4-FFF2-40B4-BE49-F238E27FC236}">
                <a16:creationId xmlns:a16="http://schemas.microsoft.com/office/drawing/2014/main" id="{3ACB7C34-2FD3-4E9E-ADB1-D1CE7444F175}"/>
              </a:ext>
            </a:extLst>
          </p:cNvPr>
          <p:cNvSpPr>
            <a:spLocks xmlns:a="http://schemas.openxmlformats.org/drawingml/2006/main" noGrp="1"/>
          </p:cNvSpPr>
          <p:nvPr/>
        </p:nvSpPr>
        <p:spPr>
          <a:xfrm xmlns:a="http://schemas.openxmlformats.org/drawingml/2006/main">
            <a:off x="876300"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Contrato HTTP</a:t>
            </a:r>
          </a:p>
        </p:txBody>
      </p:sp>
      <p:sp>
        <p:nvSpPr>
          <p:cNvPr id="6" name="Node detail contract">
            <a:extLst xmlns:a="http://schemas.openxmlformats.org/drawingml/2006/main">
              <a:ext uri="{FF2B5EF4-FFF2-40B4-BE49-F238E27FC236}">
                <a16:creationId xmlns:a16="http://schemas.microsoft.com/office/drawing/2014/main" id="{9EBCC82A-2A75-4643-BC3D-694AE9E2A94E}"/>
              </a:ext>
            </a:extLst>
          </p:cNvPr>
          <p:cNvSpPr>
            <a:spLocks xmlns:a="http://schemas.openxmlformats.org/drawingml/2006/main" noGrp="1"/>
          </p:cNvSpPr>
          <p:nvPr/>
        </p:nvSpPr>
        <p:spPr>
          <a:xfrm xmlns:a="http://schemas.openxmlformats.org/drawingml/2006/main">
            <a:off x="876300"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Estado opcional 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error de entrada</a:t>
            </a:r>
          </a:p>
        </p:txBody>
      </p:sp>
      <p:sp>
        <p:nvSpPr>
          <p:cNvPr id="7" name="Diagram node handler">
            <a:extLst xmlns:a="http://schemas.openxmlformats.org/drawingml/2006/main">
              <a:ext uri="{FF2B5EF4-FFF2-40B4-BE49-F238E27FC236}">
                <a16:creationId xmlns:a16="http://schemas.microsoft.com/office/drawing/2014/main" id="{843BB407-A76A-4A35-8FFC-E8C71E4EFA60}"/>
              </a:ext>
            </a:extLst>
          </p:cNvPr>
          <p:cNvSpPr>
            <a:spLocks xmlns:a="http://schemas.openxmlformats.org/drawingml/2006/main" noGrp="1"/>
          </p:cNvSpPr>
          <p:nvPr/>
        </p:nvSpPr>
        <p:spPr>
          <a:xfrm xmlns:a="http://schemas.openxmlformats.org/drawingml/2006/main">
            <a:off x="357187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8" name="Node label handler">
            <a:extLst xmlns:a="http://schemas.openxmlformats.org/drawingml/2006/main">
              <a:ext uri="{FF2B5EF4-FFF2-40B4-BE49-F238E27FC236}">
                <a16:creationId xmlns:a16="http://schemas.microsoft.com/office/drawing/2014/main" id="{1377D9C1-4646-4FAE-852E-414095E7F440}"/>
              </a:ext>
            </a:extLst>
          </p:cNvPr>
          <p:cNvSpPr>
            <a:spLocks xmlns:a="http://schemas.openxmlformats.org/drawingml/2006/main" noGrp="1"/>
          </p:cNvSpPr>
          <p:nvPr/>
        </p:nvSpPr>
        <p:spPr>
          <a:xfrm xmlns:a="http://schemas.openxmlformats.org/drawingml/2006/main">
            <a:off x="368617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Caso de uso</a:t>
            </a:r>
          </a:p>
        </p:txBody>
      </p:sp>
      <p:sp>
        <p:nvSpPr>
          <p:cNvPr id="9" name="Node detail handler">
            <a:extLst xmlns:a="http://schemas.openxmlformats.org/drawingml/2006/main">
              <a:ext uri="{FF2B5EF4-FFF2-40B4-BE49-F238E27FC236}">
                <a16:creationId xmlns:a16="http://schemas.microsoft.com/office/drawing/2014/main" id="{DA7E81F9-7E89-465E-AA00-F08D67855910}"/>
              </a:ext>
            </a:extLst>
          </p:cNvPr>
          <p:cNvSpPr>
            <a:spLocks xmlns:a="http://schemas.openxmlformats.org/drawingml/2006/main" noGrp="1"/>
          </p:cNvSpPr>
          <p:nvPr/>
        </p:nvSpPr>
        <p:spPr>
          <a:xfrm xmlns:a="http://schemas.openxmlformats.org/drawingml/2006/main">
            <a:off x="3686175"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Identidad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paginación válidas</a:t>
            </a:r>
          </a:p>
        </p:txBody>
      </p:sp>
      <p:sp>
        <p:nvSpPr>
          <p:cNvPr id="10" name="Diagram node query">
            <a:extLst xmlns:a="http://schemas.openxmlformats.org/drawingml/2006/main">
              <a:ext uri="{FF2B5EF4-FFF2-40B4-BE49-F238E27FC236}">
                <a16:creationId xmlns:a16="http://schemas.microsoft.com/office/drawing/2014/main" id="{35F7070F-782C-4F53-9786-AA30B76B409E}"/>
              </a:ext>
            </a:extLst>
          </p:cNvPr>
          <p:cNvSpPr>
            <a:spLocks xmlns:a="http://schemas.openxmlformats.org/drawingml/2006/main" noGrp="1"/>
          </p:cNvSpPr>
          <p:nvPr/>
        </p:nvSpPr>
        <p:spPr>
          <a:xfrm xmlns:a="http://schemas.openxmlformats.org/drawingml/2006/main">
            <a:off x="6381750"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1" name="Node label query">
            <a:extLst xmlns:a="http://schemas.openxmlformats.org/drawingml/2006/main">
              <a:ext uri="{FF2B5EF4-FFF2-40B4-BE49-F238E27FC236}">
                <a16:creationId xmlns:a16="http://schemas.microsoft.com/office/drawing/2014/main" id="{9E943A5F-161A-4CEF-AE2B-0CAC035F9F76}"/>
              </a:ext>
            </a:extLst>
          </p:cNvPr>
          <p:cNvSpPr>
            <a:spLocks xmlns:a="http://schemas.openxmlformats.org/drawingml/2006/main" noGrp="1"/>
          </p:cNvSpPr>
          <p:nvPr/>
        </p:nvSpPr>
        <p:spPr>
          <a:xfrm xmlns:a="http://schemas.openxmlformats.org/drawingml/2006/main">
            <a:off x="6496050" y="3267075"/>
            <a:ext cx="20097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Consulta de</a:t>
            </a:r>
          </a:p>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datos</a:t>
            </a:r>
          </a:p>
        </p:txBody>
      </p:sp>
      <p:sp>
        <p:nvSpPr>
          <p:cNvPr id="12" name="Node detail query">
            <a:extLst xmlns:a="http://schemas.openxmlformats.org/drawingml/2006/main">
              <a:ext uri="{FF2B5EF4-FFF2-40B4-BE49-F238E27FC236}">
                <a16:creationId xmlns:a16="http://schemas.microsoft.com/office/drawing/2014/main" id="{070C9DDF-0F40-46F0-AB2D-188806989BB7}"/>
              </a:ext>
            </a:extLst>
          </p:cNvPr>
          <p:cNvSpPr>
            <a:spLocks xmlns:a="http://schemas.openxmlformats.org/drawingml/2006/main" noGrp="1"/>
          </p:cNvSpPr>
          <p:nvPr/>
        </p:nvSpPr>
        <p:spPr>
          <a:xfrm xmlns:a="http://schemas.openxmlformats.org/drawingml/2006/main">
            <a:off x="6496050" y="38481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Propietario y estado</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antes de paginar</a:t>
            </a:r>
          </a:p>
        </p:txBody>
      </p:sp>
      <p:sp>
        <p:nvSpPr>
          <p:cNvPr id="13" name="Diagram node proof">
            <a:extLst xmlns:a="http://schemas.openxmlformats.org/drawingml/2006/main">
              <a:ext uri="{FF2B5EF4-FFF2-40B4-BE49-F238E27FC236}">
                <a16:creationId xmlns:a16="http://schemas.microsoft.com/office/drawing/2014/main" id="{B02A8111-BB56-454A-A025-9CD2B5C89396}"/>
              </a:ext>
            </a:extLst>
          </p:cNvPr>
          <p:cNvSpPr>
            <a:spLocks xmlns:a="http://schemas.openxmlformats.org/drawingml/2006/main" noGrp="1"/>
          </p:cNvSpPr>
          <p:nvPr/>
        </p:nvSpPr>
        <p:spPr>
          <a:xfrm xmlns:a="http://schemas.openxmlformats.org/drawingml/2006/main">
            <a:off x="9191625" y="3143250"/>
            <a:ext cx="2238375" cy="1571625"/>
          </a:xfrm>
          <a:prstGeom xmlns:a="http://schemas.openxmlformats.org/drawingml/2006/main" prst="rect">
            <a:avLst/>
          </a:prstGeom>
          <a:solidFill xmlns:a="http://schemas.openxmlformats.org/drawingml/2006/main">
            <a:srgbClr val="FFFFFF"/>
          </a:solidFill>
          <a:ln xmlns:a="http://schemas.openxmlformats.org/drawingml/2006/main" w="14288">
            <a:solidFill>
              <a:srgbClr val="6044B6"/>
            </a:solidFill>
          </a:ln>
        </p:spPr>
      </p:sp>
      <p:sp>
        <p:nvSpPr>
          <p:cNvPr id="14" name="Node label proof">
            <a:extLst xmlns:a="http://schemas.openxmlformats.org/drawingml/2006/main">
              <a:ext uri="{FF2B5EF4-FFF2-40B4-BE49-F238E27FC236}">
                <a16:creationId xmlns:a16="http://schemas.microsoft.com/office/drawing/2014/main" id="{A6FEC9A7-9D4F-460D-B4C2-B112A88DDAEB}"/>
              </a:ext>
            </a:extLst>
          </p:cNvPr>
          <p:cNvSpPr>
            <a:spLocks xmlns:a="http://schemas.openxmlformats.org/drawingml/2006/main" noGrp="1"/>
          </p:cNvSpPr>
          <p:nvPr/>
        </p:nvSpPr>
        <p:spPr>
          <a:xfrm xmlns:a="http://schemas.openxmlformats.org/drawingml/2006/main">
            <a:off x="9305925" y="3267075"/>
            <a:ext cx="2009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6044B6"/>
                </a:solidFill>
                <a:latin typeface="Arial"/>
                <a:ea typeface="Arial"/>
                <a:cs typeface="Arial"/>
              </a:defRPr>
            </a:defPPr>
          </a:lstStyle>
          <a:p xmlns:a="http://schemas.openxmlformats.org/drawingml/2006/main">
            <a:pPr algn="ctr">
              <a:buNone/>
              <a:defRPr sz="1875" b="1">
                <a:solidFill>
                  <a:srgbClr val="6044B6"/>
                </a:solidFill>
                <a:latin typeface="Arial"/>
                <a:ea typeface="Arial"/>
                <a:cs typeface="Arial"/>
              </a:defRPr>
            </a:pPr>
            <a:r>
              <a:rPr sz="1875" b="1">
                <a:solidFill>
                  <a:srgbClr val="6044B6"/>
                </a:solidFill>
                <a:latin typeface="Arial"/>
                <a:ea typeface="Arial"/>
                <a:cs typeface="Arial"/>
              </a:rPr>
              <a:t>Evidencia</a:t>
            </a:r>
          </a:p>
        </p:txBody>
      </p:sp>
      <p:sp>
        <p:nvSpPr>
          <p:cNvPr id="15" name="Node detail proof">
            <a:extLst xmlns:a="http://schemas.openxmlformats.org/drawingml/2006/main">
              <a:ext uri="{FF2B5EF4-FFF2-40B4-BE49-F238E27FC236}">
                <a16:creationId xmlns:a16="http://schemas.microsoft.com/office/drawing/2014/main" id="{1FF08AC9-54AA-4014-B713-90998E863CF6}"/>
              </a:ext>
            </a:extLst>
          </p:cNvPr>
          <p:cNvSpPr>
            <a:spLocks xmlns:a="http://schemas.openxmlformats.org/drawingml/2006/main" noGrp="1"/>
          </p:cNvSpPr>
          <p:nvPr/>
        </p:nvSpPr>
        <p:spPr>
          <a:xfrm xmlns:a="http://schemas.openxmlformats.org/drawingml/2006/main">
            <a:off x="9305925" y="3581400"/>
            <a:ext cx="2009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172137"/>
                </a:solidFill>
                <a:latin typeface="Arial"/>
                <a:ea typeface="Arial"/>
                <a:cs typeface="Arial"/>
              </a:defRPr>
            </a:defPPr>
          </a:lstStyle>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Pruebas, OpenAPI y</a:t>
            </a:r>
          </a:p>
          <a:p xmlns:a="http://schemas.openxmlformats.org/drawingml/2006/main">
            <a:pPr algn="ctr">
              <a:buNone/>
              <a:defRPr sz="1725" b="0">
                <a:solidFill>
                  <a:srgbClr val="172137"/>
                </a:solidFill>
                <a:latin typeface="Arial"/>
                <a:ea typeface="Arial"/>
                <a:cs typeface="Arial"/>
              </a:defRPr>
            </a:pPr>
            <a:r>
              <a:rPr sz="1725" b="0">
                <a:solidFill>
                  <a:srgbClr val="172137"/>
                </a:solidFill>
                <a:latin typeface="Arial"/>
                <a:ea typeface="Arial"/>
                <a:cs typeface="Arial"/>
              </a:rPr>
              <a:t>decisión</a:t>
            </a:r>
          </a:p>
        </p:txBody>
      </p:sp>
      <p:sp>
        <p:nvSpPr>
          <p:cNvPr id="17" name="Relationship contract handler">
            <a:extLst xmlns:a="http://schemas.openxmlformats.org/drawingml/2006/main">
              <a:ext uri="{FF2B5EF4-FFF2-40B4-BE49-F238E27FC236}">
                <a16:creationId xmlns:a16="http://schemas.microsoft.com/office/drawing/2014/main" id="{FBC2AD07-E4EB-4E44-AFC0-BF2A25B4D2A6}"/>
              </a:ext>
            </a:extLst>
          </p:cNvPr>
          <p:cNvSpPr>
            <a:spLocks xmlns:a="http://schemas.openxmlformats.org/drawingml/2006/main" noGrp="1"/>
          </p:cNvSpPr>
          <p:nvPr/>
        </p:nvSpPr>
        <p:spPr>
          <a:xfrm xmlns:a="http://schemas.openxmlformats.org/drawingml/2006/main">
            <a:off x="231457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Solicitud validada</a:t>
            </a:r>
          </a:p>
        </p:txBody>
      </p:sp>
      <p:sp>
        <p:nvSpPr>
          <p:cNvPr id="19" name="Relationship handler query">
            <a:extLst xmlns:a="http://schemas.openxmlformats.org/drawingml/2006/main">
              <a:ext uri="{FF2B5EF4-FFF2-40B4-BE49-F238E27FC236}">
                <a16:creationId xmlns:a16="http://schemas.microsoft.com/office/drawing/2014/main" id="{F257BBFD-F673-4D2E-85D2-4784036B94FC}"/>
              </a:ext>
            </a:extLst>
          </p:cNvPr>
          <p:cNvSpPr>
            <a:spLocks xmlns:a="http://schemas.openxmlformats.org/drawingml/2006/main" noGrp="1"/>
          </p:cNvSpPr>
          <p:nvPr/>
        </p:nvSpPr>
        <p:spPr>
          <a:xfrm xmlns:a="http://schemas.openxmlformats.org/drawingml/2006/main">
            <a:off x="5124450"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Criterios</a:t>
            </a:r>
          </a:p>
        </p:txBody>
      </p:sp>
      <p:sp>
        <p:nvSpPr>
          <p:cNvPr id="21" name="Relationship query proof">
            <a:extLst xmlns:a="http://schemas.openxmlformats.org/drawingml/2006/main">
              <a:ext uri="{FF2B5EF4-FFF2-40B4-BE49-F238E27FC236}">
                <a16:creationId xmlns:a16="http://schemas.microsoft.com/office/drawing/2014/main" id="{E0CA0A8A-8E1A-46A9-BF81-2B873CB5C660}"/>
              </a:ext>
            </a:extLst>
          </p:cNvPr>
          <p:cNvSpPr>
            <a:spLocks xmlns:a="http://schemas.openxmlformats.org/drawingml/2006/main" noGrp="1"/>
          </p:cNvSpPr>
          <p:nvPr/>
        </p:nvSpPr>
        <p:spPr>
          <a:xfrm xmlns:a="http://schemas.openxmlformats.org/drawingml/2006/main">
            <a:off x="7934325" y="2714625"/>
            <a:ext cx="19431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45516A"/>
                </a:solidFill>
                <a:latin typeface="Arial"/>
                <a:ea typeface="Arial"/>
                <a:cs typeface="Arial"/>
              </a:defRPr>
            </a:defPPr>
          </a:lstStyle>
          <a:p xmlns:a="http://schemas.openxmlformats.org/drawingml/2006/main">
            <a:pPr algn="ctr">
              <a:buNone/>
              <a:defRPr sz="1650" b="0">
                <a:solidFill>
                  <a:srgbClr val="45516A"/>
                </a:solidFill>
                <a:latin typeface="Arial"/>
                <a:ea typeface="Arial"/>
                <a:cs typeface="Arial"/>
              </a:defRPr>
            </a:pPr>
            <a:r>
              <a:rPr sz="1650" b="0">
                <a:solidFill>
                  <a:srgbClr val="45516A"/>
                </a:solidFill>
                <a:latin typeface="Arial"/>
                <a:ea typeface="Arial"/>
                <a:cs typeface="Arial"/>
              </a:rPr>
              <a:t>Evidencia</a:t>
            </a:r>
          </a:p>
        </p:txBody>
      </p:sp>
      <p:sp>
        <p:nvSpPr>
          <p:cNvPr id="22" name="Analysis 1">
            <a:extLst xmlns:a="http://schemas.openxmlformats.org/drawingml/2006/main">
              <a:ext uri="{FF2B5EF4-FFF2-40B4-BE49-F238E27FC236}">
                <a16:creationId xmlns:a16="http://schemas.microsoft.com/office/drawing/2014/main" id="{D90B1BE0-F3FE-41B9-9093-25EB8E5CA1FA}"/>
              </a:ext>
            </a:extLst>
          </p:cNvPr>
          <p:cNvSpPr>
            <a:spLocks xmlns:a="http://schemas.openxmlformats.org/drawingml/2006/main" noGrp="1"/>
          </p:cNvSpPr>
          <p:nvPr/>
        </p:nvSpPr>
        <p:spPr>
          <a:xfrm xmlns:a="http://schemas.openxmlformats.org/drawingml/2006/main">
            <a:off x="762000" y="5514975"/>
            <a:ext cx="5191125" cy="899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Matriz de aceptación.</a:t>
            </a:r>
            <a:r>
              <a:rPr sz="1800" b="0">
                <a:solidFill>
                  <a:srgbClr val="45516A"/>
                </a:solidFill>
                <a:latin typeface="Arial"/>
                <a:ea typeface="Arial"/>
                <a:cs typeface="Arial"/>
              </a:rPr>
              <a:t> Probar estado omitido,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válido e inválido, dos propietarios y varias páginas.</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Comprobar Items y TotalCount.</a:t>
            </a:r>
          </a:p>
        </p:txBody>
      </p:sp>
      <p:sp>
        <p:nvSpPr>
          <p:cNvPr id="23" name="Analysis 2">
            <a:extLst xmlns:a="http://schemas.openxmlformats.org/drawingml/2006/main">
              <a:ext uri="{FF2B5EF4-FFF2-40B4-BE49-F238E27FC236}">
                <a16:creationId xmlns:a16="http://schemas.microsoft.com/office/drawing/2014/main" id="{9A705561-78DA-4FD3-A5C9-30999083827A}"/>
              </a:ext>
            </a:extLst>
          </p:cNvPr>
          <p:cNvSpPr>
            <a:spLocks xmlns:a="http://schemas.openxmlformats.org/drawingml/2006/main" noGrp="1"/>
          </p:cNvSpPr>
          <p:nvPr/>
        </p:nvSpPr>
        <p:spPr>
          <a:xfrm xmlns:a="http://schemas.openxmlformats.org/drawingml/2006/main">
            <a:off x="6238875" y="5514975"/>
            <a:ext cx="5191125" cy="1173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45516A"/>
                </a:solidFill>
                <a:latin typeface="Arial"/>
                <a:ea typeface="Arial"/>
                <a:cs typeface="Arial"/>
              </a:defRPr>
            </a:defPPr>
          </a:lstStyle>
          <a:p xmlns:a="http://schemas.openxmlformats.org/drawingml/2006/main">
            <a:pPr algn="l">
              <a:buNone/>
              <a:defRPr sz="1800" b="0">
                <a:solidFill>
                  <a:srgbClr val="45516A"/>
                </a:solidFill>
                <a:latin typeface="Arial"/>
                <a:ea typeface="Arial"/>
                <a:cs typeface="Arial"/>
              </a:defRPr>
            </a:pPr>
            <a:r>
              <a:rPr sz="1800" b="1">
                <a:solidFill>
                  <a:srgbClr val="6044B6"/>
                </a:solidFill>
                <a:latin typeface="Arial"/>
                <a:ea typeface="Arial"/>
                <a:cs typeface="Arial"/>
              </a:rPr>
              <a:t>Una extensión acotada.</a:t>
            </a:r>
            <a:r>
              <a:rPr sz="1800" b="0">
                <a:solidFill>
                  <a:srgbClr val="45516A"/>
                </a:solidFill>
                <a:latin typeface="Arial"/>
                <a:ea typeface="Arial"/>
                <a:cs typeface="Arial"/>
              </a:rPr>
              <a:t> El estado ya existe: el filtro</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por sí mismo no requiere migración. Un índice</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adicional necesita evidencia de una consulta</a:t>
            </a:r>
          </a:p>
          <a:p xmlns:a="http://schemas.openxmlformats.org/drawingml/2006/main">
            <a:pPr algn="l">
              <a:buNone/>
              <a:defRPr sz="1800" b="0">
                <a:solidFill>
                  <a:srgbClr val="45516A"/>
                </a:solidFill>
                <a:latin typeface="Arial"/>
                <a:ea typeface="Arial"/>
                <a:cs typeface="Arial"/>
              </a:defRPr>
            </a:pPr>
            <a:r>
              <a:rPr sz="1800" b="0">
                <a:solidFill>
                  <a:srgbClr val="45516A"/>
                </a:solidFill>
                <a:latin typeface="Arial"/>
                <a:ea typeface="Arial"/>
                <a:cs typeface="Arial"/>
              </a:rPr>
              <a:t>costosa.</a:t>
            </a:r>
          </a:p>
        </p:txBody>
      </p:sp>
    </p:spTree>
    <p:extLst>
      <p:ext uri="{BB962C8B-B14F-4D97-AF65-F5344CB8AC3E}">
        <p14:creationId xmlns:p14="http://schemas.microsoft.com/office/powerpoint/2010/main" val="944706451"/>
      </p:ext>
    </p:extLst>
  </p:cSld>
</p:sld>
</file>

<file path=ppt/slides/slide62.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sp>
        <p:nvSpPr>
          <p:cNvPr id="18" name="Deep module">
            <a:extLst xmlns:a="http://schemas.openxmlformats.org/drawingml/2006/main">
              <a:ext uri="{FF2B5EF4-FFF2-40B4-BE49-F238E27FC236}">
                <a16:creationId xmlns:a16="http://schemas.microsoft.com/office/drawing/2014/main" id="{DEE2DE48-EF45-451B-B510-826063227163}"/>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E2D7"/>
                </a:solidFill>
                <a:latin typeface="Arial"/>
                <a:ea typeface="Arial"/>
                <a:cs typeface="Arial"/>
              </a:defRPr>
            </a:defPPr>
          </a:lstStyle>
          <a:p xmlns:a="http://schemas.openxmlformats.org/drawingml/2006/main">
            <a:pPr algn="l">
              <a:buNone/>
              <a:defRPr sz="1725" b="1">
                <a:solidFill>
                  <a:srgbClr val="A7E2D7"/>
                </a:solidFill>
                <a:latin typeface="Arial"/>
                <a:ea typeface="Arial"/>
                <a:cs typeface="Arial"/>
              </a:defRPr>
            </a:pPr>
            <a:r>
              <a:rPr sz="1725" b="1">
                <a:solidFill>
                  <a:srgbClr val="A7E2D7"/>
                </a:solidFill>
                <a:latin typeface="Arial"/>
                <a:ea typeface="Arial"/>
                <a:cs typeface="Arial"/>
              </a:rPr>
              <a:t>MÓDULO 10</a:t>
            </a:r>
          </a:p>
        </p:txBody>
      </p:sp>
      <p:sp>
        <p:nvSpPr>
          <p:cNvPr id="2" name="Deep title">
            <a:extLst xmlns:a="http://schemas.openxmlformats.org/drawingml/2006/main">
              <a:ext uri="{FF2B5EF4-FFF2-40B4-BE49-F238E27FC236}">
                <a16:creationId xmlns:a16="http://schemas.microsoft.com/office/drawing/2014/main" id="{09E22064-A519-432C-A0C2-E72164775EBA}"/>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La CI repite controles con un entorno definido</a:t>
            </a:r>
          </a:p>
        </p:txBody>
      </p:sp>
      <p:sp>
        <p:nvSpPr>
          <p:cNvPr id="3" name="Deep lead">
            <a:extLst xmlns:a="http://schemas.openxmlformats.org/drawingml/2006/main">
              <a:ext uri="{FF2B5EF4-FFF2-40B4-BE49-F238E27FC236}">
                <a16:creationId xmlns:a16="http://schemas.microsoft.com/office/drawing/2014/main" id="{F4716922-CDB4-47C6-AB63-3F2FC2350F90}"/>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D0D8E6"/>
                </a:solidFill>
                <a:latin typeface="Arial"/>
                <a:ea typeface="Arial"/>
                <a:cs typeface="Arial"/>
              </a:defRPr>
            </a:defPPr>
          </a:lstStyle>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El workflow declara herramientas y pasos verificables. Su presencia en el repositorio</a:t>
            </a:r>
          </a:p>
          <a:p xmlns:a="http://schemas.openxmlformats.org/drawingml/2006/main">
            <a:pPr algn="l">
              <a:buNone/>
              <a:defRPr sz="2025" b="0">
                <a:solidFill>
                  <a:srgbClr val="D0D8E6"/>
                </a:solidFill>
                <a:latin typeface="Arial"/>
                <a:ea typeface="Arial"/>
                <a:cs typeface="Arial"/>
              </a:defRPr>
            </a:pPr>
            <a:r>
              <a:rPr sz="2025" b="0">
                <a:solidFill>
                  <a:srgbClr val="D0D8E6"/>
                </a:solidFill>
                <a:latin typeface="Arial"/>
                <a:ea typeface="Arial"/>
                <a:cs typeface="Arial"/>
              </a:rPr>
              <a:t>describe la intención; sólo una ejecución aporta resultados.</a:t>
            </a:r>
          </a:p>
        </p:txBody>
      </p:sp>
      <p:sp>
        <p:nvSpPr>
          <p:cNvPr id="4" name="Code provenance">
            <a:extLst xmlns:a="http://schemas.openxmlformats.org/drawingml/2006/main">
              <a:ext uri="{FF2B5EF4-FFF2-40B4-BE49-F238E27FC236}">
                <a16:creationId xmlns:a16="http://schemas.microsoft.com/office/drawing/2014/main" id="{DC8235CA-F52B-4438-88B7-7F8437F0EBD6}"/>
              </a:ext>
            </a:extLst>
          </p:cNvPr>
          <p:cNvSpPr>
            <a:spLocks xmlns:a="http://schemas.openxmlformats.org/drawingml/2006/main" noGrp="1"/>
          </p:cNvSpPr>
          <p:nvPr/>
        </p:nvSpPr>
        <p:spPr>
          <a:xfrm xmlns:a="http://schemas.openxmlformats.org/drawingml/2006/main">
            <a:off x="781050" y="2200275"/>
            <a:ext cx="1062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E2D7"/>
                </a:solidFill>
                <a:latin typeface="Arial"/>
                <a:ea typeface="Arial"/>
                <a:cs typeface="Arial"/>
              </a:defRPr>
            </a:defPPr>
          </a:lstStyle>
          <a:p xmlns:a="http://schemas.openxmlformats.org/drawingml/2006/main">
            <a:pPr algn="l">
              <a:buNone/>
              <a:defRPr sz="1650" b="1">
                <a:solidFill>
                  <a:srgbClr val="A7E2D7"/>
                </a:solidFill>
                <a:latin typeface="Arial"/>
                <a:ea typeface="Arial"/>
                <a:cs typeface="Arial"/>
              </a:defRPr>
            </a:pPr>
            <a:r>
              <a:rPr sz="1650" b="1">
                <a:solidFill>
                  <a:srgbClr val="A7E2D7"/>
                </a:solidFill>
                <a:latin typeface="Arial"/>
                <a:ea typeface="Arial"/>
                <a:cs typeface="Arial"/>
              </a:rPr>
              <a:t>Fragmento de .github/workflows/ci.yml</a:t>
            </a:r>
          </a:p>
        </p:txBody>
      </p:sp>
      <p:sp>
        <p:nvSpPr>
          <p:cNvPr id="5" name="Code line 1">
            <a:extLst xmlns:a="http://schemas.openxmlformats.org/drawingml/2006/main">
              <a:ext uri="{FF2B5EF4-FFF2-40B4-BE49-F238E27FC236}">
                <a16:creationId xmlns:a16="http://schemas.microsoft.com/office/drawing/2014/main" id="{C02DDC06-1F4A-447D-B6FF-E0072C0E8E87}"/>
              </a:ext>
            </a:extLst>
          </p:cNvPr>
          <p:cNvSpPr>
            <a:spLocks xmlns:a="http://schemas.openxmlformats.org/drawingml/2006/main" noGrp="1"/>
          </p:cNvSpPr>
          <p:nvPr/>
        </p:nvSpPr>
        <p:spPr>
          <a:xfrm xmlns:a="http://schemas.openxmlformats.org/drawingml/2006/main">
            <a:off x="781050" y="25717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jobs:</a:t>
            </a:r>
          </a:p>
        </p:txBody>
      </p:sp>
      <p:sp>
        <p:nvSpPr>
          <p:cNvPr id="6" name="Code line 2">
            <a:extLst xmlns:a="http://schemas.openxmlformats.org/drawingml/2006/main">
              <a:ext uri="{FF2B5EF4-FFF2-40B4-BE49-F238E27FC236}">
                <a16:creationId xmlns:a16="http://schemas.microsoft.com/office/drawing/2014/main" id="{2594C582-27D6-4BAB-9B9C-C1FE2436915F}"/>
              </a:ext>
            </a:extLst>
          </p:cNvPr>
          <p:cNvSpPr>
            <a:spLocks xmlns:a="http://schemas.openxmlformats.org/drawingml/2006/main" noGrp="1"/>
          </p:cNvSpPr>
          <p:nvPr/>
        </p:nvSpPr>
        <p:spPr>
          <a:xfrm xmlns:a="http://schemas.openxmlformats.org/drawingml/2006/main">
            <a:off x="781050" y="28289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build-test:</a:t>
            </a:r>
          </a:p>
        </p:txBody>
      </p:sp>
      <p:sp>
        <p:nvSpPr>
          <p:cNvPr id="7" name="Code line 3">
            <a:extLst xmlns:a="http://schemas.openxmlformats.org/drawingml/2006/main">
              <a:ext uri="{FF2B5EF4-FFF2-40B4-BE49-F238E27FC236}">
                <a16:creationId xmlns:a16="http://schemas.microsoft.com/office/drawing/2014/main" id="{8D32C40C-BAB4-4322-AE3A-E7B28B1AF361}"/>
              </a:ext>
            </a:extLst>
          </p:cNvPr>
          <p:cNvSpPr>
            <a:spLocks xmlns:a="http://schemas.openxmlformats.org/drawingml/2006/main" noGrp="1"/>
          </p:cNvSpPr>
          <p:nvPr/>
        </p:nvSpPr>
        <p:spPr>
          <a:xfrm xmlns:a="http://schemas.openxmlformats.org/drawingml/2006/main">
            <a:off x="781050" y="30861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runs-on: ubuntu-latest</a:t>
            </a:r>
          </a:p>
        </p:txBody>
      </p:sp>
      <p:sp>
        <p:nvSpPr>
          <p:cNvPr id="8" name="Code line 4">
            <a:extLst xmlns:a="http://schemas.openxmlformats.org/drawingml/2006/main">
              <a:ext uri="{FF2B5EF4-FFF2-40B4-BE49-F238E27FC236}">
                <a16:creationId xmlns:a16="http://schemas.microsoft.com/office/drawing/2014/main" id="{EC53C2D9-DA52-4B3F-A1C9-ABFA010F3488}"/>
              </a:ext>
            </a:extLst>
          </p:cNvPr>
          <p:cNvSpPr>
            <a:spLocks xmlns:a="http://schemas.openxmlformats.org/drawingml/2006/main" noGrp="1"/>
          </p:cNvSpPr>
          <p:nvPr/>
        </p:nvSpPr>
        <p:spPr>
          <a:xfrm xmlns:a="http://schemas.openxmlformats.org/drawingml/2006/main">
            <a:off x="781050" y="33432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steps:</a:t>
            </a:r>
          </a:p>
        </p:txBody>
      </p:sp>
      <p:sp>
        <p:nvSpPr>
          <p:cNvPr id="9" name="Code line 5">
            <a:extLst xmlns:a="http://schemas.openxmlformats.org/drawingml/2006/main">
              <a:ext uri="{FF2B5EF4-FFF2-40B4-BE49-F238E27FC236}">
                <a16:creationId xmlns:a16="http://schemas.microsoft.com/office/drawing/2014/main" id="{0C23E3E9-3380-4900-8CCA-42BE15191713}"/>
              </a:ext>
            </a:extLst>
          </p:cNvPr>
          <p:cNvSpPr>
            <a:spLocks xmlns:a="http://schemas.openxmlformats.org/drawingml/2006/main" noGrp="1"/>
          </p:cNvSpPr>
          <p:nvPr/>
        </p:nvSpPr>
        <p:spPr>
          <a:xfrm xmlns:a="http://schemas.openxmlformats.org/drawingml/2006/main">
            <a:off x="781050" y="36004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uses: actions/checkout@v4</a:t>
            </a:r>
          </a:p>
        </p:txBody>
      </p:sp>
      <p:sp>
        <p:nvSpPr>
          <p:cNvPr id="10" name="Code line 6">
            <a:extLst xmlns:a="http://schemas.openxmlformats.org/drawingml/2006/main">
              <a:ext uri="{FF2B5EF4-FFF2-40B4-BE49-F238E27FC236}">
                <a16:creationId xmlns:a16="http://schemas.microsoft.com/office/drawing/2014/main" id="{6E53984D-D52D-4B32-80E1-D1E1A2019FE9}"/>
              </a:ext>
            </a:extLst>
          </p:cNvPr>
          <p:cNvSpPr>
            <a:spLocks xmlns:a="http://schemas.openxmlformats.org/drawingml/2006/main" noGrp="1"/>
          </p:cNvSpPr>
          <p:nvPr/>
        </p:nvSpPr>
        <p:spPr>
          <a:xfrm xmlns:a="http://schemas.openxmlformats.org/drawingml/2006/main">
            <a:off x="781050" y="38576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uses: actions/setup-dotnet@v4</a:t>
            </a:r>
          </a:p>
        </p:txBody>
      </p:sp>
      <p:sp>
        <p:nvSpPr>
          <p:cNvPr id="11" name="Code line 7">
            <a:extLst xmlns:a="http://schemas.openxmlformats.org/drawingml/2006/main">
              <a:ext uri="{FF2B5EF4-FFF2-40B4-BE49-F238E27FC236}">
                <a16:creationId xmlns:a16="http://schemas.microsoft.com/office/drawing/2014/main" id="{AFA50641-F8DB-4B1E-B7A0-96815CDE06FA}"/>
              </a:ext>
            </a:extLst>
          </p:cNvPr>
          <p:cNvSpPr>
            <a:spLocks xmlns:a="http://schemas.openxmlformats.org/drawingml/2006/main" noGrp="1"/>
          </p:cNvSpPr>
          <p:nvPr/>
        </p:nvSpPr>
        <p:spPr>
          <a:xfrm xmlns:a="http://schemas.openxmlformats.org/drawingml/2006/main">
            <a:off x="781050" y="41148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with:</a:t>
            </a:r>
          </a:p>
        </p:txBody>
      </p:sp>
      <p:sp>
        <p:nvSpPr>
          <p:cNvPr id="12" name="Code line 8">
            <a:extLst xmlns:a="http://schemas.openxmlformats.org/drawingml/2006/main">
              <a:ext uri="{FF2B5EF4-FFF2-40B4-BE49-F238E27FC236}">
                <a16:creationId xmlns:a16="http://schemas.microsoft.com/office/drawing/2014/main" id="{9034B69E-4ABC-4731-9184-B6B1135C5476}"/>
              </a:ext>
            </a:extLst>
          </p:cNvPr>
          <p:cNvSpPr>
            <a:spLocks xmlns:a="http://schemas.openxmlformats.org/drawingml/2006/main" noGrp="1"/>
          </p:cNvSpPr>
          <p:nvPr/>
        </p:nvSpPr>
        <p:spPr>
          <a:xfrm xmlns:a="http://schemas.openxmlformats.org/drawingml/2006/main">
            <a:off x="781050" y="437197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dotnet-version: '10.0.x'</a:t>
            </a:r>
          </a:p>
        </p:txBody>
      </p:sp>
      <p:sp>
        <p:nvSpPr>
          <p:cNvPr id="13" name="Code line 9">
            <a:extLst xmlns:a="http://schemas.openxmlformats.org/drawingml/2006/main">
              <a:ext uri="{FF2B5EF4-FFF2-40B4-BE49-F238E27FC236}">
                <a16:creationId xmlns:a16="http://schemas.microsoft.com/office/drawing/2014/main" id="{6D2E0B7A-6E32-4F40-9901-463C62D92542}"/>
              </a:ext>
            </a:extLst>
          </p:cNvPr>
          <p:cNvSpPr>
            <a:spLocks xmlns:a="http://schemas.openxmlformats.org/drawingml/2006/main" noGrp="1"/>
          </p:cNvSpPr>
          <p:nvPr/>
        </p:nvSpPr>
        <p:spPr>
          <a:xfrm xmlns:a="http://schemas.openxmlformats.org/drawingml/2006/main">
            <a:off x="781050" y="462915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run: dotnet tool restore</a:t>
            </a:r>
          </a:p>
        </p:txBody>
      </p:sp>
      <p:sp>
        <p:nvSpPr>
          <p:cNvPr id="14" name="Code line 10">
            <a:extLst xmlns:a="http://schemas.openxmlformats.org/drawingml/2006/main">
              <a:ext uri="{FF2B5EF4-FFF2-40B4-BE49-F238E27FC236}">
                <a16:creationId xmlns:a16="http://schemas.microsoft.com/office/drawing/2014/main" id="{E79DB0EB-B2B4-4617-9469-DC11F352E361}"/>
              </a:ext>
            </a:extLst>
          </p:cNvPr>
          <p:cNvSpPr>
            <a:spLocks xmlns:a="http://schemas.openxmlformats.org/drawingml/2006/main" noGrp="1"/>
          </p:cNvSpPr>
          <p:nvPr/>
        </p:nvSpPr>
        <p:spPr>
          <a:xfrm xmlns:a="http://schemas.openxmlformats.org/drawingml/2006/main">
            <a:off x="781050" y="4886325"/>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run: dotnet restore AulaPedidos.slnx --locked-mode</a:t>
            </a:r>
          </a:p>
        </p:txBody>
      </p:sp>
      <p:sp>
        <p:nvSpPr>
          <p:cNvPr id="15" name="Code line 11">
            <a:extLst xmlns:a="http://schemas.openxmlformats.org/drawingml/2006/main">
              <a:ext uri="{FF2B5EF4-FFF2-40B4-BE49-F238E27FC236}">
                <a16:creationId xmlns:a16="http://schemas.microsoft.com/office/drawing/2014/main" id="{D1406934-7AE4-4BB9-ABD3-F8213F286C5F}"/>
              </a:ext>
            </a:extLst>
          </p:cNvPr>
          <p:cNvSpPr>
            <a:spLocks xmlns:a="http://schemas.openxmlformats.org/drawingml/2006/main" noGrp="1"/>
          </p:cNvSpPr>
          <p:nvPr/>
        </p:nvSpPr>
        <p:spPr>
          <a:xfrm xmlns:a="http://schemas.openxmlformats.org/drawingml/2006/main">
            <a:off x="781050" y="5143500"/>
            <a:ext cx="10629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Consolas"/>
                <a:ea typeface="Consolas"/>
                <a:cs typeface="Consolas"/>
              </a:defRPr>
            </a:defPPr>
          </a:lstStyle>
          <a:p xmlns:a="http://schemas.openxmlformats.org/drawingml/2006/main">
            <a:pPr algn="l">
              <a:buNone/>
              <a:defRPr sz="1875" b="0">
                <a:solidFill>
                  <a:srgbClr val="FFFFFF"/>
                </a:solidFill>
                <a:latin typeface="Consolas"/>
                <a:ea typeface="Consolas"/>
                <a:cs typeface="Consolas"/>
              </a:defRPr>
            </a:pPr>
            <a:r>
              <a:rPr sz="1875" b="0">
                <a:solidFill>
                  <a:srgbClr val="FFFFFF"/>
                </a:solidFill>
                <a:latin typeface="Consolas"/>
                <a:ea typeface="Consolas"/>
                <a:cs typeface="Consolas"/>
              </a:rPr>
              <a:t>      - run: dotnet build AulaPedidos.slnx -c Release --no-restore</a:t>
            </a:r>
          </a:p>
        </p:txBody>
      </p:sp>
      <p:sp>
        <p:nvSpPr>
          <p:cNvPr id="16" name="Analysis 1">
            <a:extLst xmlns:a="http://schemas.openxmlformats.org/drawingml/2006/main">
              <a:ext uri="{FF2B5EF4-FFF2-40B4-BE49-F238E27FC236}">
                <a16:creationId xmlns:a16="http://schemas.microsoft.com/office/drawing/2014/main" id="{6DB5A811-DA20-455A-B5F2-B15659147E87}"/>
              </a:ext>
            </a:extLst>
          </p:cNvPr>
          <p:cNvSpPr>
            <a:spLocks xmlns:a="http://schemas.openxmlformats.org/drawingml/2006/main" noGrp="1"/>
          </p:cNvSpPr>
          <p:nvPr/>
        </p:nvSpPr>
        <p:spPr>
          <a:xfrm xmlns:a="http://schemas.openxmlformats.org/drawingml/2006/main">
            <a:off x="762000" y="5581650"/>
            <a:ext cx="5191125" cy="1127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Dependencias y controles.</a:t>
            </a:r>
            <a:r>
              <a:rPr sz="1725" b="0">
                <a:solidFill>
                  <a:srgbClr val="D0D8E6"/>
                </a:solidFill>
                <a:latin typeface="Arial"/>
                <a:ea typeface="Arial"/>
                <a:cs typeface="Arial"/>
              </a:rPr>
              <a:t> --locked-mode exige las</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dependencias bloqueadas. El workflow continúa con</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pruebas, cobertura, migraciones y un job de</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contenedores.</a:t>
            </a:r>
          </a:p>
        </p:txBody>
      </p:sp>
      <p:sp>
        <p:nvSpPr>
          <p:cNvPr id="17" name="Analysis 2">
            <a:extLst xmlns:a="http://schemas.openxmlformats.org/drawingml/2006/main">
              <a:ext uri="{FF2B5EF4-FFF2-40B4-BE49-F238E27FC236}">
                <a16:creationId xmlns:a16="http://schemas.microsoft.com/office/drawing/2014/main" id="{52823831-CAA5-46BD-940D-67CC2920126F}"/>
              </a:ext>
            </a:extLst>
          </p:cNvPr>
          <p:cNvSpPr>
            <a:spLocks xmlns:a="http://schemas.openxmlformats.org/drawingml/2006/main" noGrp="1"/>
          </p:cNvSpPr>
          <p:nvPr/>
        </p:nvSpPr>
        <p:spPr>
          <a:xfrm xmlns:a="http://schemas.openxmlformats.org/drawingml/2006/main">
            <a:off x="6238875" y="5581650"/>
            <a:ext cx="5191125" cy="864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D0D8E6"/>
                </a:solidFill>
                <a:latin typeface="Arial"/>
                <a:ea typeface="Arial"/>
                <a:cs typeface="Arial"/>
              </a:defRPr>
            </a:defPPr>
          </a:lstStyle>
          <a:p xmlns:a="http://schemas.openxmlformats.org/drawingml/2006/main">
            <a:pPr algn="l">
              <a:buNone/>
              <a:defRPr sz="1725" b="0">
                <a:solidFill>
                  <a:srgbClr val="D0D8E6"/>
                </a:solidFill>
                <a:latin typeface="Arial"/>
                <a:ea typeface="Arial"/>
                <a:cs typeface="Arial"/>
              </a:defRPr>
            </a:pPr>
            <a:r>
              <a:rPr sz="1725" b="1">
                <a:solidFill>
                  <a:srgbClr val="A7E2D7"/>
                </a:solidFill>
                <a:latin typeface="Arial"/>
                <a:ea typeface="Arial"/>
                <a:cs typeface="Arial"/>
              </a:rPr>
              <a:t>Resultado verificable.</a:t>
            </a:r>
            <a:r>
              <a:rPr sz="1725" b="0">
                <a:solidFill>
                  <a:srgbClr val="D0D8E6"/>
                </a:solidFill>
                <a:latin typeface="Arial"/>
                <a:ea typeface="Arial"/>
                <a:cs typeface="Arial"/>
              </a:rPr>
              <a:t> Un job bloqueado, omitido o</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sin ejecutar no prueba éxito. Revisar commit,</a:t>
            </a:r>
          </a:p>
          <a:p xmlns:a="http://schemas.openxmlformats.org/drawingml/2006/main">
            <a:pPr algn="l">
              <a:buNone/>
              <a:defRPr sz="1725" b="0">
                <a:solidFill>
                  <a:srgbClr val="D0D8E6"/>
                </a:solidFill>
                <a:latin typeface="Arial"/>
                <a:ea typeface="Arial"/>
                <a:cs typeface="Arial"/>
              </a:defRPr>
            </a:pPr>
            <a:r>
              <a:rPr sz="1725" b="0">
                <a:solidFill>
                  <a:srgbClr val="D0D8E6"/>
                </a:solidFill>
                <a:latin typeface="Arial"/>
                <a:ea typeface="Arial"/>
                <a:cs typeface="Arial"/>
              </a:rPr>
              <a:t>resultado y artefactos de una ejecución concreta.</a:t>
            </a:r>
          </a:p>
        </p:txBody>
      </p:sp>
    </p:spTree>
    <p:extLst>
      <p:ext uri="{BB962C8B-B14F-4D97-AF65-F5344CB8AC3E}">
        <p14:creationId xmlns:p14="http://schemas.microsoft.com/office/powerpoint/2010/main" val="1853950985"/>
      </p:ext>
    </p:extLst>
  </p:cSld>
</p:sld>
</file>

<file path=ppt/slides/slide63.xml><?xml version="1.0" encoding="utf-8"?>
<p:sld xmlns:p="http://schemas.openxmlformats.org/presentationml/2006/main">
  <p:cSld>
    <p:bg>
      <p:bgPr>
        <a:solidFill xmlns:a="http://schemas.openxmlformats.org/drawingml/2006/main">
          <a:srgbClr val="F6F4F0"/>
        </a:solidFill>
      </p:bgPr>
    </p:bg>
    <p:spTree>
      <p:nvGrpSpPr>
        <p:cNvPr id="1" name=""/>
        <p:cNvGrpSpPr/>
        <p:nvPr/>
      </p:nvGrpSpPr>
      <p:grpSpPr>
        <a:xfrm xmlns:a="http://schemas.openxmlformats.org/drawingml/2006/main"/>
      </p:grpSpPr>
      <p:sp>
        <p:nvSpPr>
          <p:cNvPr id="10" name="Deep module">
            <a:extLst xmlns:a="http://schemas.openxmlformats.org/drawingml/2006/main">
              <a:ext uri="{FF2B5EF4-FFF2-40B4-BE49-F238E27FC236}">
                <a16:creationId xmlns:a16="http://schemas.microsoft.com/office/drawing/2014/main" id="{4559CB1F-477E-4E9C-BDF6-211154A420E0}"/>
              </a:ext>
            </a:extLst>
          </p:cNvPr>
          <p:cNvSpPr>
            <a:spLocks xmlns:a="http://schemas.openxmlformats.org/drawingml/2006/main" noGrp="1"/>
          </p:cNvSpPr>
          <p:nvPr/>
        </p:nvSpPr>
        <p:spPr>
          <a:xfrm xmlns:a="http://schemas.openxmlformats.org/drawingml/2006/main">
            <a:off x="762000" y="3619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6044B6"/>
                </a:solidFill>
                <a:latin typeface="Arial"/>
                <a:ea typeface="Arial"/>
                <a:cs typeface="Arial"/>
              </a:defRPr>
            </a:defPPr>
          </a:lstStyle>
          <a:p xmlns:a="http://schemas.openxmlformats.org/drawingml/2006/main">
            <a:pPr algn="l">
              <a:buNone/>
              <a:defRPr sz="1725" b="1">
                <a:solidFill>
                  <a:srgbClr val="6044B6"/>
                </a:solidFill>
                <a:latin typeface="Arial"/>
                <a:ea typeface="Arial"/>
                <a:cs typeface="Arial"/>
              </a:defRPr>
            </a:pPr>
            <a:r>
              <a:rPr sz="1725" b="1">
                <a:solidFill>
                  <a:srgbClr val="6044B6"/>
                </a:solidFill>
                <a:latin typeface="Arial"/>
                <a:ea typeface="Arial"/>
                <a:cs typeface="Arial"/>
              </a:rPr>
              <a:t>MÓDULO 10</a:t>
            </a:r>
          </a:p>
        </p:txBody>
      </p:sp>
      <p:sp>
        <p:nvSpPr>
          <p:cNvPr id="2" name="Deep title">
            <a:extLst xmlns:a="http://schemas.openxmlformats.org/drawingml/2006/main">
              <a:ext uri="{FF2B5EF4-FFF2-40B4-BE49-F238E27FC236}">
                <a16:creationId xmlns:a16="http://schemas.microsoft.com/office/drawing/2014/main" id="{D3FB3D44-8BE8-4CF4-8584-0A99449849F6}"/>
              </a:ext>
            </a:extLst>
          </p:cNvPr>
          <p:cNvSpPr>
            <a:spLocks xmlns:a="http://schemas.openxmlformats.org/drawingml/2006/main" noGrp="1"/>
          </p:cNvSpPr>
          <p:nvPr/>
        </p:nvSpPr>
        <p:spPr>
          <a:xfrm xmlns:a="http://schemas.openxmlformats.org/drawingml/2006/main">
            <a:off x="762000" y="7905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172137"/>
                </a:solidFill>
                <a:latin typeface="Arial"/>
                <a:ea typeface="Arial"/>
                <a:cs typeface="Arial"/>
              </a:defRPr>
            </a:defPPr>
          </a:lstStyle>
          <a:p xmlns:a="http://schemas.openxmlformats.org/drawingml/2006/main">
            <a:pPr algn="l">
              <a:buNone/>
              <a:defRPr sz="3300" b="1">
                <a:solidFill>
                  <a:srgbClr val="172137"/>
                </a:solidFill>
                <a:latin typeface="Arial"/>
                <a:ea typeface="Arial"/>
                <a:cs typeface="Arial"/>
              </a:defRPr>
            </a:pPr>
            <a:r>
              <a:rPr sz="3300" b="1">
                <a:solidFill>
                  <a:srgbClr val="172137"/>
                </a:solidFill>
                <a:latin typeface="Arial"/>
                <a:ea typeface="Arial"/>
                <a:cs typeface="Arial"/>
              </a:rPr>
              <a:t>La decisión incluye límites y recuperación</a:t>
            </a:r>
          </a:p>
        </p:txBody>
      </p:sp>
      <p:sp>
        <p:nvSpPr>
          <p:cNvPr id="3" name="Deep lead">
            <a:extLst xmlns:a="http://schemas.openxmlformats.org/drawingml/2006/main">
              <a:ext uri="{FF2B5EF4-FFF2-40B4-BE49-F238E27FC236}">
                <a16:creationId xmlns:a16="http://schemas.microsoft.com/office/drawing/2014/main" id="{984BB963-94D4-4BFE-9F1D-3CA278845AB7}"/>
              </a:ext>
            </a:extLst>
          </p:cNvPr>
          <p:cNvSpPr>
            <a:spLocks xmlns:a="http://schemas.openxmlformats.org/drawingml/2006/main" noGrp="1"/>
          </p:cNvSpPr>
          <p:nvPr/>
        </p:nvSpPr>
        <p:spPr>
          <a:xfrm xmlns:a="http://schemas.openxmlformats.org/drawingml/2006/main">
            <a:off x="781050" y="1457325"/>
            <a:ext cx="1062990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45516A"/>
                </a:solidFill>
                <a:latin typeface="Arial"/>
                <a:ea typeface="Arial"/>
                <a:cs typeface="Arial"/>
              </a:defRPr>
            </a:defPPr>
          </a:lstStyle>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Entregar implica explicar por qué elegimos una solución, qué condiciones la sostienen y</a:t>
            </a:r>
          </a:p>
          <a:p xmlns:a="http://schemas.openxmlformats.org/drawingml/2006/main">
            <a:pPr algn="l">
              <a:buNone/>
              <a:defRPr sz="2025" b="0">
                <a:solidFill>
                  <a:srgbClr val="45516A"/>
                </a:solidFill>
                <a:latin typeface="Arial"/>
                <a:ea typeface="Arial"/>
                <a:cs typeface="Arial"/>
              </a:defRPr>
            </a:pPr>
            <a:r>
              <a:rPr sz="2025" b="0">
                <a:solidFill>
                  <a:srgbClr val="45516A"/>
                </a:solidFill>
                <a:latin typeface="Arial"/>
                <a:ea typeface="Arial"/>
                <a:cs typeface="Arial"/>
              </a:rPr>
              <a:t>cómo recuperaremos el servicio si una liberación falla.</a:t>
            </a:r>
          </a:p>
        </p:txBody>
      </p:sp>
      <p:sp>
        <p:nvSpPr>
          <p:cNvPr id="4" name="Explanation heading 1">
            <a:extLst xmlns:a="http://schemas.openxmlformats.org/drawingml/2006/main">
              <a:ext uri="{FF2B5EF4-FFF2-40B4-BE49-F238E27FC236}">
                <a16:creationId xmlns:a16="http://schemas.microsoft.com/office/drawing/2014/main" id="{8E54967E-23A1-4784-84AD-49040AA6CE9E}"/>
              </a:ext>
            </a:extLst>
          </p:cNvPr>
          <p:cNvSpPr>
            <a:spLocks xmlns:a="http://schemas.openxmlformats.org/drawingml/2006/main" noGrp="1"/>
          </p:cNvSpPr>
          <p:nvPr/>
        </p:nvSpPr>
        <p:spPr>
          <a:xfrm xmlns:a="http://schemas.openxmlformats.org/drawingml/2006/main">
            <a:off x="781050" y="26574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ADR con una consecuencia real</a:t>
            </a:r>
          </a:p>
        </p:txBody>
      </p:sp>
      <p:sp>
        <p:nvSpPr>
          <p:cNvPr id="5" name="Explanation body 1">
            <a:extLst xmlns:a="http://schemas.openxmlformats.org/drawingml/2006/main">
              <a:ext uri="{FF2B5EF4-FFF2-40B4-BE49-F238E27FC236}">
                <a16:creationId xmlns:a16="http://schemas.microsoft.com/office/drawing/2014/main" id="{006B03B0-AFAF-42A8-8C2D-D89E0B0B6AFC}"/>
              </a:ext>
            </a:extLst>
          </p:cNvPr>
          <p:cNvSpPr>
            <a:spLocks xmlns:a="http://schemas.openxmlformats.org/drawingml/2006/main" noGrp="1"/>
          </p:cNvSpPr>
          <p:nvPr/>
        </p:nvSpPr>
        <p:spPr>
          <a:xfrm xmlns:a="http://schemas.openxmlformats.org/drawingml/2006/main">
            <a:off x="781050" y="306705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ADR 002 elige Outbox para conservar intención. Acepta entrega repetida, deduplicación y</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una instancia; varias réplicas requieren otra decisión.</a:t>
            </a:r>
          </a:p>
        </p:txBody>
      </p:sp>
      <p:sp>
        <p:nvSpPr>
          <p:cNvPr id="6" name="Explanation heading 2">
            <a:extLst xmlns:a="http://schemas.openxmlformats.org/drawingml/2006/main">
              <a:ext uri="{FF2B5EF4-FFF2-40B4-BE49-F238E27FC236}">
                <a16:creationId xmlns:a16="http://schemas.microsoft.com/office/drawing/2014/main" id="{6714B8ED-DA08-404D-B55E-5AD60B80008A}"/>
              </a:ext>
            </a:extLst>
          </p:cNvPr>
          <p:cNvSpPr>
            <a:spLocks xmlns:a="http://schemas.openxmlformats.org/drawingml/2006/main" noGrp="1"/>
          </p:cNvSpPr>
          <p:nvPr/>
        </p:nvSpPr>
        <p:spPr>
          <a:xfrm xmlns:a="http://schemas.openxmlformats.org/drawingml/2006/main">
            <a:off x="781050" y="39624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Criterios antes de liberar</a:t>
            </a:r>
          </a:p>
        </p:txBody>
      </p:sp>
      <p:sp>
        <p:nvSpPr>
          <p:cNvPr id="7" name="Explanation body 2">
            <a:extLst xmlns:a="http://schemas.openxmlformats.org/drawingml/2006/main">
              <a:ext uri="{FF2B5EF4-FFF2-40B4-BE49-F238E27FC236}">
                <a16:creationId xmlns:a16="http://schemas.microsoft.com/office/drawing/2014/main" id="{26D9F4DA-E231-48AE-B7C2-E418ADE085DB}"/>
              </a:ext>
            </a:extLst>
          </p:cNvPr>
          <p:cNvSpPr>
            <a:spLocks xmlns:a="http://schemas.openxmlformats.org/drawingml/2006/main" noGrp="1"/>
          </p:cNvSpPr>
          <p:nvPr/>
        </p:nvSpPr>
        <p:spPr>
          <a:xfrm xmlns:a="http://schemas.openxmlformats.org/drawingml/2006/main">
            <a:off x="781050" y="4371975"/>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Acordar identidad real, secretos, respaldo restaurable, migración revisada y umbrales de</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errores y latencia. Cada pendiente necesita responsable y evidencia de cierre.</a:t>
            </a:r>
          </a:p>
        </p:txBody>
      </p:sp>
      <p:sp>
        <p:nvSpPr>
          <p:cNvPr id="8" name="Explanation heading 3">
            <a:extLst xmlns:a="http://schemas.openxmlformats.org/drawingml/2006/main">
              <a:ext uri="{FF2B5EF4-FFF2-40B4-BE49-F238E27FC236}">
                <a16:creationId xmlns:a16="http://schemas.microsoft.com/office/drawing/2014/main" id="{6D1A7871-0E72-45A8-AC1A-6C9D50DA8DB7}"/>
              </a:ext>
            </a:extLst>
          </p:cNvPr>
          <p:cNvSpPr>
            <a:spLocks xmlns:a="http://schemas.openxmlformats.org/drawingml/2006/main" noGrp="1"/>
          </p:cNvSpPr>
          <p:nvPr/>
        </p:nvSpPr>
        <p:spPr>
          <a:xfrm xmlns:a="http://schemas.openxmlformats.org/drawingml/2006/main">
            <a:off x="781050" y="52673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6044B6"/>
                </a:solidFill>
                <a:latin typeface="Arial"/>
                <a:ea typeface="Arial"/>
                <a:cs typeface="Arial"/>
              </a:defRPr>
            </a:defPPr>
          </a:lstStyle>
          <a:p xmlns:a="http://schemas.openxmlformats.org/drawingml/2006/main">
            <a:pPr algn="l">
              <a:buNone/>
              <a:defRPr sz="2250" b="1">
                <a:solidFill>
                  <a:srgbClr val="6044B6"/>
                </a:solidFill>
                <a:latin typeface="Arial"/>
                <a:ea typeface="Arial"/>
                <a:cs typeface="Arial"/>
              </a:defRPr>
            </a:pPr>
            <a:r>
              <a:rPr sz="2250" b="1">
                <a:solidFill>
                  <a:srgbClr val="6044B6"/>
                </a:solidFill>
                <a:latin typeface="Arial"/>
                <a:ea typeface="Arial"/>
                <a:cs typeface="Arial"/>
              </a:rPr>
              <a:t>Recuperación compatible</a:t>
            </a:r>
          </a:p>
        </p:txBody>
      </p:sp>
      <p:sp>
        <p:nvSpPr>
          <p:cNvPr id="9" name="Explanation body 3">
            <a:extLst xmlns:a="http://schemas.openxmlformats.org/drawingml/2006/main">
              <a:ext uri="{FF2B5EF4-FFF2-40B4-BE49-F238E27FC236}">
                <a16:creationId xmlns:a16="http://schemas.microsoft.com/office/drawing/2014/main" id="{9B55110C-394F-473A-A1A2-6F3228B0574F}"/>
              </a:ext>
            </a:extLst>
          </p:cNvPr>
          <p:cNvSpPr>
            <a:spLocks xmlns:a="http://schemas.openxmlformats.org/drawingml/2006/main" noGrp="1"/>
          </p:cNvSpPr>
          <p:nvPr/>
        </p:nvSpPr>
        <p:spPr>
          <a:xfrm xmlns:a="http://schemas.openxmlformats.org/drawingml/2006/main">
            <a:off x="781050" y="5676900"/>
            <a:ext cx="10629900" cy="716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137"/>
                </a:solidFill>
                <a:latin typeface="Arial"/>
                <a:ea typeface="Arial"/>
                <a:cs typeface="Arial"/>
              </a:defRPr>
            </a:defPPr>
          </a:lstStyle>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Volver a una imagen anterior sólo funciona si sigue siendo compatible con el esquema.</a:t>
            </a:r>
          </a:p>
          <a:p xmlns:a="http://schemas.openxmlformats.org/drawingml/2006/main">
            <a:pPr algn="l">
              <a:buNone/>
              <a:defRPr sz="2100" b="0">
                <a:solidFill>
                  <a:srgbClr val="172137"/>
                </a:solidFill>
                <a:latin typeface="Arial"/>
                <a:ea typeface="Arial"/>
                <a:cs typeface="Arial"/>
              </a:defRPr>
            </a:pPr>
            <a:r>
              <a:rPr sz="2100" b="0">
                <a:solidFill>
                  <a:srgbClr val="172137"/>
                </a:solidFill>
                <a:latin typeface="Arial"/>
                <a:ea typeface="Arial"/>
                <a:cs typeface="Arial"/>
              </a:rPr>
              <a:t>Recuperar datos es una operación distinta y debe ensayarse.</a:t>
            </a:r>
          </a:p>
        </p:txBody>
      </p:sp>
    </p:spTree>
    <p:extLst>
      <p:ext uri="{BB962C8B-B14F-4D97-AF65-F5344CB8AC3E}">
        <p14:creationId xmlns:p14="http://schemas.microsoft.com/office/powerpoint/2010/main" val="1758343547"/>
      </p:ext>
    </p:extLst>
  </p:cSld>
</p:sld>
</file>

<file path=ppt/slides/slide64.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04247C4-556F-4CCE-B897-2B10C08B1216}"/>
              </a:ext>
            </a:extLst>
          </p:cNvPr>
          <p:cNvPicPr>
            <a:picLocks xmlns:a="http://schemas.openxmlformats.org/drawingml/2006/main" noChangeAspect="1"/>
          </p:cNvPicPr>
          <p:nvPr/>
        </p:nvPicPr>
        <p:blipFill>
          <a:blip xmlns:r="http://schemas.openxmlformats.org/officeDocument/2006/relationships" xmlns:a="http://schemas.openxmlformats.org/drawingml/2006/main" r:embed="R25e07c54789f4a2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elivery title">
            <a:extLst xmlns:a="http://schemas.openxmlformats.org/drawingml/2006/main">
              <a:ext uri="{FF2B5EF4-FFF2-40B4-BE49-F238E27FC236}">
                <a16:creationId xmlns:a16="http://schemas.microsoft.com/office/drawing/2014/main" id="{C0F37B35-045C-4F90-AA5B-CB280D6CCF40}"/>
              </a:ext>
            </a:extLst>
          </p:cNvPr>
          <p:cNvSpPr>
            <a:spLocks xmlns:a="http://schemas.openxmlformats.org/drawingml/2006/main" noGrp="1"/>
          </p:cNvSpPr>
          <p:nvPr/>
        </p:nvSpPr>
        <p:spPr>
          <a:xfrm xmlns:a="http://schemas.openxmlformats.org/drawingml/2006/main">
            <a:off x="762000" y="952500"/>
            <a:ext cx="6905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875" b="1">
                <a:solidFill>
                  <a:srgbClr val="FFFFFF"/>
                </a:solidFill>
                <a:latin typeface="Arial"/>
                <a:ea typeface="Arial"/>
                <a:cs typeface="Arial"/>
              </a:defRPr>
            </a:pPr>
            <a:r>
              <a:rPr sz="4875" b="1">
                <a:solidFill>
                  <a:srgbClr val="FFFFFF"/>
                </a:solidFill>
                <a:latin typeface="Arial"/>
                <a:ea typeface="Arial"/>
                <a:cs typeface="Arial"/>
              </a:rPr>
              <a:t>Tu entrega final</a:t>
            </a:r>
          </a:p>
        </p:txBody>
      </p:sp>
      <p:sp>
        <p:nvSpPr>
          <p:cNvPr id="3" name="Delivery application">
            <a:extLst xmlns:a="http://schemas.openxmlformats.org/drawingml/2006/main">
              <a:ext uri="{FF2B5EF4-FFF2-40B4-BE49-F238E27FC236}">
                <a16:creationId xmlns:a16="http://schemas.microsoft.com/office/drawing/2014/main" id="{AC0F568E-6545-452D-A225-856D3F650881}"/>
              </a:ext>
            </a:extLst>
          </p:cNvPr>
          <p:cNvSpPr>
            <a:spLocks xmlns:a="http://schemas.openxmlformats.org/drawingml/2006/main" noGrp="1"/>
          </p:cNvSpPr>
          <p:nvPr/>
        </p:nvSpPr>
        <p:spPr>
          <a:xfrm xmlns:a="http://schemas.openxmlformats.org/drawingml/2006/main">
            <a:off x="800100" y="2647950"/>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FFFFFF"/>
                </a:solidFill>
                <a:latin typeface="Arial"/>
                <a:ea typeface="Arial"/>
                <a:cs typeface="Arial"/>
              </a:defRPr>
            </a:pPr>
            <a:r>
              <a:rPr sz="2700" b="0">
                <a:solidFill>
                  <a:srgbClr val="FFFFFF"/>
                </a:solidFill>
                <a:latin typeface="Arial"/>
                <a:ea typeface="Arial"/>
                <a:cs typeface="Arial"/>
              </a:rPr>
              <a:t>Aplicación funcionando.</a:t>
            </a:r>
          </a:p>
        </p:txBody>
      </p:sp>
      <p:sp>
        <p:nvSpPr>
          <p:cNvPr id="4" name="Delivery evidence">
            <a:extLst xmlns:a="http://schemas.openxmlformats.org/drawingml/2006/main">
              <a:ext uri="{FF2B5EF4-FFF2-40B4-BE49-F238E27FC236}">
                <a16:creationId xmlns:a16="http://schemas.microsoft.com/office/drawing/2014/main" id="{017A3F5D-E514-41F9-A5C5-A66BDF95395C}"/>
              </a:ext>
            </a:extLst>
          </p:cNvPr>
          <p:cNvSpPr>
            <a:spLocks xmlns:a="http://schemas.openxmlformats.org/drawingml/2006/main" noGrp="1"/>
          </p:cNvSpPr>
          <p:nvPr/>
        </p:nvSpPr>
        <p:spPr>
          <a:xfrm xmlns:a="http://schemas.openxmlformats.org/drawingml/2006/main">
            <a:off x="800100" y="3457575"/>
            <a:ext cx="657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FFFFFF"/>
                </a:solidFill>
                <a:latin typeface="Arial"/>
                <a:ea typeface="Arial"/>
                <a:cs typeface="Arial"/>
              </a:defRPr>
            </a:pPr>
            <a:r>
              <a:rPr sz="2700" b="0">
                <a:solidFill>
                  <a:srgbClr val="FFFFFF"/>
                </a:solidFill>
                <a:latin typeface="Arial"/>
                <a:ea typeface="Arial"/>
                <a:cs typeface="Arial"/>
              </a:rPr>
              <a:t>Pruebas y documentación.</a:t>
            </a:r>
          </a:p>
        </p:txBody>
      </p:sp>
      <p:sp>
        <p:nvSpPr>
          <p:cNvPr id="5" name="Delivery understanding">
            <a:extLst xmlns:a="http://schemas.openxmlformats.org/drawingml/2006/main">
              <a:ext uri="{FF2B5EF4-FFF2-40B4-BE49-F238E27FC236}">
                <a16:creationId xmlns:a16="http://schemas.microsoft.com/office/drawing/2014/main" id="{7FA8C5BE-FB39-4E9F-A78C-5963A145233D}"/>
              </a:ext>
            </a:extLst>
          </p:cNvPr>
          <p:cNvSpPr>
            <a:spLocks xmlns:a="http://schemas.openxmlformats.org/drawingml/2006/main" noGrp="1"/>
          </p:cNvSpPr>
          <p:nvPr/>
        </p:nvSpPr>
        <p:spPr>
          <a:xfrm xmlns:a="http://schemas.openxmlformats.org/drawingml/2006/main">
            <a:off x="800100" y="4267200"/>
            <a:ext cx="685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0">
                <a:solidFill>
                  <a:srgbClr val="FFFFFF"/>
                </a:solidFill>
                <a:latin typeface="Arial"/>
                <a:ea typeface="Arial"/>
                <a:cs typeface="Arial"/>
              </a:defRPr>
            </a:pPr>
            <a:r>
              <a:rPr sz="2700" b="0">
                <a:solidFill>
                  <a:srgbClr val="FFFFFF"/>
                </a:solidFill>
                <a:latin typeface="Arial"/>
                <a:ea typeface="Arial"/>
                <a:cs typeface="Arial"/>
              </a:rPr>
              <a:t>Decisiones que puedes explicar.</a:t>
            </a:r>
          </a:p>
        </p:txBody>
      </p:sp>
      <p:sp>
        <p:nvSpPr>
          <p:cNvPr id="6" name="Course repository">
            <a:extLst xmlns:a="http://schemas.openxmlformats.org/drawingml/2006/main">
              <a:ext uri="{FF2B5EF4-FFF2-40B4-BE49-F238E27FC236}">
                <a16:creationId xmlns:a16="http://schemas.microsoft.com/office/drawing/2014/main" id="{2F8774B0-8396-446E-AF31-1F4BE8242D47}"/>
              </a:ext>
            </a:extLst>
          </p:cNvPr>
          <p:cNvSpPr>
            <a:spLocks xmlns:a="http://schemas.openxmlformats.org/drawingml/2006/main" noGrp="1"/>
          </p:cNvSpPr>
          <p:nvPr/>
        </p:nvSpPr>
        <p:spPr>
          <a:xfrm xmlns:a="http://schemas.openxmlformats.org/drawingml/2006/main">
            <a:off x="800100" y="5848350"/>
            <a:ext cx="681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A7E2D7"/>
                </a:solidFill>
                <a:latin typeface="Arial"/>
                <a:ea typeface="Arial"/>
                <a:cs typeface="Arial"/>
              </a:defRPr>
            </a:pPr>
            <a:r>
              <a:rPr sz="2100" b="0">
                <a:solidFill>
                  <a:srgbClr val="A7E2D7"/>
                </a:solidFill>
                <a:latin typeface="Arial"/>
                <a:ea typeface="Arial"/>
                <a:cs typeface="Arial"/>
                <a:hlinkClick xmlns:r="http://schemas.openxmlformats.org/officeDocument/2006/relationships" r:id="Rd7d81cc3b5a6466e"/>
              </a:rPr>
              <a:t>github.com/ychavez/CursoNETIA</a:t>
            </a:r>
          </a:p>
        </p:txBody>
      </p:sp>
    </p:spTree>
    <p:extLst>
      <p:ext uri="{BB962C8B-B14F-4D97-AF65-F5344CB8AC3E}">
        <p14:creationId xmlns:p14="http://schemas.microsoft.com/office/powerpoint/2010/main" val="14348117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2026-10-02T01:44:30.1030000Z</dcterms:created>
  <dcterms:modified xsi:type="dcterms:W3CDTF">2026-10-02T01:44:30.1030000Z</dcterms:modified>
</coreProperties>
</file>
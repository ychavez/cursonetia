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1229f6e3a114fe4" /><Relationship Type="http://schemas.openxmlformats.org/officeDocument/2006/relationships/extended-properties" Target="/docProps/app.xml" Id="Rb60c62cfb0ef4369" /><Relationship Type="http://schemas.openxmlformats.org/officeDocument/2006/relationships/officeDocument" Target="/ppt/presentation.xml" Id="R78082706d61f4e68" /></Relationships>
</file>

<file path=ppt/presentation.xml><?xml version="1.0" encoding="utf-8"?>
<p:presentation xmlns:p="http://schemas.openxmlformats.org/presentationml/2006/main">
  <p:sldMasterIdLst>
    <p:sldMasterId xmlns:r="http://schemas.openxmlformats.org/officeDocument/2006/relationships" id="2147483648" r:id="Ra98d7b5705274a51"/>
  </p:sldMasterIdLst>
  <p:notesMasterIdLst>
    <p:notesMasterId xmlns:r="http://schemas.openxmlformats.org/officeDocument/2006/relationships" r:id="R4a0ff3912799417e"/>
  </p:notesMasterIdLst>
  <p:sldIdLst>
    <p:sldId xmlns:r="http://schemas.openxmlformats.org/officeDocument/2006/relationships" id="256" r:id="R2d40abf7bc744805"/>
    <p:sldId xmlns:r="http://schemas.openxmlformats.org/officeDocument/2006/relationships" id="257" r:id="Rd807d35206754170"/>
    <p:sldId xmlns:r="http://schemas.openxmlformats.org/officeDocument/2006/relationships" id="258" r:id="R3e7925a32a974e1e"/>
    <p:sldId xmlns:r="http://schemas.openxmlformats.org/officeDocument/2006/relationships" id="259" r:id="R6d42c7341cb648da"/>
    <p:sldId xmlns:r="http://schemas.openxmlformats.org/officeDocument/2006/relationships" id="260" r:id="R8f46de366c1f465e"/>
    <p:sldId xmlns:r="http://schemas.openxmlformats.org/officeDocument/2006/relationships" id="261" r:id="R3d96b77eb71a4a81"/>
    <p:sldId xmlns:r="http://schemas.openxmlformats.org/officeDocument/2006/relationships" id="262" r:id="R085ba209d9c24f25"/>
    <p:sldId xmlns:r="http://schemas.openxmlformats.org/officeDocument/2006/relationships" id="263" r:id="R3ae81e9a11d54aa3"/>
    <p:sldId xmlns:r="http://schemas.openxmlformats.org/officeDocument/2006/relationships" id="264" r:id="R5379997639e3463d"/>
    <p:sldId xmlns:r="http://schemas.openxmlformats.org/officeDocument/2006/relationships" id="265" r:id="R6886977d00f64d9d"/>
    <p:sldId xmlns:r="http://schemas.openxmlformats.org/officeDocument/2006/relationships" id="266" r:id="R46356fa2866c46b8"/>
    <p:sldId xmlns:r="http://schemas.openxmlformats.org/officeDocument/2006/relationships" id="267" r:id="R2dcbb3e727d4441d"/>
    <p:sldId xmlns:r="http://schemas.openxmlformats.org/officeDocument/2006/relationships" id="268" r:id="R93ad29b21c554d60"/>
    <p:sldId xmlns:r="http://schemas.openxmlformats.org/officeDocument/2006/relationships" id="269" r:id="R1741469725354202"/>
    <p:sldId xmlns:r="http://schemas.openxmlformats.org/officeDocument/2006/relationships" id="270" r:id="Ra45a5342c4664949"/>
    <p:sldId xmlns:r="http://schemas.openxmlformats.org/officeDocument/2006/relationships" id="271" r:id="R8cdeed452c7a4b3e"/>
    <p:sldId xmlns:r="http://schemas.openxmlformats.org/officeDocument/2006/relationships" id="272" r:id="R8edf135aa10a4a3d"/>
    <p:sldId xmlns:r="http://schemas.openxmlformats.org/officeDocument/2006/relationships" id="273" r:id="R757b2d9d1ca048eb"/>
    <p:sldId xmlns:r="http://schemas.openxmlformats.org/officeDocument/2006/relationships" id="274" r:id="Rc584049ad0294af0"/>
    <p:sldId xmlns:r="http://schemas.openxmlformats.org/officeDocument/2006/relationships" id="275" r:id="Re55973c172a14205"/>
    <p:sldId xmlns:r="http://schemas.openxmlformats.org/officeDocument/2006/relationships" id="276" r:id="R8811588968284bae"/>
    <p:sldId xmlns:r="http://schemas.openxmlformats.org/officeDocument/2006/relationships" id="277" r:id="R2ffd8b1c916a4b18"/>
    <p:sldId xmlns:r="http://schemas.openxmlformats.org/officeDocument/2006/relationships" id="278" r:id="R7b7c8167dbed49d3"/>
    <p:sldId xmlns:r="http://schemas.openxmlformats.org/officeDocument/2006/relationships" id="279" r:id="Rc8f4741a5ac743b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9d2ae60798a4bbc" /><Relationship Type="http://schemas.openxmlformats.org/officeDocument/2006/relationships/slideMaster" Target="/ppt/slideMasters/slideMaster1.xml" Id="Ra98d7b5705274a51" /><Relationship Type="http://schemas.openxmlformats.org/officeDocument/2006/relationships/notesMaster" Target="/ppt/notesMasters/notesMaster1.xml" Id="R4a0ff3912799417e" /><Relationship Type="http://schemas.openxmlformats.org/officeDocument/2006/relationships/presProps" Target="/ppt/presProps.xml" Id="R71c8f1b690274fe0" /><Relationship Type="http://schemas.openxmlformats.org/officeDocument/2006/relationships/tableStyles" Target="/ppt/tableStyles.xml" Id="R78cd73ac1de043f0" /><Relationship Type="http://schemas.openxmlformats.org/officeDocument/2006/relationships/slide" Target="/ppt/slides/slide1.xml" Id="R2d40abf7bc744805" /><Relationship Type="http://schemas.openxmlformats.org/officeDocument/2006/relationships/slide" Target="/ppt/slides/slide2.xml" Id="Rd807d35206754170" /><Relationship Type="http://schemas.openxmlformats.org/officeDocument/2006/relationships/slide" Target="/ppt/slides/slide3.xml" Id="R3e7925a32a974e1e" /><Relationship Type="http://schemas.openxmlformats.org/officeDocument/2006/relationships/slide" Target="/ppt/slides/slide4.xml" Id="R6d42c7341cb648da" /><Relationship Type="http://schemas.openxmlformats.org/officeDocument/2006/relationships/slide" Target="/ppt/slides/slide5.xml" Id="R8f46de366c1f465e" /><Relationship Type="http://schemas.openxmlformats.org/officeDocument/2006/relationships/slide" Target="/ppt/slides/slide6.xml" Id="R3d96b77eb71a4a81" /><Relationship Type="http://schemas.openxmlformats.org/officeDocument/2006/relationships/slide" Target="/ppt/slides/slide7.xml" Id="R085ba209d9c24f25" /><Relationship Type="http://schemas.openxmlformats.org/officeDocument/2006/relationships/slide" Target="/ppt/slides/slide8.xml" Id="R3ae81e9a11d54aa3" /><Relationship Type="http://schemas.openxmlformats.org/officeDocument/2006/relationships/slide" Target="/ppt/slides/slide9.xml" Id="R5379997639e3463d" /><Relationship Type="http://schemas.openxmlformats.org/officeDocument/2006/relationships/slide" Target="/ppt/slides/slide10.xml" Id="R6886977d00f64d9d" /><Relationship Type="http://schemas.openxmlformats.org/officeDocument/2006/relationships/slide" Target="/ppt/slides/slide11.xml" Id="R46356fa2866c46b8" /><Relationship Type="http://schemas.openxmlformats.org/officeDocument/2006/relationships/slide" Target="/ppt/slides/slide12.xml" Id="R2dcbb3e727d4441d" /><Relationship Type="http://schemas.openxmlformats.org/officeDocument/2006/relationships/slide" Target="/ppt/slides/slide13.xml" Id="R93ad29b21c554d60" /><Relationship Type="http://schemas.openxmlformats.org/officeDocument/2006/relationships/slide" Target="/ppt/slides/slide14.xml" Id="R1741469725354202" /><Relationship Type="http://schemas.openxmlformats.org/officeDocument/2006/relationships/slide" Target="/ppt/slides/slide15.xml" Id="Ra45a5342c4664949" /><Relationship Type="http://schemas.openxmlformats.org/officeDocument/2006/relationships/slide" Target="/ppt/slides/slide16.xml" Id="R8cdeed452c7a4b3e" /><Relationship Type="http://schemas.openxmlformats.org/officeDocument/2006/relationships/slide" Target="/ppt/slides/slide17.xml" Id="R8edf135aa10a4a3d" /><Relationship Type="http://schemas.openxmlformats.org/officeDocument/2006/relationships/slide" Target="/ppt/slides/slide18.xml" Id="R757b2d9d1ca048eb" /><Relationship Type="http://schemas.openxmlformats.org/officeDocument/2006/relationships/slide" Target="/ppt/slides/slide19.xml" Id="Rc584049ad0294af0" /><Relationship Type="http://schemas.openxmlformats.org/officeDocument/2006/relationships/slide" Target="/ppt/slides/slide20.xml" Id="Re55973c172a14205" /><Relationship Type="http://schemas.openxmlformats.org/officeDocument/2006/relationships/slide" Target="/ppt/slides/slide21.xml" Id="R8811588968284bae" /><Relationship Type="http://schemas.openxmlformats.org/officeDocument/2006/relationships/slide" Target="/ppt/slides/slide22.xml" Id="R2ffd8b1c916a4b18" /><Relationship Type="http://schemas.openxmlformats.org/officeDocument/2006/relationships/slide" Target="/ppt/slides/slide23.xml" Id="R7b7c8167dbed49d3" /><Relationship Type="http://schemas.openxmlformats.org/officeDocument/2006/relationships/slide" Target="/ppt/slides/slide24.xml" Id="Rc8f4741a5ac743b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de047f819f4b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bdb9ad25aaf4426" /><Relationship Type="http://schemas.openxmlformats.org/officeDocument/2006/relationships/notesMaster" Target="/ppt/notesMasters/notesMaster1.xml" Id="R435cda432eeb44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c41f9d95474ffa" /><Relationship Type="http://schemas.openxmlformats.org/officeDocument/2006/relationships/notesMaster" Target="/ppt/notesMasters/notesMaster1.xml" Id="R71c612b28b364af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52781541324d2b" /><Relationship Type="http://schemas.openxmlformats.org/officeDocument/2006/relationships/notesMaster" Target="/ppt/notesMasters/notesMaster1.xml" Id="R44ea34d2e1e4474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5b7ce4ebf34e76" /><Relationship Type="http://schemas.openxmlformats.org/officeDocument/2006/relationships/notesMaster" Target="/ppt/notesMasters/notesMaster1.xml" Id="R1cb13382fed94c24"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a9de9f1cb24e0d" /><Relationship Type="http://schemas.openxmlformats.org/officeDocument/2006/relationships/notesMaster" Target="/ppt/notesMasters/notesMaster1.xml" Id="R44aa6a34500941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f32a0f4b7f43d3" /><Relationship Type="http://schemas.openxmlformats.org/officeDocument/2006/relationships/notesMaster" Target="/ppt/notesMasters/notesMaster1.xml" Id="R3ecff3885d1e45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f1ad6ab4e24958" /><Relationship Type="http://schemas.openxmlformats.org/officeDocument/2006/relationships/notesMaster" Target="/ppt/notesMasters/notesMaster1.xml" Id="R7a171e96f8014f6c" /></Relationships>
</file>

<file path=ppt/notesSlides/_rels/notesSlide8.xml.rels>&#65279;<?xml version="1.0" encoding="utf-8"?><Relationships xmlns="http://schemas.openxmlformats.org/package/2006/relationships"><Relationship Type="http://schemas.openxmlformats.org/officeDocument/2006/relationships/slide" Target="/ppt/slides/slide8.xml" Id="Rddf65bc98265412f" /><Relationship Type="http://schemas.openxmlformats.org/officeDocument/2006/relationships/notesMaster" Target="/ppt/notesMasters/notesMaster1.xml" Id="R9682d3ba97a94a4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fef6993a9d34956" /><Relationship Type="http://schemas.openxmlformats.org/officeDocument/2006/relationships/notesMaster" Target="/ppt/notesMasters/notesMaster1.xml" Id="R1cbd2787b53748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63b39fa50494084" /><Relationship Type="http://schemas.openxmlformats.org/officeDocument/2006/relationships/notesMaster" Target="/ppt/notesMasters/notesMaster1.xml" Id="R5a4988bf12a94c7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d763ef699a4c80" /><Relationship Type="http://schemas.openxmlformats.org/officeDocument/2006/relationships/notesMaster" Target="/ppt/notesMasters/notesMaster1.xml" Id="R5e13f6f769224e6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e7551cccbd6404c" /><Relationship Type="http://schemas.openxmlformats.org/officeDocument/2006/relationships/notesMaster" Target="/ppt/notesMasters/notesMaster1.xml" Id="Re25d3198b81f43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068289d840f4ad4" /><Relationship Type="http://schemas.openxmlformats.org/officeDocument/2006/relationships/notesMaster" Target="/ppt/notesMasters/notesMaster1.xml" Id="R27e3459527ca40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e922680b9c94faa" /><Relationship Type="http://schemas.openxmlformats.org/officeDocument/2006/relationships/notesMaster" Target="/ppt/notesMasters/notesMaster1.xml" Id="Re3edd6e11c8a474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35748a6c4049ad" /><Relationship Type="http://schemas.openxmlformats.org/officeDocument/2006/relationships/notesMaster" Target="/ppt/notesMasters/notesMaster1.xml" Id="Rbd27da6cbfe841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968aa51ed0647ce" /><Relationship Type="http://schemas.openxmlformats.org/officeDocument/2006/relationships/notesMaster" Target="/ppt/notesMasters/notesMaster1.xml" Id="R35a0a22ea63143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d7fd82ac6c495e" /><Relationship Type="http://schemas.openxmlformats.org/officeDocument/2006/relationships/notesMaster" Target="/ppt/notesMasters/notesMaster1.xml" Id="Rd6becdf88a3d4b7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bde11326f07464a" /><Relationship Type="http://schemas.openxmlformats.org/officeDocument/2006/relationships/notesMaster" Target="/ppt/notesMasters/notesMaster1.xml" Id="R50d225450379442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42490a87ff943d5" /><Relationship Type="http://schemas.openxmlformats.org/officeDocument/2006/relationships/notesMaster" Target="/ppt/notesMasters/notesMaster1.xml" Id="R55f261c73496488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de23bd902fa45a5" /><Relationship Type="http://schemas.openxmlformats.org/officeDocument/2006/relationships/notesMaster" Target="/ppt/notesMasters/notesMaster1.xml" Id="R1197d470e7494f2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ac3c5c07d444fa3" /><Relationship Type="http://schemas.openxmlformats.org/officeDocument/2006/relationships/notesMaster" Target="/ppt/notesMasters/notesMaster1.xml" Id="R888748fc5e314c1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6402b55c7d54605" /><Relationship Type="http://schemas.openxmlformats.org/officeDocument/2006/relationships/notesMaster" Target="/ppt/notesMasters/notesMaster1.xml" Id="R61223af3021e4d8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e5f16378f4445d2" /><Relationship Type="http://schemas.openxmlformats.org/officeDocument/2006/relationships/notesMaster" Target="/ppt/notesMasters/notesMaster1.xml" Id="R5d08fbd0db98411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ac2e664a8934e96" /><Relationship Type="http://schemas.openxmlformats.org/officeDocument/2006/relationships/notesMaster" Target="/ppt/notesMasters/notesMaster1.xml" Id="Rac2e39e5384640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Construiremos AulaPedidos paso a paso. El objetivo es desarrollar con ayuda de Copilot y conservar el criterio para revisar lo que propone. Son 40 horas efectivas, en diez clases de cuatro horas. Los descansos quedan fuera de esas horas.</a:t>
            </a:r>
          </a:p>
          <a:p xmlns:a="http://schemas.openxmlformats.org/drawingml/2006/main">
            <a:r>
              <a:t/>
            </a:r>
          </a:p>
          <a:p xmlns:a="http://schemas.openxmlformats.org/drawingml/2006/main">
            <a:r>
              <a:t>Ilustración conceptual generada con IA para este curso.</a:t>
            </a:r>
          </a:p>
          <a:p xmlns:a="http://schemas.openxmlformats.org/drawingml/2006/main">
            <a:r>
              <a:t/>
            </a:r>
          </a:p>
          <a:p xmlns:a="http://schemas.openxmlformats.org/drawingml/2006/main">
            <a:r>
              <a:t>Material del curso: https://github.com/ychavez/CursoNETIA/blob/main/instructor/README.md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Una API permite que otros programas pidan información o realicen operaciones. AulaPedidos ofrece un catálogo de productos y permite crear, consultar o cancelar pedidos según los permisos. La aplicación es el ejemplo común de todo el curso. La IA ayuda a desarrollar el proyecto. El proyecto no incluye un chatbot ni una función de IA para el usuario final.</a:t>
            </a:r>
          </a:p>
          <a:p xmlns:a="http://schemas.openxmlformats.org/drawingml/2006/main">
            <a:r>
              <a:t/>
            </a:r>
          </a:p>
          <a:p xmlns:a="http://schemas.openxmlformats.org/drawingml/2006/main">
            <a:r>
              <a:t>Material del curso: https://github.com/ychavez/CursoNETIA/blob/main/README.md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clase combina una demostración corta con práctica. Trabajaremos en parejas, alternando quién conduce y quién revisa. Pediremos a Copilot cambios pequeños, leeremos el resultado y lo comprobaremos con pruebas. Las decisiones quedan en una bitácora. Usamos datos sintéticos y evitamos compartir secretos.</a:t>
            </a:r>
          </a:p>
          <a:p xmlns:a="http://schemas.openxmlformats.org/drawingml/2006/main">
            <a:r>
              <a:t/>
            </a:r>
          </a:p>
          <a:p xmlns:a="http://schemas.openxmlformats.org/drawingml/2006/main">
            <a:r>
              <a:t>Material del curso: https://github.com/ychavez/CursoNETIA/blob/main/instructor/README.md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 harness como el conjunto de instrucciones, contexto, herramientas y verificaciones que orienta al asistente. Configuraremos instrucciones del repositorio, prompts y agentes. El alumno debe entender qué acepta y por qué. Incluye uso responsable de datos y revisión humana.</a:t>
            </a:r>
          </a:p>
          <a:p xmlns:a="http://schemas.openxmlformats.org/drawingml/2006/main">
            <a:r>
              <a:t/>
            </a:r>
          </a:p>
          <a:p xmlns:a="http://schemas.openxmlformats.org/drawingml/2006/main">
            <a:r>
              <a:t>Material del curso: https://github.com/ychavez/CursoNETIA/blob/main/instructor/clases/01-ia-harness.md</a:t>
            </a:r>
          </a:p>
          <a:p xmlns:a="http://schemas.openxmlformats.org/drawingml/2006/main">
            <a:br/>
            <a:br/>
            <a:r>
              <a:t>Ejemplo para explicar: si pedimos crear un endpoint sin indicar las capas, Copilot puede mezclar reglas del negocio con HTTP. Las instrucciones del repositorio orientan dónde colocar cada parte y las pruebas ayudan a comprobar el resultado.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Harness es el nombre que usamos en el curso para este conjunto de apoyos y controles. No es una función única de Copilot ni una sigla. Una instrucción fija una regla recurrente. Un prompt pide una tarea concreta. Mostrar una regla del repositorio y un prompt del curso. Comprobar qué referencias usa Copilot. La revisión humana conserva la decisión final y las pruebas comprueban los comportamientos que realmente cubren. Ejemplo hablado: le damos la regla de precio, el archivo correcto y cómo reconocer una solución válida. Después revisamos y probamos.</a:t>
            </a:r>
          </a:p>
          <a:p xmlns:a="http://schemas.openxmlformats.org/drawingml/2006/main">
            <a:r>
              <a:t/>
            </a:r>
          </a:p>
          <a:p xmlns:a="http://schemas.openxmlformats.org/drawingml/2006/main">
            <a:r>
              <a:t>Fuentes:</a:t>
            </a:r>
          </a:p>
          <a:p xmlns:a="http://schemas.openxmlformats.org/drawingml/2006/main">
            <a:r>
              <a:t>https://docs.github.com/en/copilot/reference/customization-cheat-sheet</a:t>
            </a:r>
          </a:p>
          <a:p xmlns:a="http://schemas.openxmlformats.org/drawingml/2006/main">
            <a:r>
              <a:t>https://docs.github.com/en/copilot/how-tos/copilot-on-github/customize-copilot/add-custom-instructions/add-repository-instructions</a:t>
            </a:r>
          </a:p>
          <a:p xmlns:a="http://schemas.openxmlformats.org/drawingml/2006/main">
            <a:r>
              <a:t>https://github.com/ychavez/CursoNETIA/blob/main/instructor/clases/01-ia-harness.md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las cuatro capas: Domain, Application, Infrastructure y Api. El dominio contiene reglas del negocio y conserva su independencia de HTTP y de la base de datos. Usaremos inyección de dependencias y aplicaremos SOLID con ejemplos concretos. El alumno documentará una decisión de arquitectura.</a:t>
            </a:r>
          </a:p>
          <a:p xmlns:a="http://schemas.openxmlformats.org/drawingml/2006/main">
            <a:r>
              <a:t/>
            </a:r>
          </a:p>
          <a:p xmlns:a="http://schemas.openxmlformats.org/drawingml/2006/main">
            <a:r>
              <a:t>Material del curso: https://github.com/ychavez/CursoNETIA/blob/main/instructor/clases/02-arquitectura.md</a:t>
            </a:r>
          </a:p>
          <a:p xmlns:a="http://schemas.openxmlformats.org/drawingml/2006/main">
            <a:br/>
            <a:br/>
            <a:r>
              <a:t>Ejemplo para explicar: la regla que impide crear un pedido vacío pertenece al dominio. Conservamos esa regla al usar SQLite o SQL Server. La infraestructura implementa el acceso a cada motor.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Ubicar las cuatro capas del proyecto: Domain protege reglas, Application coordina casos de uso, Infrastructure implementa persistencia y Api recibe solicitudes y registra dependencias. Expandir SOLID: S, Single Responsibility, una responsabilidad y una razón para cambiar. O, Open/Closed, permitir extensiones sin modificar innecesariamente código existente. L, Liskov Substitution, las implementaciones sustitutas respetan el contrato. I, Interface Segregation, interfaces específicas para lo que necesita cada consumidor. D, Dependency Inversion, depender de abstracciones y no de detalles concretos. DI es un mecanismo para proporcionar colaboradores y no otro nombre para inversión de dependencias. Cambiar de proveedor requiere adaptar persistencia y probarla, aunque se conserven las reglas del dominio.</a:t>
            </a:r>
          </a:p>
          <a:p xmlns:a="http://schemas.openxmlformats.org/drawingml/2006/main">
            <a:r>
              <a:t/>
            </a:r>
          </a:p>
          <a:p xmlns:a="http://schemas.openxmlformats.org/drawingml/2006/main">
            <a:r>
              <a:t>Fuentes:</a:t>
            </a:r>
          </a:p>
          <a:p xmlns:a="http://schemas.openxmlformats.org/drawingml/2006/main">
            <a:r>
              <a:t>https://learn.microsoft.com/en-us/dotnet/architecture/modern-web-apps-azure/common-web-application-architectures</a:t>
            </a:r>
          </a:p>
          <a:p xmlns:a="http://schemas.openxmlformats.org/drawingml/2006/main">
            <a:r>
              <a:t>https://learn.microsoft.com/en-us/dotnet/architecture/microservices/microservice-ddd-cqrs-patterns/microservice-application-layer-web-api-design</a:t>
            </a:r>
          </a:p>
          <a:p xmlns:a="http://schemas.openxmlformats.org/drawingml/2006/main">
            <a:r>
              <a:t>https://learn.microsoft.com/en-us/dotnet/core/extensions/dependency-injection/overview</a:t>
            </a:r>
          </a:p>
          <a:p xmlns:a="http://schemas.openxmlformats.org/drawingml/2006/main">
            <a:r>
              <a:t>https://github.com/ychavez/CursoNETIA/blob/main/instructor/clases/02-arquitectura.md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Repository, CQRS, Mediator, Result y eventos del dominio. IRepository&lt;T&gt; concentra operaciones comunes para raíces de agregado. Los repositorios especializados conservan las consultas del negocio e IUnitOfWork guarda los cambios. No se agrega borrado físico genérico. Muestra también docs/repositorio-generico.md cuando el grupo implemente el contrato.</a:t>
            </a:r>
          </a:p>
          <a:p xmlns:a="http://schemas.openxmlformats.org/drawingml/2006/main">
            <a:r>
              <a:t/>
            </a:r>
          </a:p>
          <a:p xmlns:a="http://schemas.openxmlformats.org/drawingml/2006/main">
            <a:r>
              <a:t>Material del curso: https://github.com/ychavez/CursoNETIA/blob/main/instructor/clases/03-patrones.md</a:t>
            </a:r>
          </a:p>
          <a:p xmlns:a="http://schemas.openxmlformats.org/drawingml/2006/main">
            <a:br/>
            <a:br/>
            <a:r>
              <a:t>Ejemplo para explicar: el caso de uso solicita un producto mediante un contrato. La implementación de EF Core lo busca en la base. IRepository&lt;T&gt; reúne operaciones comunes e IUnitOfWork confirma los cambios. Las consultas específicas permanecen en contratos especializados.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CQRS se traduce como segregación de responsabilidades de comandos y consultas. Un command cambia estado y una query lee datos. Un handler o manejador ejecuta el caso de uso. El proyecto incluye un mediador propio, no depende de MediatR. IRepository&lt;T&gt; acepta raíces de agregado como Product y Order. OrderItem pertenece al pedido. Add prepara el alta y IUnitOfWork.SaveChangesAsync confirma los cambios. Los repositorios especializados conservan consultas específicas. Result expresa éxito o fallo esperado. Los eventos de dominio comunican hechos, como OrderSubmitted. CQRS no exige dos bases, microservicios ni event sourcing.</a:t>
            </a:r>
          </a:p>
          <a:p xmlns:a="http://schemas.openxmlformats.org/drawingml/2006/main">
            <a:r>
              <a:t/>
            </a:r>
          </a:p>
          <a:p xmlns:a="http://schemas.openxmlformats.org/drawingml/2006/main">
            <a:r>
              <a:t>Fuentes:</a:t>
            </a:r>
          </a:p>
          <a:p xmlns:a="http://schemas.openxmlformats.org/drawingml/2006/main">
            <a:r>
              <a:t>https://learn.microsoft.com/en-us/azure/architecture/patterns/cqrs</a:t>
            </a:r>
          </a:p>
          <a:p xmlns:a="http://schemas.openxmlformats.org/drawingml/2006/main">
            <a:r>
              <a:t>https://learn.microsoft.com/en-us/dotnet/architecture/microservices/microservice-ddd-cqrs-patterns/infrastructure-persistence-layer-design</a:t>
            </a:r>
          </a:p>
          <a:p xmlns:a="http://schemas.openxmlformats.org/drawingml/2006/main">
            <a:r>
              <a:t>https://github.com/ychavez/CursoNETIA/blob/main/docs/repositorio-generico.md</a:t>
            </a:r>
          </a:p>
          <a:p xmlns:a="http://schemas.openxmlformats.org/drawingml/2006/main">
            <a:r>
              <a:t>https://github.com/ychavez/CursoNETIA/blob/main/instructor/clases/03-patrones.md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 REST y los contratos de entrada y salida. Implementaremos endpoints para catálogo y pedidos, validación, códigos HTTP, ProblemDetails, versión de API y documentación OpenAPI. Los errores deben comunicar qué pasó sin revelar detalles internos.</a:t>
            </a:r>
          </a:p>
          <a:p xmlns:a="http://schemas.openxmlformats.org/drawingml/2006/main">
            <a:r>
              <a:t/>
            </a:r>
          </a:p>
          <a:p xmlns:a="http://schemas.openxmlformats.org/drawingml/2006/main">
            <a:r>
              <a:t>Material del curso: https://github.com/ychavez/CursoNETIA/blob/main/instructor/clases/04-api.md</a:t>
            </a:r>
          </a:p>
          <a:p xmlns:a="http://schemas.openxmlformats.org/drawingml/2006/main">
            <a:br/>
            <a:br/>
            <a:r>
              <a:t>Ejemplo para explicar: al crear un pedido, el cliente envía productos y cantidades. El contrato define los datos requeridos y la respuesta esperada. Si una entrada es inválida, la API devuelve un error comprensible y consistente.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 significa interfaz de programación de aplicaciones. DTO significa objeto de transferencia de datos: define la forma de los datos de entrada o salida. REST significa transferencia de estado representacional y es un estilo arquitectónico con restricciones, no simplemente devolver JSON. HTTP, Hypertext Transfer Protocol, es el protocolo utilizado para intercambiar peticiones y respuestas. GET consulta; POST solicita crear en este ejemplo. OpenAPI es la descripción estandarizada y Swagger UI es una interfaz que usa esa descripción. El DTO de entrada limita los campos aceptados: por ejemplo, el cliente de AulaPedidos no decide el total del pedido. La respuesta 201 corresponde a una creación válida y autorizada. La documentación debe coincidir con el comportamiento real.</a:t>
            </a:r>
          </a:p>
          <a:p xmlns:a="http://schemas.openxmlformats.org/drawingml/2006/main">
            <a:r>
              <a:t/>
            </a:r>
          </a:p>
          <a:p xmlns:a="http://schemas.openxmlformats.org/drawingml/2006/main">
            <a:r>
              <a:t>Fuentes:</a:t>
            </a:r>
          </a:p>
          <a:p xmlns:a="http://schemas.openxmlformats.org/drawingml/2006/main">
            <a:r>
              <a:t>https://learn.microsoft.com/en-us/azure/architecture/best-practices/api-design</a:t>
            </a:r>
          </a:p>
          <a:p xmlns:a="http://schemas.openxmlformats.org/drawingml/2006/main">
            <a:r>
              <a:t>https://learn.microsoft.com/en-us/aspnet/web-api/overview/data/using-web-api-with-entity-framework/part-5</a:t>
            </a:r>
          </a:p>
          <a:p xmlns:a="http://schemas.openxmlformats.org/drawingml/2006/main">
            <a:r>
              <a:t>https://spec.openapis.org/oas/v3.1.1.html</a:t>
            </a:r>
          </a:p>
          <a:p xmlns:a="http://schemas.openxmlformats.org/drawingml/2006/main">
            <a:r>
              <a:t>https://github.com/ychavez/CursoNETIA/blob/main/src/AulaPedidos.Api/Controllers/ProductsController.cs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 Core traduce operaciones del modelo a la base de datos. Trabajaremos relaciones, migraciones, auditoría, borrado lógico, concurrencia y consultas eficientes. La ruta inicial utiliza SQLite. El curso incluye SQL Server mediante contenedores y migraciones para ambos proveedores.</a:t>
            </a:r>
          </a:p>
          <a:p xmlns:a="http://schemas.openxmlformats.org/drawingml/2006/main">
            <a:r>
              <a:t/>
            </a:r>
          </a:p>
          <a:p xmlns:a="http://schemas.openxmlformats.org/drawingml/2006/main">
            <a:r>
              <a:t>Material del curso: https://github.com/ychavez/CursoNETIA/blob/main/instructor/clases/05-datos.md</a:t>
            </a:r>
          </a:p>
          <a:p xmlns:a="http://schemas.openxmlformats.org/drawingml/2006/main">
            <a:br/>
            <a:br/>
            <a:r>
              <a:t>Ejemplo para explicar: una relación asocia un pedido con sus líneas. Al cambiar el modelo, una migración registra cómo evoluciona la estructura. Revisamos las consultas y los cambios simultáneos para proteger la consistencia de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Explicar ORM como una correspondencia entre objetos del programa y estructuras de una base relacional. Mostrar Product, su configuración y la tabla Products. El proveedor traduce operaciones de EF Core a la tecnología de datos elegida. El curso usa SQLite y SQL Server con migraciones propias. DbContext mantiene seguimiento de los cambios cuando corresponde. En nuestro flujo, el repositorio Add registra el nuevo objeto e IUnitOfWork.SaveChangesAsync confirma la operación mediante el contexto. El ejemplo de INSERT presupone que agregamos un producto nuevo al seguimiento antes de guardar. Una migración describe la evolución del esquema: generarla no equivale a aplicarla. Revisamos su código y SQL antes de ejecutarla. EF Core reduce trabajo repetitivo y el equipo sigue revisando consultas, índices, relaciones y concurrencia. SQL significa Structured Query Language, lenguaje de consulta estructurada.</a:t>
            </a:r>
          </a:p>
          <a:p xmlns:a="http://schemas.openxmlformats.org/drawingml/2006/main">
            <a:r>
              <a:t/>
            </a:r>
          </a:p>
          <a:p xmlns:a="http://schemas.openxmlformats.org/drawingml/2006/main">
            <a:r>
              <a:t>Fuentes:</a:t>
            </a:r>
          </a:p>
          <a:p xmlns:a="http://schemas.openxmlformats.org/drawingml/2006/main">
            <a:r>
              <a:t>https://learn.microsoft.com/ef/core/</a:t>
            </a:r>
          </a:p>
          <a:p xmlns:a="http://schemas.openxmlformats.org/drawingml/2006/main">
            <a:r>
              <a:t>https://learn.microsoft.com/en-us/ef/core/managing-schemas/migrations/</a:t>
            </a:r>
          </a:p>
          <a:p xmlns:a="http://schemas.openxmlformats.org/drawingml/2006/main">
            <a:r>
              <a:t>https://github.com/ychavez/CursoNETIA/blob/main/src/AulaPedidos.Infrastructure/Persistence/EntityConfigurations.cs</a:t>
            </a:r>
          </a:p>
          <a:p xmlns:a="http://schemas.openxmlformats.org/drawingml/2006/main">
            <a:r>
              <a:t>https://github.com/ychavez/CursoNETIA/blob/main/src/AulaPedidos.Infrastructure/Persistence/Repository.cs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Distingue autenticación de autorización. Veremos roles, permisos y autorización por recurso: tener un token no permite consultar cualquier pedido. Incluye riesgos OWASP relevantes. Los JWT del laboratorio son temporales y se generan localmente. La etapa productiva requiere un proveedor de identidad real.</a:t>
            </a:r>
          </a:p>
          <a:p xmlns:a="http://schemas.openxmlformats.org/drawingml/2006/main">
            <a:r>
              <a:t/>
            </a:r>
          </a:p>
          <a:p xmlns:a="http://schemas.openxmlformats.org/drawingml/2006/main">
            <a:r>
              <a:t>Material del curso: https://github.com/ychavez/CursoNETIA/blob/main/instructor/clases/06-seguridad.md</a:t>
            </a:r>
          </a:p>
          <a:p xmlns:a="http://schemas.openxmlformats.org/drawingml/2006/main">
            <a:br/>
            <a:br/>
            <a:r>
              <a:t>Ejemplo para explicar: dos usuarios pueden tener un JWT válido, pero no deben poder consultar los pedidos del otro. Probaremos el acceso por propietario y los permisos exigidos por cada operación, incluidos los rechazos esperados.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AulaPedidos usamos JWT firmados. La API valida firma, emisor, destinatario y expiración antes de aceptar al usuario. Una firma protege la integridad, no cifra el contenido. No guardamos contraseñas dentro del token. La autenticación comprueba la identidad y la autorización aplica permisos. Además se comprueba el propietario del recurso concreto. El ejemplo de Ana y Luis representa solicitudes con identidades distintas. El generador local es una herramienta del laboratorio y no un inicio de sesión productivo. Para producción se plantea un proveedor de identidad real. Distinguir un token ausente o inválido de un usuario que carece de permiso y explicar 401/403 según el flujo correspondiente.</a:t>
            </a:r>
          </a:p>
          <a:p xmlns:a="http://schemas.openxmlformats.org/drawingml/2006/main">
            <a:r>
              <a:t/>
            </a:r>
          </a:p>
          <a:p xmlns:a="http://schemas.openxmlformats.org/drawingml/2006/main">
            <a:r>
              <a:t>Fuentes:</a:t>
            </a:r>
          </a:p>
          <a:p xmlns:a="http://schemas.openxmlformats.org/drawingml/2006/main">
            <a:r>
              <a:t>https://learn.microsoft.com/en-us/aspnet/core/security/authentication/configure-jwt-bearer-authentication?view=aspnetcore-10.0</a:t>
            </a:r>
          </a:p>
          <a:p xmlns:a="http://schemas.openxmlformats.org/drawingml/2006/main">
            <a:r>
              <a:t>https://www.rfc-editor.org/info/rfc7519/</a:t>
            </a:r>
          </a:p>
          <a:p xmlns:a="http://schemas.openxmlformats.org/drawingml/2006/main">
            <a:r>
              <a:t>https://github.com/ychavez/CursoNETIA/blob/main/instructor/clases/06-seguridad.md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Comprobaremos comportamientos del dominio y flujos completos de la API. Usaremos mocks donde aporten aislamiento, revisaremos cobertura y escribiremos regresiones para errores encontrados. Copilot puede proponer pruebas y refactorizaciones, pero debemos verificar que las pruebas detecten fallos reales.</a:t>
            </a:r>
          </a:p>
          <a:p xmlns:a="http://schemas.openxmlformats.org/drawingml/2006/main">
            <a:r>
              <a:t/>
            </a:r>
          </a:p>
          <a:p xmlns:a="http://schemas.openxmlformats.org/drawingml/2006/main">
            <a:r>
              <a:t>Material del curso: https://github.com/ychavez/CursoNETIA/blob/main/instructor/clases/07-calidad.md</a:t>
            </a:r>
          </a:p>
          <a:p xmlns:a="http://schemas.openxmlformats.org/drawingml/2006/main">
            <a:br/>
            <a:br/>
            <a:r>
              <a:t>Ejemplo para explicar: una prueba de dominio comprueba que un pedido vacío se rechaza. Otra prueba atraviesa la API y verifica la respuesta HTTP. Antes de aceptar una refactorización de Copilot, ejecutamos las pruebas y revisamos qué comportamientos cubren.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Antes de pedir a Copilot una prueba, describimos el comportamiento esperado. Contrastar una prueba de reglas del dominio con una petición HTTP al host de integración. Una aserción debe comprobar un resultado relevante y no sólo que existe un objeto. Mostrar las fases AAA con nombres explícitos: Arrange prepara, Act ejecuta, Assert comprueba. Una regresión debe detectar el defecto antes de repararlo y pasar después. La cobertura cuantifica código ejecutado, pero por sí sola no garantiza que las aserciones sean correctas o que todos los casos importantes estén cubiertos. Refactorizar mejora la estructura conservando el comportamiento.</a:t>
            </a:r>
          </a:p>
          <a:p xmlns:a="http://schemas.openxmlformats.org/drawingml/2006/main">
            <a:r>
              <a:t/>
            </a:r>
          </a:p>
          <a:p xmlns:a="http://schemas.openxmlformats.org/drawingml/2006/main">
            <a:r>
              <a:t>Fuentes:</a:t>
            </a:r>
          </a:p>
          <a:p xmlns:a="http://schemas.openxmlformats.org/drawingml/2006/main">
            <a:r>
              <a:t>https://learn.microsoft.com/en-us/dotnet/core/testing/unit-testing-best-practices</a:t>
            </a:r>
          </a:p>
          <a:p xmlns:a="http://schemas.openxmlformats.org/drawingml/2006/main">
            <a:r>
              <a:t>https://learn.microsoft.com/en-us/aspnet/core/test/integration-tests?view=aspnetcore-10.0</a:t>
            </a:r>
          </a:p>
          <a:p xmlns:a="http://schemas.openxmlformats.org/drawingml/2006/main">
            <a:r>
              <a:t>https://github.com/ychavez/CursoNETIA/blob/main/instructor/clases/07-calidad.md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Adapter, Outbox, Retry, Circuit Breaker y Cache Aside a partir de fallos concretos. La outbox conserva notificaciones pendientes y permite reenviarlas. La entrega es al menos una vez y el receptor deduplica eventos. No promete entrega exactamente una vez. Veremos también las limitaciones de la caché local.</a:t>
            </a:r>
          </a:p>
          <a:p xmlns:a="http://schemas.openxmlformats.org/drawingml/2006/main">
            <a:r>
              <a:t/>
            </a:r>
          </a:p>
          <a:p xmlns:a="http://schemas.openxmlformats.org/drawingml/2006/main">
            <a:r>
              <a:t>Material del curso: https://github.com/ychavez/CursoNETIA/blob/main/instructor/clases/08-resiliencia.md</a:t>
            </a:r>
          </a:p>
          <a:p xmlns:a="http://schemas.openxmlformats.org/drawingml/2006/main">
            <a:br/>
            <a:br/>
            <a:r>
              <a:t>Ejemplo para explicar: el pedido y su aviso pendiente se guardan juntos. Si el receptor no responde, el worker puede volver a enviar el aviso. Como puede haber reenvíos, el receptor reconoce el identificador del evento para evitar procesarlo dos veces.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Guardar el pedido y llamar al receptor son operaciones distintas. Outbox conserva la intención de notificar dentro de la misma transacción del pedido para poder enviar después. Puede haber reenvíos: no se promete entrega exactamente una vez. El receptor deduplica por identificador del evento. La idempotencia evita repetir efectos al repetir una operación. Retry se aplica a fallos temporales con límites y pausas. Circuit Breaker interrumpe temporalmente llamadas al detectar fallos repetidos. Distinguir el reintento breve HTTP del reintento posterior de Outbox. Cache Aside intenta leer de caché, carga de la base si falta el dato y lo almacena temporalmente. Al cambiar un producto se invalida la caché. La caché no fija el precio histórico del pedido. Las referencias de patrones en documentación Azure no implican que el laboratorio despliegue en Azure.</a:t>
            </a:r>
          </a:p>
          <a:p xmlns:a="http://schemas.openxmlformats.org/drawingml/2006/main">
            <a:r>
              <a:t/>
            </a:r>
          </a:p>
          <a:p xmlns:a="http://schemas.openxmlformats.org/drawingml/2006/main">
            <a:r>
              <a:t>Fuentes:</a:t>
            </a:r>
          </a:p>
          <a:p xmlns:a="http://schemas.openxmlformats.org/drawingml/2006/main">
            <a:r>
              <a:t>https://learn.microsoft.com/en-us/azure/architecture/databases/guide/transactional-out-box-cosmos</a:t>
            </a:r>
          </a:p>
          <a:p xmlns:a="http://schemas.openxmlformats.org/drawingml/2006/main">
            <a:r>
              <a:t>https://learn.microsoft.com/en-us/azure/architecture/patterns/circuit-breaker</a:t>
            </a:r>
          </a:p>
          <a:p xmlns:a="http://schemas.openxmlformats.org/drawingml/2006/main">
            <a:r>
              <a:t>https://learn.microsoft.com/en-us/azure/architecture/patterns/retry</a:t>
            </a:r>
          </a:p>
          <a:p xmlns:a="http://schemas.openxmlformats.org/drawingml/2006/main">
            <a:r>
              <a:t>https://learn.microsoft.com/en-us/azure/architecture/patterns/cache-aside</a:t>
            </a:r>
          </a:p>
          <a:p xmlns:a="http://schemas.openxmlformats.org/drawingml/2006/main">
            <a:r>
              <a:t>https://github.com/ychavez/CursoNETIA/blob/main/instructor/clases/08-resiliencia.md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Docker Compose levanta SQL Server, el proceso de migraciones, la API, el receptor de notificaciones y el dashboard de Aspire. Observaremos registros, métricas, trazas y comprobaciones de salud. La práctica se ejecuta localmente. El curso no exige una cuenta de Azure o AWS ni despliega servicios en la nube.</a:t>
            </a:r>
          </a:p>
          <a:p xmlns:a="http://schemas.openxmlformats.org/drawingml/2006/main">
            <a:r>
              <a:t/>
            </a:r>
          </a:p>
          <a:p xmlns:a="http://schemas.openxmlformats.org/drawingml/2006/main">
            <a:r>
              <a:t>Material del curso: https://github.com/ychavez/CursoNETIA/blob/main/instructor/clases/09-operacion.md</a:t>
            </a:r>
          </a:p>
          <a:p xmlns:a="http://schemas.openxmlformats.org/drawingml/2006/main">
            <a:br/>
            <a:br/>
            <a:r>
              <a:t>Ejemplo para explicar: levantamos la API, la base y el receptor con Docker Compose en la computadora del alumno. Seguimos una petición con trazas y registros para localizar una demora. El laboratorio es local y no necesita Azure ni 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imagen es un paquete para ejecutar la aplicación y el contenedor es una instancia en ejecución. Compose define varios servicios y su comunicación: API, SQL Server, migrador, notificador y dashboard. Los volúmenes conservan datos al reemplazar contenedores. Dentro de un contenedor, localhost apunta a ese mismo contenedor. OpenTelemetry instrumenta y exporta señales y el dashboard las muestra. Los logs registran hechos, las métricas agregan mediciones y las trazas muestran el recorrido de operaciones. Las comprobaciones de salud sólo comprueban lo que se ha definido. En esta referencia el envío posterior de Outbox no forma automáticamente una única traza con la petición original, aunque pueden relacionarse por identificadores. El laboratorio corre localmente y no requiere Azure ni AWS.</a:t>
            </a:r>
          </a:p>
          <a:p xmlns:a="http://schemas.openxmlformats.org/drawingml/2006/main">
            <a:r>
              <a:t/>
            </a:r>
          </a:p>
          <a:p xmlns:a="http://schemas.openxmlformats.org/drawingml/2006/main">
            <a:r>
              <a:t>Fuentes:</a:t>
            </a:r>
          </a:p>
          <a:p xmlns:a="http://schemas.openxmlformats.org/drawingml/2006/main">
            <a:r>
              <a:t>https://docs.docker.com/compose/intro/compose-application-model/</a:t>
            </a:r>
          </a:p>
          <a:p xmlns:a="http://schemas.openxmlformats.org/drawingml/2006/main">
            <a:r>
              <a:t>https://opentelemetry.io/docs/concepts/signals/</a:t>
            </a:r>
          </a:p>
          <a:p xmlns:a="http://schemas.openxmlformats.org/drawingml/2006/main">
            <a:r>
              <a:t>https://docs.docker.com/get-started/docker-concepts/the-basics/what-is-a-container/</a:t>
            </a:r>
          </a:p>
          <a:p xmlns:a="http://schemas.openxmlformats.org/drawingml/2006/main">
            <a:r>
              <a:t>https://github.com/ychavez/CursoNETIA/blob/main/instructor/clases/09-operacion.md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alumno integra un cambio, ejecuta pruebas y presenta evidencia del funcionamiento. Revisaremos seguridad, documentación y bitácora de IA. Prepararemos un plan para producción con sus pendientes reales. La entrega demuestra aprendizaje dentro del alcance docente y no certifica una solución lista para producción.</a:t>
            </a:r>
          </a:p>
          <a:p xmlns:a="http://schemas.openxmlformats.org/drawingml/2006/main">
            <a:r>
              <a:t/>
            </a:r>
          </a:p>
          <a:p xmlns:a="http://schemas.openxmlformats.org/drawingml/2006/main">
            <a:r>
              <a:t>Material del curso: https://github.com/ychavez/CursoNETIA/blob/main/instructor/clases/10-entrega.md</a:t>
            </a:r>
          </a:p>
          <a:p xmlns:a="http://schemas.openxmlformats.org/drawingml/2006/main">
            <a:br/>
            <a:br/>
            <a:r>
              <a:t>Ejemplo para explicar: el desafío final recorre el contrato de la API, el caso de uso, la persistencia y las pruebas. El participante demuestra el cambio, explica una decisión y distingue lo que ya verificó de lo que aún debe preparar para producción.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integración continua permite ejecutar controles definidos por el equipo cuando se integran cambios. Un workflow configurado no demuestra por sí mismo que se haya ejecutado con éxito. Un ADR registra el razonamiento de una decisión de arquitectura para quienes mantendrán el sistema. El desafío final añade un filtro por estado manteniendo paginación, autorización y comportamiento sin filtro. La entrega debe incluir evidencia de los casos válidos, entradas inválidas y acceso indebido. Preparar producción exige resolver identidad, secretos, respaldos, recuperación, migraciones y operación de varias instancias. Se entrega un plan con responsables y criterios de cierre. El curso no promete un despliegue automático en Azure o AWS ni certificación productiva.</a:t>
            </a:r>
          </a:p>
          <a:p xmlns:a="http://schemas.openxmlformats.org/drawingml/2006/main">
            <a:r>
              <a:t/>
            </a:r>
          </a:p>
          <a:p xmlns:a="http://schemas.openxmlformats.org/drawingml/2006/main">
            <a:r>
              <a:t>Fuentes:</a:t>
            </a:r>
          </a:p>
          <a:p xmlns:a="http://schemas.openxmlformats.org/drawingml/2006/main">
            <a:r>
              <a:t>https://docs.github.com/en/actions/get-started/understand-github-actions</a:t>
            </a:r>
          </a:p>
          <a:p xmlns:a="http://schemas.openxmlformats.org/drawingml/2006/main">
            <a:r>
              <a:t>https://learn.microsoft.com/en-us/azure/well-architected/architect-role/architecture-decision-record</a:t>
            </a:r>
          </a:p>
          <a:p xmlns:a="http://schemas.openxmlformats.org/drawingml/2006/main">
            <a:r>
              <a:t>https://github.com/ychavez/CursoNETIA/blob/main/instructor/clases/10-entrega.md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entrega incluye repositorio ejecutable, configuración de Copilot, pruebas, documentación y demostración. Cada participante explica una decisión de arquitectura y una propuesta de IA que revisó o rechazó con razones. El repositorio enlazado contiene la solución de referencia y los materiales del curso.</a:t>
            </a:r>
          </a:p>
          <a:p xmlns:a="http://schemas.openxmlformats.org/drawingml/2006/main">
            <a:r>
              <a:t/>
            </a:r>
          </a:p>
          <a:p xmlns:a="http://schemas.openxmlformats.org/drawingml/2006/main">
            <a:r>
              <a:t>Ilustración conceptual generada con IA para este curso.</a:t>
            </a:r>
          </a:p>
          <a:p xmlns:a="http://schemas.openxmlformats.org/drawingml/2006/main">
            <a:r>
              <a:t/>
            </a:r>
          </a:p>
          <a:p xmlns:a="http://schemas.openxmlformats.org/drawingml/2006/main">
            <a:r>
              <a:t>Material del curso: https://github.com/ychavez/CursoNETIA/blob/main/instructor/evaluacion.md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2e5b8538fa4e4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609f7ae02c5469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a4ce493aa2640d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714116bd6b2455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6c14490b0a346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fe4387b8598413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FDCCE37-A8B5-4D9B-A2ED-B97263D2434C}"/>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50600FC-3480-490F-A98C-191D0CE8B7F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862002FB-5C81-4213-B098-7DDF3C5058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9FEE767-66DF-4991-B352-33727F9B77B2}"/>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7A4DEE1-C177-45CF-BC48-F9A7B71308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9B32865-C68D-467E-A9BB-7D6FCD7374F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E5E2E0E-C50A-4C9A-9215-17D202F115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56BEC02-24B4-4389-A4A3-89F4881E609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5B69FF6-66E1-4CEC-972C-505AC569791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4B8400A-B8BD-47B9-B452-C48A6DF835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7D83308-2DDB-4B8B-9F88-B473E64F8B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40D4A9C-812A-4BE8-AED4-AE236204110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ABBFEA1-8408-40A7-ABFB-A8F74A05C77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9A576E2-4053-40D6-A9D7-C7EAB8C2EA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7CAB85C-65C1-4900-8183-B5999A38E8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d47d6a69234128" /><Relationship Type="http://schemas.openxmlformats.org/officeDocument/2006/relationships/slideLayout" Target="/ppt/slideLayouts/slideLayout1.xml" Id="Ra3ed7ea170ce4180" /><Relationship Type="http://schemas.openxmlformats.org/officeDocument/2006/relationships/slideLayout" Target="/ppt/slideLayouts/slideLayout2.xml" Id="Rfecb903bc5594a2e" /><Relationship Type="http://schemas.openxmlformats.org/officeDocument/2006/relationships/slideLayout" Target="/ppt/slideLayouts/slideLayout3.xml" Id="Rf3cba8861cf04ba7" /><Relationship Type="http://schemas.openxmlformats.org/officeDocument/2006/relationships/slideLayout" Target="/ppt/slideLayouts/slideLayout4.xml" Id="R2c12459e63cc4276" /><Relationship Type="http://schemas.openxmlformats.org/officeDocument/2006/relationships/slideLayout" Target="/ppt/slideLayouts/slideLayout5.xml" Id="Re0195c3d6d35445b" /><Relationship Type="http://schemas.openxmlformats.org/officeDocument/2006/relationships/slideLayout" Target="/ppt/slideLayouts/slideLayout6.xml" Id="R9aa5fbedb6bc400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ed7ea170ce4180"/>
    <p:sldLayoutId xmlns:r="http://schemas.openxmlformats.org/officeDocument/2006/relationships" id="2147483650" r:id="Rfecb903bc5594a2e"/>
    <p:sldLayoutId xmlns:r="http://schemas.openxmlformats.org/officeDocument/2006/relationships" id="2147483651" r:id="Rf3cba8861cf04ba7"/>
    <p:sldLayoutId xmlns:r="http://schemas.openxmlformats.org/officeDocument/2006/relationships" id="2147483652" r:id="R2c12459e63cc4276"/>
    <p:sldLayoutId xmlns:r="http://schemas.openxmlformats.org/officeDocument/2006/relationships" id="2147483653" r:id="Re0195c3d6d35445b"/>
    <p:sldLayoutId xmlns:r="http://schemas.openxmlformats.org/officeDocument/2006/relationships" id="2147483654" r:id="R9aa5fbedb6bc400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f42e42c36e94084" /><Relationship Type="http://schemas.openxmlformats.org/officeDocument/2006/relationships/image" Target="/ppt/media/image.png" Id="Rb14f9de00c974114" /><Relationship Type="http://schemas.openxmlformats.org/officeDocument/2006/relationships/notesSlide" Target="/ppt/notesSlides/notesSlide1.xml" Id="R7d69e792197242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1c6733a402b4b9f" /><Relationship Type="http://schemas.openxmlformats.org/officeDocument/2006/relationships/notesSlide" Target="/ppt/notesSlides/notesSlide2.xml" Id="R080d404b248b461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be8b1eaafb64317" /><Relationship Type="http://schemas.openxmlformats.org/officeDocument/2006/relationships/notesSlide" Target="/ppt/notesSlides/notesSlide3.xml" Id="R1d62dee8d4a740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b4a41d3e4b14073" /><Relationship Type="http://schemas.openxmlformats.org/officeDocument/2006/relationships/notesSlide" Target="/ppt/notesSlides/notesSlide4.xml" Id="R5bbc98d9471246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7cf11601fc94d25" /><Relationship Type="http://schemas.openxmlformats.org/officeDocument/2006/relationships/notesSlide" Target="/ppt/notesSlides/notesSlide5.xml" Id="R2ff9f83c991f4c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29e0101bcab4818" /><Relationship Type="http://schemas.openxmlformats.org/officeDocument/2006/relationships/notesSlide" Target="/ppt/notesSlides/notesSlide6.xml" Id="R509e445af3804f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d50fe9c2b8c46ab" /><Relationship Type="http://schemas.openxmlformats.org/officeDocument/2006/relationships/notesSlide" Target="/ppt/notesSlides/notesSlide7.xml" Id="R02c77f716073420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f414cd3de6c4452" /><Relationship Type="http://schemas.openxmlformats.org/officeDocument/2006/relationships/notesSlide" Target="/ppt/notesSlides/notesSlide8.xml" Id="R648412be5eac40d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f9298e087d04572" /><Relationship Type="http://schemas.openxmlformats.org/officeDocument/2006/relationships/notesSlide" Target="/ppt/notesSlides/notesSlide9.xml" Id="R1adb8c459c6a4c2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94727fe79614077" /><Relationship Type="http://schemas.openxmlformats.org/officeDocument/2006/relationships/notesSlide" Target="/ppt/notesSlides/notesSlide10.xml" Id="R8d6febd874a447f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e88604c29a94c02" /><Relationship Type="http://schemas.openxmlformats.org/officeDocument/2006/relationships/notesSlide" Target="/ppt/notesSlides/notesSlide11.xml" Id="R756eaa4f541745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1382c66eadc411c" /><Relationship Type="http://schemas.openxmlformats.org/officeDocument/2006/relationships/notesSlide" Target="/ppt/notesSlides/notesSlide12.xml" Id="R4204ea5fcd1445d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12c4dc7e6114409" /><Relationship Type="http://schemas.openxmlformats.org/officeDocument/2006/relationships/notesSlide" Target="/ppt/notesSlides/notesSlide13.xml" Id="R8579e31a92f6439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c553e3419954af9" /><Relationship Type="http://schemas.openxmlformats.org/officeDocument/2006/relationships/notesSlide" Target="/ppt/notesSlides/notesSlide14.xml" Id="R537c1720f265465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de241b1d1d744da" /><Relationship Type="http://schemas.openxmlformats.org/officeDocument/2006/relationships/notesSlide" Target="/ppt/notesSlides/notesSlide15.xml" Id="R5beebacae3ad48a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e6934a2d4e442cb" /><Relationship Type="http://schemas.openxmlformats.org/officeDocument/2006/relationships/notesSlide" Target="/ppt/notesSlides/notesSlide16.xml" Id="Rdde2b2c944c34b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79dee193b104f95" /><Relationship Type="http://schemas.openxmlformats.org/officeDocument/2006/relationships/notesSlide" Target="/ppt/notesSlides/notesSlide17.xml" Id="Rbf5c36274f1f433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39b2fc21c4a432a" /><Relationship Type="http://schemas.openxmlformats.org/officeDocument/2006/relationships/notesSlide" Target="/ppt/notesSlides/notesSlide18.xml" Id="R5f4995ff34c548b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bfb42f31e5a432c" /><Relationship Type="http://schemas.openxmlformats.org/officeDocument/2006/relationships/notesSlide" Target="/ppt/notesSlides/notesSlide19.xml" Id="R92f23c622b0548c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ab35860229d4e52" /><Relationship Type="http://schemas.openxmlformats.org/officeDocument/2006/relationships/notesSlide" Target="/ppt/notesSlides/notesSlide20.xml" Id="R89df6846addf4bc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17f99fa44864c6c" /><Relationship Type="http://schemas.openxmlformats.org/officeDocument/2006/relationships/notesSlide" Target="/ppt/notesSlides/notesSlide21.xml" Id="R84cfb9dcc9844a6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c96c50c39b14104" /><Relationship Type="http://schemas.openxmlformats.org/officeDocument/2006/relationships/notesSlide" Target="/ppt/notesSlides/notesSlide22.xml" Id="Rf0923db08271437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6efcadfefdd4084" /><Relationship Type="http://schemas.openxmlformats.org/officeDocument/2006/relationships/notesSlide" Target="/ppt/notesSlides/notesSlide23.xml" Id="R628d0d16f6044ef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21854f0f0cd4aec" /><Relationship Type="http://schemas.openxmlformats.org/officeDocument/2006/relationships/image" Target="/ppt/media/image2.png" Id="R80798260886f47b6" /><Relationship Type="http://schemas.openxmlformats.org/officeDocument/2006/relationships/hyperlink" Target="https://github.com/ychavez/CursoNETIA" TargetMode="External" Id="Rdf1cf172ef2b41b6" /><Relationship Type="http://schemas.openxmlformats.org/officeDocument/2006/relationships/notesSlide" Target="/ppt/notesSlides/notesSlide24.xml" Id="R3d013dedca7f434f" /></Relationships>
</file>

<file path=ppt/slides/slide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14f9de00c97411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urse title">
            <a:extLst xmlns:a="http://schemas.openxmlformats.org/drawingml/2006/main">
              <a:ext uri="{FF2B5EF4-FFF2-40B4-BE49-F238E27FC236}">
                <a16:creationId xmlns:a16="http://schemas.microsoft.com/office/drawing/2014/main" id="{43BA4371-724D-4942-B59E-EC7AEA31B200}"/>
              </a:ext>
            </a:extLst>
          </p:cNvPr>
          <p:cNvSpPr>
            <a:spLocks xmlns:a="http://schemas.openxmlformats.org/drawingml/2006/main" noGrp="1"/>
          </p:cNvSpPr>
          <p:nvPr/>
        </p:nvSpPr>
        <p:spPr>
          <a:xfrm xmlns:a="http://schemas.openxmlformats.org/drawingml/2006/main">
            <a:off x="762000" y="1790700"/>
            <a:ext cx="6905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150" b="1">
                <a:solidFill>
                  <a:srgbClr val="FFFFFF"/>
                </a:solidFill>
                <a:latin typeface="Arial"/>
                <a:ea typeface="Arial"/>
                <a:cs typeface="Arial"/>
              </a:defRPr>
            </a:pPr>
            <a:r>
              <a:rPr sz="6150" b="1">
                <a:solidFill>
                  <a:srgbClr val="FFFFFF"/>
                </a:solidFill>
                <a:latin typeface="Arial"/>
                <a:ea typeface="Arial"/>
                <a:cs typeface="Arial"/>
              </a:rPr>
              <a:t>.NET con IA</a:t>
            </a:r>
          </a:p>
        </p:txBody>
      </p:sp>
      <p:sp>
        <p:nvSpPr>
          <p:cNvPr id="3" name="Course subtitle">
            <a:extLst xmlns:a="http://schemas.openxmlformats.org/drawingml/2006/main">
              <a:ext uri="{FF2B5EF4-FFF2-40B4-BE49-F238E27FC236}">
                <a16:creationId xmlns:a16="http://schemas.microsoft.com/office/drawing/2014/main" id="{2FA0FA8A-1BD2-4806-946D-9302BAF0893E}"/>
              </a:ext>
            </a:extLst>
          </p:cNvPr>
          <p:cNvSpPr>
            <a:spLocks xmlns:a="http://schemas.openxmlformats.org/drawingml/2006/main" noGrp="1"/>
          </p:cNvSpPr>
          <p:nvPr/>
        </p:nvSpPr>
        <p:spPr>
          <a:xfrm xmlns:a="http://schemas.openxmlformats.org/drawingml/2006/main">
            <a:off x="800100" y="3048000"/>
            <a:ext cx="6715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Desarrollo con GitHub Copilot</a:t>
            </a:r>
          </a:p>
        </p:txBody>
      </p:sp>
      <p:sp>
        <p:nvSpPr>
          <p:cNvPr id="4" name="Course duration">
            <a:extLst xmlns:a="http://schemas.openxmlformats.org/drawingml/2006/main">
              <a:ext uri="{FF2B5EF4-FFF2-40B4-BE49-F238E27FC236}">
                <a16:creationId xmlns:a16="http://schemas.microsoft.com/office/drawing/2014/main" id="{F892741F-47EA-4FC4-B664-C6B8CD0B71DC}"/>
              </a:ext>
            </a:extLst>
          </p:cNvPr>
          <p:cNvSpPr>
            <a:spLocks xmlns:a="http://schemas.openxmlformats.org/drawingml/2006/main" noGrp="1"/>
          </p:cNvSpPr>
          <p:nvPr/>
        </p:nvSpPr>
        <p:spPr>
          <a:xfrm xmlns:a="http://schemas.openxmlformats.org/drawingml/2006/main">
            <a:off x="800100" y="4810125"/>
            <a:ext cx="619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A7E2D7"/>
                </a:solidFill>
                <a:latin typeface="Arial"/>
                <a:ea typeface="Arial"/>
                <a:cs typeface="Arial"/>
              </a:defRPr>
            </a:pPr>
            <a:r>
              <a:rPr sz="2250" b="0">
                <a:solidFill>
                  <a:srgbClr val="A7E2D7"/>
                </a:solidFill>
                <a:latin typeface="Arial"/>
                <a:ea typeface="Arial"/>
                <a:cs typeface="Arial"/>
              </a:rPr>
              <a:t>40 horas</a:t>
            </a:r>
          </a:p>
          <a:p xmlns:a="http://schemas.openxmlformats.org/drawingml/2006/main">
            <a:pPr>
              <a:buNone/>
              <a:defRPr sz="2250" b="0">
                <a:solidFill>
                  <a:srgbClr val="A7E2D7"/>
                </a:solidFill>
                <a:latin typeface="Arial"/>
                <a:ea typeface="Arial"/>
                <a:cs typeface="Arial"/>
              </a:defRPr>
            </a:pPr>
            <a:r>
              <a:rPr sz="2250" b="0">
                <a:solidFill>
                  <a:srgbClr val="A7E2D7"/>
                </a:solidFill>
                <a:latin typeface="Arial"/>
                <a:ea typeface="Arial"/>
                <a:cs typeface="Arial"/>
              </a:rPr>
              <a:t>10 clases prácticas</a:t>
            </a:r>
          </a:p>
        </p:txBody>
      </p:sp>
    </p:spTree>
    <p:extLst>
      <p:ext uri="{BB962C8B-B14F-4D97-AF65-F5344CB8AC3E}">
        <p14:creationId xmlns:p14="http://schemas.microsoft.com/office/powerpoint/2010/main" val="1623110699"/>
      </p:ext>
    </p:extLst>
  </p:cSld>
</p:sld>
</file>

<file path=ppt/slides/slide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4" name="Project title">
            <a:extLst xmlns:a="http://schemas.openxmlformats.org/drawingml/2006/main">
              <a:ext uri="{FF2B5EF4-FFF2-40B4-BE49-F238E27FC236}">
                <a16:creationId xmlns:a16="http://schemas.microsoft.com/office/drawing/2014/main" id="{A67D5387-9063-4A25-9821-C71FC682EDC9}"/>
              </a:ext>
            </a:extLst>
          </p:cNvPr>
          <p:cNvSpPr>
            <a:spLocks xmlns:a="http://schemas.openxmlformats.org/drawingml/2006/main" noGrp="1"/>
          </p:cNvSpPr>
          <p:nvPr/>
        </p:nvSpPr>
        <p:spPr>
          <a:xfrm xmlns:a="http://schemas.openxmlformats.org/drawingml/2006/main">
            <a:off x="762000" y="8096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400" b="1">
                <a:solidFill>
                  <a:srgbClr val="6044B6"/>
                </a:solidFill>
                <a:latin typeface="Arial"/>
                <a:ea typeface="Arial"/>
                <a:cs typeface="Arial"/>
              </a:defRPr>
            </a:pPr>
            <a:r>
              <a:rPr sz="5400" b="1">
                <a:solidFill>
                  <a:srgbClr val="6044B6"/>
                </a:solidFill>
                <a:latin typeface="Arial"/>
                <a:ea typeface="Arial"/>
                <a:cs typeface="Arial"/>
              </a:rPr>
              <a:t>AulaPedidos</a:t>
            </a:r>
          </a:p>
        </p:txBody>
      </p:sp>
      <p:sp>
        <p:nvSpPr>
          <p:cNvPr id="2" name="Project description">
            <a:extLst xmlns:a="http://schemas.openxmlformats.org/drawingml/2006/main">
              <a:ext uri="{FF2B5EF4-FFF2-40B4-BE49-F238E27FC236}">
                <a16:creationId xmlns:a16="http://schemas.microsoft.com/office/drawing/2014/main" id="{CF497C1C-85CA-46FC-932B-A58D18AD8E67}"/>
              </a:ext>
            </a:extLst>
          </p:cNvPr>
          <p:cNvSpPr>
            <a:spLocks xmlns:a="http://schemas.openxmlformats.org/drawingml/2006/main" noGrp="1"/>
          </p:cNvSpPr>
          <p:nvPr/>
        </p:nvSpPr>
        <p:spPr>
          <a:xfrm xmlns:a="http://schemas.openxmlformats.org/drawingml/2006/main">
            <a:off x="762000" y="26670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125" b="1">
                <a:solidFill>
                  <a:srgbClr val="172137"/>
                </a:solidFill>
                <a:latin typeface="Arial"/>
                <a:ea typeface="Arial"/>
                <a:cs typeface="Arial"/>
              </a:defRPr>
            </a:pPr>
            <a:r>
              <a:rPr sz="4125" b="1">
                <a:solidFill>
                  <a:srgbClr val="172137"/>
                </a:solidFill>
                <a:latin typeface="Arial"/>
                <a:ea typeface="Arial"/>
                <a:cs typeface="Arial"/>
              </a:rPr>
              <a:t>Una API para gestionar</a:t>
            </a:r>
          </a:p>
          <a:p xmlns:a="http://schemas.openxmlformats.org/drawingml/2006/main">
            <a:pPr>
              <a:buNone/>
              <a:defRPr sz="4125" b="1">
                <a:solidFill>
                  <a:srgbClr val="172137"/>
                </a:solidFill>
                <a:latin typeface="Arial"/>
                <a:ea typeface="Arial"/>
                <a:cs typeface="Arial"/>
              </a:defRPr>
            </a:pPr>
            <a:r>
              <a:rPr sz="4125" b="1">
                <a:solidFill>
                  <a:srgbClr val="172137"/>
                </a:solidFill>
                <a:latin typeface="Arial"/>
                <a:ea typeface="Arial"/>
                <a:cs typeface="Arial"/>
              </a:rPr>
              <a:t>productos y pedidos.</a:t>
            </a:r>
          </a:p>
        </p:txBody>
      </p:sp>
      <p:sp>
        <p:nvSpPr>
          <p:cNvPr id="3" name="Project capabilities">
            <a:extLst xmlns:a="http://schemas.openxmlformats.org/drawingml/2006/main">
              <a:ext uri="{FF2B5EF4-FFF2-40B4-BE49-F238E27FC236}">
                <a16:creationId xmlns:a16="http://schemas.microsoft.com/office/drawing/2014/main" id="{810C7F32-23B7-4554-8F82-21F647F16C83}"/>
              </a:ext>
            </a:extLst>
          </p:cNvPr>
          <p:cNvSpPr>
            <a:spLocks xmlns:a="http://schemas.openxmlformats.org/drawingml/2006/main" noGrp="1"/>
          </p:cNvSpPr>
          <p:nvPr/>
        </p:nvSpPr>
        <p:spPr>
          <a:xfrm xmlns:a="http://schemas.openxmlformats.org/drawingml/2006/main">
            <a:off x="800100" y="4895850"/>
            <a:ext cx="952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45516A"/>
                </a:solidFill>
                <a:latin typeface="Arial"/>
                <a:ea typeface="Arial"/>
                <a:cs typeface="Arial"/>
              </a:defRPr>
            </a:pPr>
            <a:r>
              <a:rPr sz="2400" b="0">
                <a:solidFill>
                  <a:srgbClr val="45516A"/>
                </a:solidFill>
                <a:latin typeface="Arial"/>
                <a:ea typeface="Arial"/>
                <a:cs typeface="Arial"/>
              </a:rPr>
              <a:t>Con permisos, datos persistentes</a:t>
            </a:r>
          </a:p>
          <a:p xmlns:a="http://schemas.openxmlformats.org/drawingml/2006/main">
            <a:pPr>
              <a:buNone/>
              <a:defRPr sz="2400" b="0">
                <a:solidFill>
                  <a:srgbClr val="45516A"/>
                </a:solidFill>
                <a:latin typeface="Arial"/>
                <a:ea typeface="Arial"/>
                <a:cs typeface="Arial"/>
              </a:defRPr>
            </a:pPr>
            <a:r>
              <a:rPr sz="2400" b="0">
                <a:solidFill>
                  <a:srgbClr val="45516A"/>
                </a:solidFill>
                <a:latin typeface="Arial"/>
                <a:ea typeface="Arial"/>
                <a:cs typeface="Arial"/>
              </a:rPr>
              <a:t>y notificaciones.</a:t>
            </a:r>
          </a:p>
        </p:txBody>
      </p:sp>
    </p:spTree>
    <p:extLst>
      <p:ext uri="{BB962C8B-B14F-4D97-AF65-F5344CB8AC3E}">
        <p14:creationId xmlns:p14="http://schemas.microsoft.com/office/powerpoint/2010/main" val="287738666"/>
      </p:ext>
    </p:extLst>
  </p:cSld>
</p:sld>
</file>

<file path=ppt/slides/slide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5" name="Learning title">
            <a:extLst xmlns:a="http://schemas.openxmlformats.org/drawingml/2006/main">
              <a:ext uri="{FF2B5EF4-FFF2-40B4-BE49-F238E27FC236}">
                <a16:creationId xmlns:a16="http://schemas.microsoft.com/office/drawing/2014/main" id="{FEA93AC5-2969-4FA8-B475-0E875D45C2C4}"/>
              </a:ext>
            </a:extLst>
          </p:cNvPr>
          <p:cNvSpPr>
            <a:spLocks xmlns:a="http://schemas.openxmlformats.org/drawingml/2006/main" noGrp="1"/>
          </p:cNvSpPr>
          <p:nvPr/>
        </p:nvSpPr>
        <p:spPr>
          <a:xfrm xmlns:a="http://schemas.openxmlformats.org/drawingml/2006/main">
            <a:off x="762000" y="7810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1">
                <a:solidFill>
                  <a:srgbClr val="FFFFFF"/>
                </a:solidFill>
                <a:latin typeface="Arial"/>
                <a:ea typeface="Arial"/>
                <a:cs typeface="Arial"/>
              </a:defRPr>
            </a:pPr>
            <a:r>
              <a:rPr sz="4350" b="1">
                <a:solidFill>
                  <a:srgbClr val="FFFFFF"/>
                </a:solidFill>
                <a:latin typeface="Arial"/>
                <a:ea typeface="Arial"/>
                <a:cs typeface="Arial"/>
              </a:rPr>
              <a:t>Cómo trabajaremos</a:t>
            </a:r>
          </a:p>
        </p:txBody>
      </p:sp>
      <p:sp>
        <p:nvSpPr>
          <p:cNvPr id="2" name="AI role">
            <a:extLst xmlns:a="http://schemas.openxmlformats.org/drawingml/2006/main">
              <a:ext uri="{FF2B5EF4-FFF2-40B4-BE49-F238E27FC236}">
                <a16:creationId xmlns:a16="http://schemas.microsoft.com/office/drawing/2014/main" id="{88F8262D-6D20-4E15-A221-9C01CE5123F1}"/>
              </a:ext>
            </a:extLst>
          </p:cNvPr>
          <p:cNvSpPr>
            <a:spLocks xmlns:a="http://schemas.openxmlformats.org/drawingml/2006/main" noGrp="1"/>
          </p:cNvSpPr>
          <p:nvPr/>
        </p:nvSpPr>
        <p:spPr>
          <a:xfrm xmlns:a="http://schemas.openxmlformats.org/drawingml/2006/main">
            <a:off x="762000" y="25812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0">
                <a:solidFill>
                  <a:srgbClr val="FFFFFF"/>
                </a:solidFill>
                <a:latin typeface="Arial"/>
                <a:ea typeface="Arial"/>
                <a:cs typeface="Arial"/>
              </a:defRPr>
            </a:pPr>
            <a:r>
              <a:rPr sz="4350" b="0">
                <a:solidFill>
                  <a:srgbClr val="FFFFFF"/>
                </a:solidFill>
                <a:latin typeface="Arial"/>
                <a:ea typeface="Arial"/>
                <a:cs typeface="Arial"/>
              </a:rPr>
              <a:t>Copilot propone.</a:t>
            </a:r>
          </a:p>
        </p:txBody>
      </p:sp>
      <p:sp>
        <p:nvSpPr>
          <p:cNvPr id="3" name="Student role">
            <a:extLst xmlns:a="http://schemas.openxmlformats.org/drawingml/2006/main">
              <a:ext uri="{FF2B5EF4-FFF2-40B4-BE49-F238E27FC236}">
                <a16:creationId xmlns:a16="http://schemas.microsoft.com/office/drawing/2014/main" id="{6608528B-A5C3-4E38-A9C6-52B6F3F52D06}"/>
              </a:ext>
            </a:extLst>
          </p:cNvPr>
          <p:cNvSpPr>
            <a:spLocks xmlns:a="http://schemas.openxmlformats.org/drawingml/2006/main" noGrp="1"/>
          </p:cNvSpPr>
          <p:nvPr/>
        </p:nvSpPr>
        <p:spPr>
          <a:xfrm xmlns:a="http://schemas.openxmlformats.org/drawingml/2006/main">
            <a:off x="762000"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1">
                <a:solidFill>
                  <a:srgbClr val="A7E2D7"/>
                </a:solidFill>
                <a:latin typeface="Arial"/>
                <a:ea typeface="Arial"/>
                <a:cs typeface="Arial"/>
              </a:defRPr>
            </a:pPr>
            <a:r>
              <a:rPr sz="4350" b="1">
                <a:solidFill>
                  <a:srgbClr val="A7E2D7"/>
                </a:solidFill>
                <a:latin typeface="Arial"/>
                <a:ea typeface="Arial"/>
                <a:cs typeface="Arial"/>
              </a:rPr>
              <a:t>Tú revisas y decides.</a:t>
            </a:r>
          </a:p>
        </p:txBody>
      </p:sp>
      <p:sp>
        <p:nvSpPr>
          <p:cNvPr id="4" name="Practice method">
            <a:extLst xmlns:a="http://schemas.openxmlformats.org/drawingml/2006/main">
              <a:ext uri="{FF2B5EF4-FFF2-40B4-BE49-F238E27FC236}">
                <a16:creationId xmlns:a16="http://schemas.microsoft.com/office/drawing/2014/main" id="{6DC115E9-A120-4596-AF54-96BCDCB990B2}"/>
              </a:ext>
            </a:extLst>
          </p:cNvPr>
          <p:cNvSpPr>
            <a:spLocks xmlns:a="http://schemas.openxmlformats.org/drawingml/2006/main" noGrp="1"/>
          </p:cNvSpPr>
          <p:nvPr/>
        </p:nvSpPr>
        <p:spPr>
          <a:xfrm xmlns:a="http://schemas.openxmlformats.org/drawingml/2006/main">
            <a:off x="800100" y="51339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Verás una demostración y practicarás en equipo.</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Probarás tu solución y explicarás tus decisiones.</a:t>
            </a:r>
          </a:p>
        </p:txBody>
      </p:sp>
    </p:spTree>
    <p:extLst>
      <p:ext uri="{BB962C8B-B14F-4D97-AF65-F5344CB8AC3E}">
        <p14:creationId xmlns:p14="http://schemas.microsoft.com/office/powerpoint/2010/main" val="1581674079"/>
      </p:ext>
    </p:extLst>
  </p:cSld>
</p:sld>
</file>

<file path=ppt/slides/slide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1634622E-9FE8-464E-ADBA-80F1392DCDF1}"/>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01</a:t>
            </a:r>
          </a:p>
        </p:txBody>
      </p:sp>
      <p:sp>
        <p:nvSpPr>
          <p:cNvPr id="3" name="Class title">
            <a:extLst xmlns:a="http://schemas.openxmlformats.org/drawingml/2006/main">
              <a:ext uri="{FF2B5EF4-FFF2-40B4-BE49-F238E27FC236}">
                <a16:creationId xmlns:a16="http://schemas.microsoft.com/office/drawing/2014/main" id="{4118A6EB-88B5-4E61-BDE4-E0BC55C181AB}"/>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Copilot y su contexto</a:t>
            </a:r>
          </a:p>
        </p:txBody>
      </p:sp>
      <p:sp>
        <p:nvSpPr>
          <p:cNvPr id="5" name="Learning outcome">
            <a:extLst xmlns:a="http://schemas.openxmlformats.org/drawingml/2006/main">
              <a:ext uri="{FF2B5EF4-FFF2-40B4-BE49-F238E27FC236}">
                <a16:creationId xmlns:a16="http://schemas.microsoft.com/office/drawing/2014/main" id="{A6BC4726-A934-4119-8C10-2AD922D8AE67}"/>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El harness: instrucciones y contexto</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guiar a la IA.</a:t>
            </a:r>
          </a:p>
        </p:txBody>
      </p:sp>
      <p:sp>
        <p:nvSpPr>
          <p:cNvPr id="7" name="Practice outcome">
            <a:extLst xmlns:a="http://schemas.openxmlformats.org/drawingml/2006/main">
              <a:ext uri="{FF2B5EF4-FFF2-40B4-BE49-F238E27FC236}">
                <a16:creationId xmlns:a16="http://schemas.microsoft.com/office/drawing/2014/main" id="{A05EA7BE-AB96-45CC-9889-15108446ACC4}"/>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Configurar Copilot para el proyecto</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comprobar sus propuestas.</a:t>
            </a:r>
          </a:p>
        </p:txBody>
      </p:sp>
      <p:sp>
        <p:nvSpPr>
          <p:cNvPr id="9" name="Module context">
            <a:extLst xmlns:a="http://schemas.openxmlformats.org/drawingml/2006/main">
              <a:ext uri="{FF2B5EF4-FFF2-40B4-BE49-F238E27FC236}">
                <a16:creationId xmlns:a16="http://schemas.microsoft.com/office/drawing/2014/main" id="{69799330-5E82-4C8B-A956-2338C955AADC}"/>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Copilot necesita conocer las reglas del proyecto.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Ese contexto ayuda a proponer cambios que podamos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revisar y comprobar.</a:t>
            </a:r>
          </a:p>
        </p:txBody>
      </p:sp>
    </p:spTree>
    <p:extLst>
      <p:ext uri="{BB962C8B-B14F-4D97-AF65-F5344CB8AC3E}">
        <p14:creationId xmlns:p14="http://schemas.microsoft.com/office/powerpoint/2010/main" val="1010525158"/>
      </p:ext>
    </p:extLst>
  </p:cSld>
</p:sld>
</file>

<file path=ppt/slides/slide5.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9E5D23F9-7CB2-4F66-9974-A3178C25BB32}"/>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01</a:t>
            </a:r>
          </a:p>
        </p:txBody>
      </p:sp>
      <p:sp>
        <p:nvSpPr>
          <p:cNvPr id="2" name="Concept title">
            <a:extLst xmlns:a="http://schemas.openxmlformats.org/drawingml/2006/main">
              <a:ext uri="{FF2B5EF4-FFF2-40B4-BE49-F238E27FC236}">
                <a16:creationId xmlns:a16="http://schemas.microsoft.com/office/drawing/2014/main" id="{B2A5BC60-7C9F-4986-8635-C6C996C9DBAA}"/>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IA, prompts y harness</a:t>
            </a:r>
          </a:p>
        </p:txBody>
      </p:sp>
      <p:sp>
        <p:nvSpPr>
          <p:cNvPr id="3" name="Concept definition">
            <a:extLst xmlns:a="http://schemas.openxmlformats.org/drawingml/2006/main">
              <a:ext uri="{FF2B5EF4-FFF2-40B4-BE49-F238E27FC236}">
                <a16:creationId xmlns:a16="http://schemas.microsoft.com/office/drawing/2014/main" id="{619C5438-46E5-44FF-B537-DF57F5622B8B}"/>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IA = inteligencia artificial. Copilot propone código a partir</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del contexto que recibe. Un prompt es una petición con</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una tarea y un resultado esperado.</a:t>
            </a:r>
          </a:p>
        </p:txBody>
      </p:sp>
      <p:sp>
        <p:nvSpPr>
          <p:cNvPr id="4" name="Concept explanation">
            <a:extLst xmlns:a="http://schemas.openxmlformats.org/drawingml/2006/main">
              <a:ext uri="{FF2B5EF4-FFF2-40B4-BE49-F238E27FC236}">
                <a16:creationId xmlns:a16="http://schemas.microsoft.com/office/drawing/2014/main" id="{71F26511-620F-4527-A9DB-D8AA16F420CB}"/>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El harness reúne instrucciones, archivos relevantes,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herramientas y verificaciones. Las instrucciones orientan</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la respuesta. Las pruebas ayudan a comprobar el código.</a:t>
            </a:r>
          </a:p>
        </p:txBody>
      </p:sp>
      <p:sp>
        <p:nvSpPr>
          <p:cNvPr id="5" name="Concept example label">
            <a:extLst xmlns:a="http://schemas.openxmlformats.org/drawingml/2006/main">
              <a:ext uri="{FF2B5EF4-FFF2-40B4-BE49-F238E27FC236}">
                <a16:creationId xmlns:a16="http://schemas.microsoft.com/office/drawing/2014/main" id="{6E47DB28-6936-4956-B024-566BFF0C300A}"/>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CB1D6470-EF30-4321-AD3F-50A0B89B574C}"/>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Adjuntamos Product.cs y pedimos pruebas para precios inválidos.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Revisamos el código propuesto y ejecutamos esas pruebas.</a:t>
            </a:r>
          </a:p>
        </p:txBody>
      </p:sp>
    </p:spTree>
    <p:extLst>
      <p:ext uri="{BB962C8B-B14F-4D97-AF65-F5344CB8AC3E}">
        <p14:creationId xmlns:p14="http://schemas.microsoft.com/office/powerpoint/2010/main" val="576954182"/>
      </p:ext>
    </p:extLst>
  </p:cSld>
</p:sld>
</file>

<file path=ppt/slides/slide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DD29C8F4-D4F4-46DC-B770-B68986F99C7F}"/>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02</a:t>
            </a:r>
          </a:p>
        </p:txBody>
      </p:sp>
      <p:sp>
        <p:nvSpPr>
          <p:cNvPr id="3" name="Class title">
            <a:extLst xmlns:a="http://schemas.openxmlformats.org/drawingml/2006/main">
              <a:ext uri="{FF2B5EF4-FFF2-40B4-BE49-F238E27FC236}">
                <a16:creationId xmlns:a16="http://schemas.microsoft.com/office/drawing/2014/main" id="{797B655C-02C1-4FA7-9570-A7E5CC51C023}"/>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Arquitectura</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por capas</a:t>
            </a:r>
          </a:p>
        </p:txBody>
      </p:sp>
      <p:sp>
        <p:nvSpPr>
          <p:cNvPr id="5" name="Learning outcome">
            <a:extLst xmlns:a="http://schemas.openxmlformats.org/drawingml/2006/main">
              <a:ext uri="{FF2B5EF4-FFF2-40B4-BE49-F238E27FC236}">
                <a16:creationId xmlns:a16="http://schemas.microsoft.com/office/drawing/2014/main" id="{ED351AAF-C452-47FA-8A7A-44232C55D438}"/>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Clean Architecture y SOLID</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separar responsabilidades.</a:t>
            </a:r>
          </a:p>
        </p:txBody>
      </p:sp>
      <p:sp>
        <p:nvSpPr>
          <p:cNvPr id="7" name="Practice outcome">
            <a:extLst xmlns:a="http://schemas.openxmlformats.org/drawingml/2006/main">
              <a:ext uri="{FF2B5EF4-FFF2-40B4-BE49-F238E27FC236}">
                <a16:creationId xmlns:a16="http://schemas.microsoft.com/office/drawing/2014/main" id="{870FA262-B106-4237-8BD7-AA638421AC68}"/>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Definir reglas de negocio</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organizar las dependencias.</a:t>
            </a:r>
          </a:p>
        </p:txBody>
      </p:sp>
      <p:sp>
        <p:nvSpPr>
          <p:cNvPr id="9" name="Module context">
            <a:extLst xmlns:a="http://schemas.openxmlformats.org/drawingml/2006/main">
              <a:ext uri="{FF2B5EF4-FFF2-40B4-BE49-F238E27FC236}">
                <a16:creationId xmlns:a16="http://schemas.microsoft.com/office/drawing/2014/main" id="{F702F046-4E20-4413-AB42-B8E79BD0EE4F}"/>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Cada capa tiene una responsabilidad. Cambiar la base</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 datos no obliga a reescribir las reglas de pedidos.</a:t>
            </a:r>
          </a:p>
        </p:txBody>
      </p:sp>
    </p:spTree>
    <p:extLst>
      <p:ext uri="{BB962C8B-B14F-4D97-AF65-F5344CB8AC3E}">
        <p14:creationId xmlns:p14="http://schemas.microsoft.com/office/powerpoint/2010/main" val="1515387503"/>
      </p:ext>
    </p:extLst>
  </p:cSld>
</p:sld>
</file>

<file path=ppt/slides/slide7.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438DCDD8-BE97-44B3-A5AF-C30FA37B6CF5}"/>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02</a:t>
            </a:r>
          </a:p>
        </p:txBody>
      </p:sp>
      <p:sp>
        <p:nvSpPr>
          <p:cNvPr id="2" name="Concept title">
            <a:extLst xmlns:a="http://schemas.openxmlformats.org/drawingml/2006/main">
              <a:ext uri="{FF2B5EF4-FFF2-40B4-BE49-F238E27FC236}">
                <a16:creationId xmlns:a16="http://schemas.microsoft.com/office/drawing/2014/main" id="{40FB4A58-850A-4910-9CEB-18BBB78CAFA6}"/>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Capas, SOLID y dependencias</a:t>
            </a:r>
          </a:p>
        </p:txBody>
      </p:sp>
      <p:sp>
        <p:nvSpPr>
          <p:cNvPr id="3" name="Concept definition">
            <a:extLst xmlns:a="http://schemas.openxmlformats.org/drawingml/2006/main">
              <a:ext uri="{FF2B5EF4-FFF2-40B4-BE49-F238E27FC236}">
                <a16:creationId xmlns:a16="http://schemas.microsoft.com/office/drawing/2014/main" id="{A949B927-2EAD-4864-8041-AB718595E689}"/>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Clean Architecture separa el negocio de los detalles técnicos.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DI = Dependency Injection, o inyección de dependencias: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una clase recibe los colaboradores que necesita.</a:t>
            </a:r>
          </a:p>
        </p:txBody>
      </p:sp>
      <p:sp>
        <p:nvSpPr>
          <p:cNvPr id="4" name="Concept explanation">
            <a:extLst xmlns:a="http://schemas.openxmlformats.org/drawingml/2006/main">
              <a:ext uri="{FF2B5EF4-FFF2-40B4-BE49-F238E27FC236}">
                <a16:creationId xmlns:a16="http://schemas.microsoft.com/office/drawing/2014/main" id="{7E75AC0F-9867-46D7-8433-2AE27C6BEB0D}"/>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SOLID reúne cinco principios: responsabilidad única,</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abierto/cerrado, sustitución de Liskov, segregación</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de interfaces e inversión de dependencias.</a:t>
            </a:r>
          </a:p>
        </p:txBody>
      </p:sp>
      <p:sp>
        <p:nvSpPr>
          <p:cNvPr id="5" name="Concept example label">
            <a:extLst xmlns:a="http://schemas.openxmlformats.org/drawingml/2006/main">
              <a:ext uri="{FF2B5EF4-FFF2-40B4-BE49-F238E27FC236}">
                <a16:creationId xmlns:a16="http://schemas.microsoft.com/office/drawing/2014/main" id="{87A37B44-56D4-48A3-A9AA-59F9F2776DEC}"/>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50BB859D-FB5C-440E-91AC-B85001998404}"/>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Order valida las reglas del pedido. El repositorio guarda datos.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El dominio conserva sus reglas al cambiar SQLite por SQL Server.</a:t>
            </a:r>
          </a:p>
        </p:txBody>
      </p:sp>
    </p:spTree>
    <p:extLst>
      <p:ext uri="{BB962C8B-B14F-4D97-AF65-F5344CB8AC3E}">
        <p14:creationId xmlns:p14="http://schemas.microsoft.com/office/powerpoint/2010/main" val="278688536"/>
      </p:ext>
    </p:extLst>
  </p:cSld>
</p:sld>
</file>

<file path=ppt/slides/slide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6B5E4269-4AC6-4516-B88D-59315AECD7FA}"/>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03</a:t>
            </a:r>
          </a:p>
        </p:txBody>
      </p:sp>
      <p:sp>
        <p:nvSpPr>
          <p:cNvPr id="3" name="Class title">
            <a:extLst xmlns:a="http://schemas.openxmlformats.org/drawingml/2006/main">
              <a:ext uri="{FF2B5EF4-FFF2-40B4-BE49-F238E27FC236}">
                <a16:creationId xmlns:a16="http://schemas.microsoft.com/office/drawing/2014/main" id="{B0A38C35-1A67-42E7-9FAA-4DFA4FA7DF4E}"/>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Patrones</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repositorios</a:t>
            </a:r>
          </a:p>
        </p:txBody>
      </p:sp>
      <p:sp>
        <p:nvSpPr>
          <p:cNvPr id="5" name="Learning outcome">
            <a:extLst xmlns:a="http://schemas.openxmlformats.org/drawingml/2006/main">
              <a:ext uri="{FF2B5EF4-FFF2-40B4-BE49-F238E27FC236}">
                <a16:creationId xmlns:a16="http://schemas.microsoft.com/office/drawing/2014/main" id="{801B3F05-114B-4BAE-89B8-C81710791C48}"/>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organizar consultas, cambios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y acceso a datos.</a:t>
            </a:r>
          </a:p>
        </p:txBody>
      </p:sp>
      <p:sp>
        <p:nvSpPr>
          <p:cNvPr id="7" name="Practice outcome">
            <a:extLst xmlns:a="http://schemas.openxmlformats.org/drawingml/2006/main">
              <a:ext uri="{FF2B5EF4-FFF2-40B4-BE49-F238E27FC236}">
                <a16:creationId xmlns:a16="http://schemas.microsoft.com/office/drawing/2014/main" id="{388C8D6C-5317-4311-8F9E-7C29710A37C5}"/>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un repositorio reutilizable</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 IRepository&lt;T&gt;.</a:t>
            </a:r>
          </a:p>
        </p:txBody>
      </p:sp>
      <p:sp>
        <p:nvSpPr>
          <p:cNvPr id="9" name="Module context">
            <a:extLst xmlns:a="http://schemas.openxmlformats.org/drawingml/2006/main">
              <a:ext uri="{FF2B5EF4-FFF2-40B4-BE49-F238E27FC236}">
                <a16:creationId xmlns:a16="http://schemas.microsoft.com/office/drawing/2014/main" id="{9B268182-1117-4128-B1FD-AA3C8606662B}"/>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Los patrones resuelven problemas frecuentes.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 repositorio permite trabajar con productos y pedidos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sin depender de cómo se guardan.</a:t>
            </a:r>
          </a:p>
        </p:txBody>
      </p:sp>
    </p:spTree>
    <p:extLst>
      <p:ext uri="{BB962C8B-B14F-4D97-AF65-F5344CB8AC3E}">
        <p14:creationId xmlns:p14="http://schemas.microsoft.com/office/powerpoint/2010/main" val="1746648860"/>
      </p:ext>
    </p:extLst>
  </p:cSld>
</p:sld>
</file>

<file path=ppt/slides/slide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BB633B22-579A-40DE-B9B8-DA0985DD2172}"/>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03</a:t>
            </a:r>
          </a:p>
        </p:txBody>
      </p:sp>
      <p:sp>
        <p:nvSpPr>
          <p:cNvPr id="2" name="Concept title">
            <a:extLst xmlns:a="http://schemas.openxmlformats.org/drawingml/2006/main">
              <a:ext uri="{FF2B5EF4-FFF2-40B4-BE49-F238E27FC236}">
                <a16:creationId xmlns:a16="http://schemas.microsoft.com/office/drawing/2014/main" id="{BAAB9697-A66A-464D-8DD0-2D5969A07789}"/>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Repository, CQRS y Mediator</a:t>
            </a:r>
          </a:p>
        </p:txBody>
      </p:sp>
      <p:sp>
        <p:nvSpPr>
          <p:cNvPr id="3" name="Concept definition">
            <a:extLst xmlns:a="http://schemas.openxmlformats.org/drawingml/2006/main">
              <a:ext uri="{FF2B5EF4-FFF2-40B4-BE49-F238E27FC236}">
                <a16:creationId xmlns:a16="http://schemas.microsoft.com/office/drawing/2014/main" id="{F06D213A-2B6C-424E-B074-316F4BA78761}"/>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Repository separa el acceso a datos del negocio.</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En IRepository&lt;T&gt;, T indica el tipo de entidad: Product u Order.</a:t>
            </a:r>
          </a:p>
        </p:txBody>
      </p:sp>
      <p:sp>
        <p:nvSpPr>
          <p:cNvPr id="4" name="Concept explanation">
            <a:extLst xmlns:a="http://schemas.openxmlformats.org/drawingml/2006/main">
              <a:ext uri="{FF2B5EF4-FFF2-40B4-BE49-F238E27FC236}">
                <a16:creationId xmlns:a16="http://schemas.microsoft.com/office/drawing/2014/main" id="{2D9AFCCD-6816-4601-8DFD-20B37EFC0FCB}"/>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CQRS = Command Query Responsibility Segregation:</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separar consultas y cambios. Mediator dirige cada solicitud</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al manejador que ejecuta el caso de uso.</a:t>
            </a:r>
          </a:p>
        </p:txBody>
      </p:sp>
      <p:sp>
        <p:nvSpPr>
          <p:cNvPr id="5" name="Concept example label">
            <a:extLst xmlns:a="http://schemas.openxmlformats.org/drawingml/2006/main">
              <a:ext uri="{FF2B5EF4-FFF2-40B4-BE49-F238E27FC236}">
                <a16:creationId xmlns:a16="http://schemas.microsoft.com/office/drawing/2014/main" id="{F0D420C9-B0DF-4072-80C4-171E795FC1A5}"/>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DDB4690-4990-491B-9070-7C5FFF4EC155}"/>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Crear un pedido es un comando. Consultarlo es una consulta.</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El repositorio carga datos y la unidad de trabajo los guarda.</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En este curso usamos una sola base de datos.</a:t>
            </a:r>
          </a:p>
        </p:txBody>
      </p:sp>
    </p:spTree>
    <p:extLst>
      <p:ext uri="{BB962C8B-B14F-4D97-AF65-F5344CB8AC3E}">
        <p14:creationId xmlns:p14="http://schemas.microsoft.com/office/powerpoint/2010/main" val="2116411288"/>
      </p:ext>
    </p:extLst>
  </p:cSld>
</p:sld>
</file>

<file path=ppt/slides/slide10.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11475FDA-9604-47F5-8487-D569DB8209F0}"/>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04</a:t>
            </a:r>
          </a:p>
        </p:txBody>
      </p:sp>
      <p:sp>
        <p:nvSpPr>
          <p:cNvPr id="3" name="Class title">
            <a:extLst xmlns:a="http://schemas.openxmlformats.org/drawingml/2006/main">
              <a:ext uri="{FF2B5EF4-FFF2-40B4-BE49-F238E27FC236}">
                <a16:creationId xmlns:a16="http://schemas.microsoft.com/office/drawing/2014/main" id="{DBF0EBC2-9690-4C05-BD64-7FD4E356D1E6}"/>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API y contratos</a:t>
            </a:r>
          </a:p>
        </p:txBody>
      </p:sp>
      <p:sp>
        <p:nvSpPr>
          <p:cNvPr id="5" name="Learning outcome">
            <a:extLst xmlns:a="http://schemas.openxmlformats.org/drawingml/2006/main">
              <a:ext uri="{FF2B5EF4-FFF2-40B4-BE49-F238E27FC236}">
                <a16:creationId xmlns:a16="http://schemas.microsoft.com/office/drawing/2014/main" id="{8240C012-6631-479E-842D-0A4CC1CADC75}"/>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Peticiones y respuestas claras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entre aplicaciones.</a:t>
            </a:r>
          </a:p>
        </p:txBody>
      </p:sp>
      <p:sp>
        <p:nvSpPr>
          <p:cNvPr id="7" name="Practice outcome">
            <a:extLst xmlns:a="http://schemas.openxmlformats.org/drawingml/2006/main">
              <a:ext uri="{FF2B5EF4-FFF2-40B4-BE49-F238E27FC236}">
                <a16:creationId xmlns:a16="http://schemas.microsoft.com/office/drawing/2014/main" id="{737089ED-5143-40A7-BDB1-D7DD87BC5E4B}"/>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rutas, validar entradas</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documentar errores con OpenAPI.</a:t>
            </a:r>
          </a:p>
        </p:txBody>
      </p:sp>
      <p:sp>
        <p:nvSpPr>
          <p:cNvPr id="9" name="Module context">
            <a:extLst xmlns:a="http://schemas.openxmlformats.org/drawingml/2006/main">
              <a:ext uri="{FF2B5EF4-FFF2-40B4-BE49-F238E27FC236}">
                <a16:creationId xmlns:a16="http://schemas.microsoft.com/office/drawing/2014/main" id="{320223D1-B857-4632-B2C3-62984DA30488}"/>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API es la puerta de entrada de la aplicación.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Define qué pueden solicitar otros sistemas y cómo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recibirán resultados o errores.</a:t>
            </a:r>
          </a:p>
        </p:txBody>
      </p:sp>
    </p:spTree>
    <p:extLst>
      <p:ext uri="{BB962C8B-B14F-4D97-AF65-F5344CB8AC3E}">
        <p14:creationId xmlns:p14="http://schemas.microsoft.com/office/powerpoint/2010/main" val="10906725"/>
      </p:ext>
    </p:extLst>
  </p:cSld>
</p:sld>
</file>

<file path=ppt/slides/slide1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380BDF16-602F-4D33-882D-E582E75C2999}"/>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04</a:t>
            </a:r>
          </a:p>
        </p:txBody>
      </p:sp>
      <p:sp>
        <p:nvSpPr>
          <p:cNvPr id="2" name="Concept title">
            <a:extLst xmlns:a="http://schemas.openxmlformats.org/drawingml/2006/main">
              <a:ext uri="{FF2B5EF4-FFF2-40B4-BE49-F238E27FC236}">
                <a16:creationId xmlns:a16="http://schemas.microsoft.com/office/drawing/2014/main" id="{71AAF27D-BA5A-424D-B6D5-6B7914AB9E70}"/>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El lenguaje de una API</a:t>
            </a:r>
          </a:p>
        </p:txBody>
      </p:sp>
      <p:sp>
        <p:nvSpPr>
          <p:cNvPr id="3" name="Concept definition">
            <a:extLst xmlns:a="http://schemas.openxmlformats.org/drawingml/2006/main">
              <a:ext uri="{FF2B5EF4-FFF2-40B4-BE49-F238E27FC236}">
                <a16:creationId xmlns:a16="http://schemas.microsoft.com/office/drawing/2014/main" id="{6A1BC899-EDA8-4316-A00C-9967025B79D6}"/>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API = Application Programming Interface:</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 contrato para que dos programas se comuniquen.</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DTO = Data Transfer Object: los datos que intercambian.</a:t>
            </a:r>
          </a:p>
        </p:txBody>
      </p:sp>
      <p:sp>
        <p:nvSpPr>
          <p:cNvPr id="4" name="Concept explanation">
            <a:extLst xmlns:a="http://schemas.openxmlformats.org/drawingml/2006/main">
              <a:ext uri="{FF2B5EF4-FFF2-40B4-BE49-F238E27FC236}">
                <a16:creationId xmlns:a16="http://schemas.microsoft.com/office/drawing/2014/main" id="{9B3722E0-E78D-4790-A2EB-149C5C3B3C24}"/>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REST = Representational State Transfer: estilo basado en recursos.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OpenAPI describe rutas, entradas y respuestas.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Swagger UI permite explorar la documentación y probar la API.</a:t>
            </a:r>
          </a:p>
        </p:txBody>
      </p:sp>
      <p:sp>
        <p:nvSpPr>
          <p:cNvPr id="5" name="Concept example label">
            <a:extLst xmlns:a="http://schemas.openxmlformats.org/drawingml/2006/main">
              <a:ext uri="{FF2B5EF4-FFF2-40B4-BE49-F238E27FC236}">
                <a16:creationId xmlns:a16="http://schemas.microsoft.com/office/drawing/2014/main" id="{9432098E-C0B8-4DA8-A71A-A21CBE131E36}"/>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9A326AF1-AF79-4129-B4B3-A51CBF482BE7}"/>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POST /api/v1/products crea un producto y devuelve 201 (creado).</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Consultar un producto inexistente devuelve 404 (no encontrado).</a:t>
            </a:r>
          </a:p>
        </p:txBody>
      </p:sp>
    </p:spTree>
    <p:extLst>
      <p:ext uri="{BB962C8B-B14F-4D97-AF65-F5344CB8AC3E}">
        <p14:creationId xmlns:p14="http://schemas.microsoft.com/office/powerpoint/2010/main" val="1476417388"/>
      </p:ext>
    </p:extLst>
  </p:cSld>
</p:sld>
</file>

<file path=ppt/slides/slide1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099DEBAA-3FC9-4BC6-9F7D-003BBDC1478C}"/>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05</a:t>
            </a:r>
          </a:p>
        </p:txBody>
      </p:sp>
      <p:sp>
        <p:nvSpPr>
          <p:cNvPr id="3" name="Class title">
            <a:extLst xmlns:a="http://schemas.openxmlformats.org/drawingml/2006/main">
              <a:ext uri="{FF2B5EF4-FFF2-40B4-BE49-F238E27FC236}">
                <a16:creationId xmlns:a16="http://schemas.microsoft.com/office/drawing/2014/main" id="{96576AAE-DBCC-460D-86BE-A0200F412607}"/>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Datos con EF Core</a:t>
            </a:r>
          </a:p>
        </p:txBody>
      </p:sp>
      <p:sp>
        <p:nvSpPr>
          <p:cNvPr id="5" name="Learning outcome">
            <a:extLst xmlns:a="http://schemas.openxmlformats.org/drawingml/2006/main">
              <a:ext uri="{FF2B5EF4-FFF2-40B4-BE49-F238E27FC236}">
                <a16:creationId xmlns:a16="http://schemas.microsoft.com/office/drawing/2014/main" id="{1B882379-1090-412A-BD58-E8ACD9D3CB42}"/>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guardar datos y evolucionar</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la base mediante migraciones.</a:t>
            </a:r>
          </a:p>
        </p:txBody>
      </p:sp>
      <p:sp>
        <p:nvSpPr>
          <p:cNvPr id="7" name="Practice outcome">
            <a:extLst xmlns:a="http://schemas.openxmlformats.org/drawingml/2006/main">
              <a:ext uri="{FF2B5EF4-FFF2-40B4-BE49-F238E27FC236}">
                <a16:creationId xmlns:a16="http://schemas.microsoft.com/office/drawing/2014/main" id="{E21DA0C0-4399-4741-8659-670EED9F032C}"/>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relaciones, optimizar consultas</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registrar cambios.</a:t>
            </a:r>
          </a:p>
        </p:txBody>
      </p:sp>
      <p:sp>
        <p:nvSpPr>
          <p:cNvPr id="9" name="Module context">
            <a:extLst xmlns:a="http://schemas.openxmlformats.org/drawingml/2006/main">
              <a:ext uri="{FF2B5EF4-FFF2-40B4-BE49-F238E27FC236}">
                <a16:creationId xmlns:a16="http://schemas.microsoft.com/office/drawing/2014/main" id="{C7C1FA40-2050-4A2B-BAC7-A2513D23DE77}"/>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EF Core conecta el código con la base de datos.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Las migraciones permiten cambiar su estructura</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 forma controlada.</a:t>
            </a:r>
          </a:p>
        </p:txBody>
      </p:sp>
    </p:spTree>
    <p:extLst>
      <p:ext uri="{BB962C8B-B14F-4D97-AF65-F5344CB8AC3E}">
        <p14:creationId xmlns:p14="http://schemas.microsoft.com/office/powerpoint/2010/main" val="249054924"/>
      </p:ext>
    </p:extLst>
  </p:cSld>
</p:sld>
</file>

<file path=ppt/slides/slide1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74FCF27F-4448-415D-A815-4F2041E99B27}"/>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05</a:t>
            </a:r>
          </a:p>
        </p:txBody>
      </p:sp>
      <p:sp>
        <p:nvSpPr>
          <p:cNvPr id="2" name="Concept title">
            <a:extLst xmlns:a="http://schemas.openxmlformats.org/drawingml/2006/main">
              <a:ext uri="{FF2B5EF4-FFF2-40B4-BE49-F238E27FC236}">
                <a16:creationId xmlns:a16="http://schemas.microsoft.com/office/drawing/2014/main" id="{107D82A4-4124-43EC-BF3C-6ACC2428B7E0}"/>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EF Core y el ORM</a:t>
            </a:r>
          </a:p>
        </p:txBody>
      </p:sp>
      <p:sp>
        <p:nvSpPr>
          <p:cNvPr id="3" name="Concept definition">
            <a:extLst xmlns:a="http://schemas.openxmlformats.org/drawingml/2006/main">
              <a:ext uri="{FF2B5EF4-FFF2-40B4-BE49-F238E27FC236}">
                <a16:creationId xmlns:a16="http://schemas.microsoft.com/office/drawing/2014/main" id="{DE5BF63C-B0ED-42D1-92AE-951CFCCDBD0D}"/>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EF Core significa Entity Framework Core.</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Es un ORM: Object-Relational Mapping,</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o mapeo objeto-relacional.</a:t>
            </a:r>
          </a:p>
        </p:txBody>
      </p:sp>
      <p:sp>
        <p:nvSpPr>
          <p:cNvPr id="4" name="Concept explanation">
            <a:extLst xmlns:a="http://schemas.openxmlformats.org/drawingml/2006/main">
              <a:ext uri="{FF2B5EF4-FFF2-40B4-BE49-F238E27FC236}">
                <a16:creationId xmlns:a16="http://schemas.microsoft.com/office/drawing/2014/main" id="{002447EC-DAD6-4549-962E-1E5DD499D490}"/>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Relaciona objetos de C# con tablas y genera SQL para leer</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y guardar datos. DbContext coordina el acceso y los cambios.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Una migración registra un cambio en la estructura de la base.</a:t>
            </a:r>
          </a:p>
        </p:txBody>
      </p:sp>
      <p:sp>
        <p:nvSpPr>
          <p:cNvPr id="5" name="Concept example label">
            <a:extLst xmlns:a="http://schemas.openxmlformats.org/drawingml/2006/main">
              <a:ext uri="{FF2B5EF4-FFF2-40B4-BE49-F238E27FC236}">
                <a16:creationId xmlns:a16="http://schemas.microsoft.com/office/drawing/2014/main" id="{A2685A51-772A-425D-8E08-4F2DD2DAE621}"/>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7660ABD7-3CBE-40E0-81A3-10C4F70F06FD}"/>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Un objeto Product se guarda como una fila de Products.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Al llamar a SaveChangesAsync, EF Core genera el INSERT</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que guarda el nuevo producto.</a:t>
            </a:r>
          </a:p>
        </p:txBody>
      </p:sp>
    </p:spTree>
    <p:extLst>
      <p:ext uri="{BB962C8B-B14F-4D97-AF65-F5344CB8AC3E}">
        <p14:creationId xmlns:p14="http://schemas.microsoft.com/office/powerpoint/2010/main" val="538667788"/>
      </p:ext>
    </p:extLst>
  </p:cSld>
</p:sld>
</file>

<file path=ppt/slides/slide1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41580874-D747-4C55-AFD8-FDEAF31AC483}"/>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06</a:t>
            </a:r>
          </a:p>
        </p:txBody>
      </p:sp>
      <p:sp>
        <p:nvSpPr>
          <p:cNvPr id="3" name="Class title">
            <a:extLst xmlns:a="http://schemas.openxmlformats.org/drawingml/2006/main">
              <a:ext uri="{FF2B5EF4-FFF2-40B4-BE49-F238E27FC236}">
                <a16:creationId xmlns:a16="http://schemas.microsoft.com/office/drawing/2014/main" id="{BE80DB4A-6237-452D-AA4B-CD2EA89D58FE}"/>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Seguridad</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permisos</a:t>
            </a:r>
          </a:p>
        </p:txBody>
      </p:sp>
      <p:sp>
        <p:nvSpPr>
          <p:cNvPr id="5" name="Learning outcome">
            <a:extLst xmlns:a="http://schemas.openxmlformats.org/drawingml/2006/main">
              <a:ext uri="{FF2B5EF4-FFF2-40B4-BE49-F238E27FC236}">
                <a16:creationId xmlns:a16="http://schemas.microsoft.com/office/drawing/2014/main" id="{AA67A093-ED6F-4CFB-B7CD-46926AA1F5B0}"/>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Tokens JWT y reglas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proteger el acceso.</a:t>
            </a:r>
          </a:p>
        </p:txBody>
      </p:sp>
      <p:sp>
        <p:nvSpPr>
          <p:cNvPr id="7" name="Practice outcome">
            <a:extLst xmlns:a="http://schemas.openxmlformats.org/drawingml/2006/main">
              <a:ext uri="{FF2B5EF4-FFF2-40B4-BE49-F238E27FC236}">
                <a16:creationId xmlns:a16="http://schemas.microsoft.com/office/drawing/2014/main" id="{786E7889-3892-400D-8AE8-BB13D7F034AD}"/>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Controlar quién puede consultar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o modificar cada pedido.</a:t>
            </a:r>
          </a:p>
        </p:txBody>
      </p:sp>
      <p:sp>
        <p:nvSpPr>
          <p:cNvPr id="9" name="Module context">
            <a:extLst xmlns:a="http://schemas.openxmlformats.org/drawingml/2006/main">
              <a:ext uri="{FF2B5EF4-FFF2-40B4-BE49-F238E27FC236}">
                <a16:creationId xmlns:a16="http://schemas.microsoft.com/office/drawing/2014/main" id="{16A341A1-90D9-48A4-B3AA-6BE5443CC4F1}"/>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autenticación identifica al usuario. Los permisos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definen qué puede hacer. En AulaPedidos también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comprobamos a quién pertenece cada pedido.</a:t>
            </a:r>
          </a:p>
        </p:txBody>
      </p:sp>
    </p:spTree>
    <p:extLst>
      <p:ext uri="{BB962C8B-B14F-4D97-AF65-F5344CB8AC3E}">
        <p14:creationId xmlns:p14="http://schemas.microsoft.com/office/powerpoint/2010/main" val="1889825276"/>
      </p:ext>
    </p:extLst>
  </p:cSld>
</p:sld>
</file>

<file path=ppt/slides/slide15.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18FB775D-5C9F-4CBB-BC76-352EA1747BD6}"/>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06</a:t>
            </a:r>
          </a:p>
        </p:txBody>
      </p:sp>
      <p:sp>
        <p:nvSpPr>
          <p:cNvPr id="2" name="Concept title">
            <a:extLst xmlns:a="http://schemas.openxmlformats.org/drawingml/2006/main">
              <a:ext uri="{FF2B5EF4-FFF2-40B4-BE49-F238E27FC236}">
                <a16:creationId xmlns:a16="http://schemas.microsoft.com/office/drawing/2014/main" id="{EBCCC933-11E3-4DB1-812C-8172FA76AD21}"/>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JWT y control de acceso</a:t>
            </a:r>
          </a:p>
        </p:txBody>
      </p:sp>
      <p:sp>
        <p:nvSpPr>
          <p:cNvPr id="3" name="Concept definition">
            <a:extLst xmlns:a="http://schemas.openxmlformats.org/drawingml/2006/main">
              <a:ext uri="{FF2B5EF4-FFF2-40B4-BE49-F238E27FC236}">
                <a16:creationId xmlns:a16="http://schemas.microsoft.com/office/drawing/2014/main" id="{722D9565-473C-4A68-9ED9-AD5C7E2399F5}"/>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JWT = JSON Web Token. Transporta datos de identidad y permisos.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La API valida su firma y vigencia. Su contenido puede leerse.</a:t>
            </a:r>
          </a:p>
        </p:txBody>
      </p:sp>
      <p:sp>
        <p:nvSpPr>
          <p:cNvPr id="4" name="Concept explanation">
            <a:extLst xmlns:a="http://schemas.openxmlformats.org/drawingml/2006/main">
              <a:ext uri="{FF2B5EF4-FFF2-40B4-BE49-F238E27FC236}">
                <a16:creationId xmlns:a16="http://schemas.microsoft.com/office/drawing/2014/main" id="{9730C6C2-54A6-46DE-BBE9-53821756B513}"/>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Autenticación: comprobar quién eres.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Autorización: decidir qué puedes hacer.</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También verificamos a quién pertenece cada pedido.</a:t>
            </a:r>
          </a:p>
        </p:txBody>
      </p:sp>
      <p:sp>
        <p:nvSpPr>
          <p:cNvPr id="5" name="Concept example label">
            <a:extLst xmlns:a="http://schemas.openxmlformats.org/drawingml/2006/main">
              <a:ext uri="{FF2B5EF4-FFF2-40B4-BE49-F238E27FC236}">
                <a16:creationId xmlns:a16="http://schemas.microsoft.com/office/drawing/2014/main" id="{90EAADC5-147E-4F8A-B79D-DDEE65A45868}"/>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1CC4221-611A-4256-963C-B4D578EE65D5}"/>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Ana puede consultar su pedido, pero no el de Luis.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Tener un token válido no da acceso a todos los pedidos.</a:t>
            </a:r>
          </a:p>
        </p:txBody>
      </p:sp>
    </p:spTree>
    <p:extLst>
      <p:ext uri="{BB962C8B-B14F-4D97-AF65-F5344CB8AC3E}">
        <p14:creationId xmlns:p14="http://schemas.microsoft.com/office/powerpoint/2010/main" val="1114228852"/>
      </p:ext>
    </p:extLst>
  </p:cSld>
</p:sld>
</file>

<file path=ppt/slides/slide1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8A6F5F96-85DC-49CC-A0F4-77EDF1ADCB4A}"/>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07</a:t>
            </a:r>
          </a:p>
        </p:txBody>
      </p:sp>
      <p:sp>
        <p:nvSpPr>
          <p:cNvPr id="3" name="Class title">
            <a:extLst xmlns:a="http://schemas.openxmlformats.org/drawingml/2006/main">
              <a:ext uri="{FF2B5EF4-FFF2-40B4-BE49-F238E27FC236}">
                <a16:creationId xmlns:a16="http://schemas.microsoft.com/office/drawing/2014/main" id="{5569EB11-8F95-46E0-8954-82D1917B4F3D}"/>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Calidad y pruebas</a:t>
            </a:r>
          </a:p>
        </p:txBody>
      </p:sp>
      <p:sp>
        <p:nvSpPr>
          <p:cNvPr id="5" name="Learning outcome">
            <a:extLst xmlns:a="http://schemas.openxmlformats.org/drawingml/2006/main">
              <a:ext uri="{FF2B5EF4-FFF2-40B4-BE49-F238E27FC236}">
                <a16:creationId xmlns:a16="http://schemas.microsoft.com/office/drawing/2014/main" id="{156C5A05-814C-4C5B-A00B-63FA619FB5CB}"/>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Pruebas unitarias y de integración</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detectar errores.</a:t>
            </a:r>
          </a:p>
        </p:txBody>
      </p:sp>
      <p:sp>
        <p:nvSpPr>
          <p:cNvPr id="7" name="Practice outcome">
            <a:extLst xmlns:a="http://schemas.openxmlformats.org/drawingml/2006/main">
              <a:ext uri="{FF2B5EF4-FFF2-40B4-BE49-F238E27FC236}">
                <a16:creationId xmlns:a16="http://schemas.microsoft.com/office/drawing/2014/main" id="{A396771D-6544-4E4D-BF75-545459297E5F}"/>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Verificar reglas y API.</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Mejorar código con pruebas que lo respalden.</a:t>
            </a:r>
          </a:p>
        </p:txBody>
      </p:sp>
      <p:sp>
        <p:nvSpPr>
          <p:cNvPr id="9" name="Module context">
            <a:extLst xmlns:a="http://schemas.openxmlformats.org/drawingml/2006/main">
              <a:ext uri="{FF2B5EF4-FFF2-40B4-BE49-F238E27FC236}">
                <a16:creationId xmlns:a16="http://schemas.microsoft.com/office/drawing/2014/main" id="{2ED2A792-6946-498C-B877-86F299CD762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Las pruebas comprueban el comportamiento esperado.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Al modificar código, ayudan a detectar si dañamos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una función que ya trabajaba correctamente.</a:t>
            </a:r>
          </a:p>
        </p:txBody>
      </p:sp>
    </p:spTree>
    <p:extLst>
      <p:ext uri="{BB962C8B-B14F-4D97-AF65-F5344CB8AC3E}">
        <p14:creationId xmlns:p14="http://schemas.microsoft.com/office/powerpoint/2010/main" val="1137106810"/>
      </p:ext>
    </p:extLst>
  </p:cSld>
</p:sld>
</file>

<file path=ppt/slides/slide17.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8CBD69E4-DD86-46A6-91A4-81FB5FC43E69}"/>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07</a:t>
            </a:r>
          </a:p>
        </p:txBody>
      </p:sp>
      <p:sp>
        <p:nvSpPr>
          <p:cNvPr id="2" name="Concept title">
            <a:extLst xmlns:a="http://schemas.openxmlformats.org/drawingml/2006/main">
              <a:ext uri="{FF2B5EF4-FFF2-40B4-BE49-F238E27FC236}">
                <a16:creationId xmlns:a16="http://schemas.microsoft.com/office/drawing/2014/main" id="{7C9898FC-B66D-47BC-AEB8-3A716D5644A7}"/>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Pruebas unitarias e integración</a:t>
            </a:r>
          </a:p>
        </p:txBody>
      </p:sp>
      <p:sp>
        <p:nvSpPr>
          <p:cNvPr id="3" name="Concept definition">
            <a:extLst xmlns:a="http://schemas.openxmlformats.org/drawingml/2006/main">
              <a:ext uri="{FF2B5EF4-FFF2-40B4-BE49-F238E27FC236}">
                <a16:creationId xmlns:a16="http://schemas.microsoft.com/office/drawing/2014/main" id="{5342354A-5888-48A4-929C-D9DA44EE3C84}"/>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Una prueba unitaria revisa una regla de forma aislada.</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Una prueba de integración comprueba que varias partes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colaboran correctamente, por ejemplo la API y la base.</a:t>
            </a:r>
          </a:p>
        </p:txBody>
      </p:sp>
      <p:sp>
        <p:nvSpPr>
          <p:cNvPr id="4" name="Concept explanation">
            <a:extLst xmlns:a="http://schemas.openxmlformats.org/drawingml/2006/main">
              <a:ext uri="{FF2B5EF4-FFF2-40B4-BE49-F238E27FC236}">
                <a16:creationId xmlns:a16="http://schemas.microsoft.com/office/drawing/2014/main" id="{B618B54B-F7EF-459A-8329-58A889DE0D88}"/>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AAA = Arrange, Act, Assert:</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preparar datos, ejecutar una acción y comprobar el resultado.</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Una prueba de regresión detecta si reaparece un defecto corregido.</a:t>
            </a:r>
          </a:p>
        </p:txBody>
      </p:sp>
      <p:sp>
        <p:nvSpPr>
          <p:cNvPr id="5" name="Concept example label">
            <a:extLst xmlns:a="http://schemas.openxmlformats.org/drawingml/2006/main">
              <a:ext uri="{FF2B5EF4-FFF2-40B4-BE49-F238E27FC236}">
                <a16:creationId xmlns:a16="http://schemas.microsoft.com/office/drawing/2014/main" id="{0B9AAD81-ABAF-48A2-9221-B5263EEA2400}"/>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C9318B3-DDDC-4B2D-BA57-DACC676A36DB}"/>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Comprobaremos que una cantidad cero se rechaza</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y que un usuario no puede consultar pedidos ajenos.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La cobertura mide cuánto código ejecutan las pruebas.</a:t>
            </a:r>
          </a:p>
        </p:txBody>
      </p:sp>
    </p:spTree>
    <p:extLst>
      <p:ext uri="{BB962C8B-B14F-4D97-AF65-F5344CB8AC3E}">
        <p14:creationId xmlns:p14="http://schemas.microsoft.com/office/powerpoint/2010/main" val="317802464"/>
      </p:ext>
    </p:extLst>
  </p:cSld>
</p:sld>
</file>

<file path=ppt/slides/slide1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DDAB6192-F167-444B-9045-9CD8A2C0C3B4}"/>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08</a:t>
            </a:r>
          </a:p>
        </p:txBody>
      </p:sp>
      <p:sp>
        <p:nvSpPr>
          <p:cNvPr id="3" name="Class title">
            <a:extLst xmlns:a="http://schemas.openxmlformats.org/drawingml/2006/main">
              <a:ext uri="{FF2B5EF4-FFF2-40B4-BE49-F238E27FC236}">
                <a16:creationId xmlns:a16="http://schemas.microsoft.com/office/drawing/2014/main" id="{52A92DF0-A0CF-4603-8366-BF9F8C1FA589}"/>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Respuesta</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ante fallos</a:t>
            </a:r>
          </a:p>
        </p:txBody>
      </p:sp>
      <p:sp>
        <p:nvSpPr>
          <p:cNvPr id="5" name="Learning outcome">
            <a:extLst xmlns:a="http://schemas.openxmlformats.org/drawingml/2006/main">
              <a:ext uri="{FF2B5EF4-FFF2-40B4-BE49-F238E27FC236}">
                <a16:creationId xmlns:a16="http://schemas.microsoft.com/office/drawing/2014/main" id="{26E01DBE-778E-4FE2-A36A-1B52960AC412}"/>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Notificaciones pendientes con Outbox,</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reintentos y caché.</a:t>
            </a:r>
          </a:p>
        </p:txBody>
      </p:sp>
      <p:sp>
        <p:nvSpPr>
          <p:cNvPr id="7" name="Practice outcome">
            <a:extLst xmlns:a="http://schemas.openxmlformats.org/drawingml/2006/main">
              <a:ext uri="{FF2B5EF4-FFF2-40B4-BE49-F238E27FC236}">
                <a16:creationId xmlns:a16="http://schemas.microsoft.com/office/drawing/2014/main" id="{B11864E0-50BA-4B7B-B693-0AF95843E10F}"/>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Simular fallos y comprobar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la recuperación del sistema.</a:t>
            </a:r>
          </a:p>
        </p:txBody>
      </p:sp>
      <p:sp>
        <p:nvSpPr>
          <p:cNvPr id="9" name="Module context">
            <a:extLst xmlns:a="http://schemas.openxmlformats.org/drawingml/2006/main">
              <a:ext uri="{FF2B5EF4-FFF2-40B4-BE49-F238E27FC236}">
                <a16:creationId xmlns:a16="http://schemas.microsoft.com/office/drawing/2014/main" id="{66439BBC-AB78-4B23-90E9-B0A87367C09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 servicio externo puede fallar. Guardar los avisos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pendientes permite reintentar una notificación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sin volver a crear el pedido.</a:t>
            </a:r>
          </a:p>
        </p:txBody>
      </p:sp>
    </p:spTree>
    <p:extLst>
      <p:ext uri="{BB962C8B-B14F-4D97-AF65-F5344CB8AC3E}">
        <p14:creationId xmlns:p14="http://schemas.microsoft.com/office/powerpoint/2010/main" val="974466578"/>
      </p:ext>
    </p:extLst>
  </p:cSld>
</p:sld>
</file>

<file path=ppt/slides/slide1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B39C2AF8-53DB-47B2-B1C4-6C4B7A2D4AC1}"/>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08</a:t>
            </a:r>
          </a:p>
        </p:txBody>
      </p:sp>
      <p:sp>
        <p:nvSpPr>
          <p:cNvPr id="2" name="Concept title">
            <a:extLst xmlns:a="http://schemas.openxmlformats.org/drawingml/2006/main">
              <a:ext uri="{FF2B5EF4-FFF2-40B4-BE49-F238E27FC236}">
                <a16:creationId xmlns:a16="http://schemas.microsoft.com/office/drawing/2014/main" id="{485A43EF-38DD-4704-8422-5074399EFEC2}"/>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Outbox, reintentos y caché</a:t>
            </a:r>
          </a:p>
        </p:txBody>
      </p:sp>
      <p:sp>
        <p:nvSpPr>
          <p:cNvPr id="3" name="Concept definition">
            <a:extLst xmlns:a="http://schemas.openxmlformats.org/drawingml/2006/main">
              <a:ext uri="{FF2B5EF4-FFF2-40B4-BE49-F238E27FC236}">
                <a16:creationId xmlns:a16="http://schemas.microsoft.com/office/drawing/2014/main" id="{096759AF-BDAE-4452-BD2C-9E1E57EFB5E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Outbox (bandeja de salida) guarda el pedido y el aviso pendiente</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en una misma transacción. Un proceso envía el aviso después.</a:t>
            </a:r>
          </a:p>
        </p:txBody>
      </p:sp>
      <p:sp>
        <p:nvSpPr>
          <p:cNvPr id="4" name="Concept explanation">
            <a:extLst xmlns:a="http://schemas.openxmlformats.org/drawingml/2006/main">
              <a:ext uri="{FF2B5EF4-FFF2-40B4-BE49-F238E27FC236}">
                <a16:creationId xmlns:a16="http://schemas.microsoft.com/office/drawing/2014/main" id="{53A3CD2D-7E32-431C-A453-1AD5D342B824}"/>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Retry reintenta con límites. Circuit Breaker pausa ante fallos repetidos.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La caché conserva datos frecuentes. Cache Aside consulta la base</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cuando el dato falta y luego actualiza la caché.</a:t>
            </a:r>
          </a:p>
        </p:txBody>
      </p:sp>
      <p:sp>
        <p:nvSpPr>
          <p:cNvPr id="5" name="Concept example label">
            <a:extLst xmlns:a="http://schemas.openxmlformats.org/drawingml/2006/main">
              <a:ext uri="{FF2B5EF4-FFF2-40B4-BE49-F238E27FC236}">
                <a16:creationId xmlns:a16="http://schemas.microsoft.com/office/drawing/2014/main" id="{FE55A962-6EA1-4D24-BACD-D83B64CE137F}"/>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F6DA4C1F-A605-43CA-A166-E804151FAAD0}"/>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Si el notificador cae, el aviso queda pendiente.</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El receptor reconoce eventos repetidos por su identificador</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para evitar procesarlos dos veces.</a:t>
            </a:r>
          </a:p>
        </p:txBody>
      </p:sp>
    </p:spTree>
    <p:extLst>
      <p:ext uri="{BB962C8B-B14F-4D97-AF65-F5344CB8AC3E}">
        <p14:creationId xmlns:p14="http://schemas.microsoft.com/office/powerpoint/2010/main" val="833504706"/>
      </p:ext>
    </p:extLst>
  </p:cSld>
</p:sld>
</file>

<file path=ppt/slides/slide20.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2EB43BB5-5E01-46C8-8A17-23B4CAC75932}"/>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09</a:t>
            </a:r>
          </a:p>
        </p:txBody>
      </p:sp>
      <p:sp>
        <p:nvSpPr>
          <p:cNvPr id="3" name="Class title">
            <a:extLst xmlns:a="http://schemas.openxmlformats.org/drawingml/2006/main">
              <a:ext uri="{FF2B5EF4-FFF2-40B4-BE49-F238E27FC236}">
                <a16:creationId xmlns:a16="http://schemas.microsoft.com/office/drawing/2014/main" id="{1DE34637-783D-4F67-AD50-9EFAFD5C390B}"/>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Docker</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diagnóstico</a:t>
            </a:r>
          </a:p>
        </p:txBody>
      </p:sp>
      <p:sp>
        <p:nvSpPr>
          <p:cNvPr id="5" name="Learning outcome">
            <a:extLst xmlns:a="http://schemas.openxmlformats.org/drawingml/2006/main">
              <a:ext uri="{FF2B5EF4-FFF2-40B4-BE49-F238E27FC236}">
                <a16:creationId xmlns:a16="http://schemas.microsoft.com/office/drawing/2014/main" id="{D2ED3284-BA2B-4BF2-AC70-7B7F18ADF290}"/>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Docker para ejecutar servicios.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OpenTelemetry para observarlos.</a:t>
            </a:r>
          </a:p>
        </p:txBody>
      </p:sp>
      <p:sp>
        <p:nvSpPr>
          <p:cNvPr id="7" name="Practice outcome">
            <a:extLst xmlns:a="http://schemas.openxmlformats.org/drawingml/2006/main">
              <a:ext uri="{FF2B5EF4-FFF2-40B4-BE49-F238E27FC236}">
                <a16:creationId xmlns:a16="http://schemas.microsoft.com/office/drawing/2014/main" id="{66C0B28E-C69B-4B08-AC62-A753D55BCE95}"/>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Levantar el sistema local y detectar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problemas con métricas y trazas.</a:t>
            </a:r>
          </a:p>
        </p:txBody>
      </p:sp>
      <p:sp>
        <p:nvSpPr>
          <p:cNvPr id="9" name="Module context">
            <a:extLst xmlns:a="http://schemas.openxmlformats.org/drawingml/2006/main">
              <a:ext uri="{FF2B5EF4-FFF2-40B4-BE49-F238E27FC236}">
                <a16:creationId xmlns:a16="http://schemas.microsoft.com/office/drawing/2014/main" id="{65E0378C-E562-45DA-B568-FA47CCE1870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Docker ayuda a ejecutar el mismo entorno en el equipo.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telemetría muestra qué sucede en cada petición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para encontrar errores y demoras.</a:t>
            </a:r>
          </a:p>
        </p:txBody>
      </p:sp>
    </p:spTree>
    <p:extLst>
      <p:ext uri="{BB962C8B-B14F-4D97-AF65-F5344CB8AC3E}">
        <p14:creationId xmlns:p14="http://schemas.microsoft.com/office/powerpoint/2010/main" val="779224494"/>
      </p:ext>
    </p:extLst>
  </p:cSld>
</p:sld>
</file>

<file path=ppt/slides/slide2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07408EF6-6593-46E6-AC01-708FB9D1AC5F}"/>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09</a:t>
            </a:r>
          </a:p>
        </p:txBody>
      </p:sp>
      <p:sp>
        <p:nvSpPr>
          <p:cNvPr id="2" name="Concept title">
            <a:extLst xmlns:a="http://schemas.openxmlformats.org/drawingml/2006/main">
              <a:ext uri="{FF2B5EF4-FFF2-40B4-BE49-F238E27FC236}">
                <a16:creationId xmlns:a16="http://schemas.microsoft.com/office/drawing/2014/main" id="{CEE03AD8-7CDC-4A92-912B-C85145759449}"/>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Contenedores y telemetría</a:t>
            </a:r>
          </a:p>
        </p:txBody>
      </p:sp>
      <p:sp>
        <p:nvSpPr>
          <p:cNvPr id="3" name="Concept definition">
            <a:extLst xmlns:a="http://schemas.openxmlformats.org/drawingml/2006/main">
              <a:ext uri="{FF2B5EF4-FFF2-40B4-BE49-F238E27FC236}">
                <a16:creationId xmlns:a16="http://schemas.microsoft.com/office/drawing/2014/main" id="{2BFC6A05-C50E-40A4-9044-4E1977CF3F8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Docker crea una imagen con la aplicación y sus dependencias.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 contenedor ejecuta esa imagen. Compose inicia varios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servicios juntos, como la API y la base de datos.</a:t>
            </a:r>
          </a:p>
        </p:txBody>
      </p:sp>
      <p:sp>
        <p:nvSpPr>
          <p:cNvPr id="4" name="Concept explanation">
            <a:extLst xmlns:a="http://schemas.openxmlformats.org/drawingml/2006/main">
              <a:ext uri="{FF2B5EF4-FFF2-40B4-BE49-F238E27FC236}">
                <a16:creationId xmlns:a16="http://schemas.microsoft.com/office/drawing/2014/main" id="{67C4A8D8-79D2-4481-A7A1-01E0479DABEC}"/>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OpenTelemetry recopila y exporta señales: logs (sucesos),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métricas (cantidades y tiempos) y trazas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(recorrido de una petición).</a:t>
            </a:r>
          </a:p>
        </p:txBody>
      </p:sp>
      <p:sp>
        <p:nvSpPr>
          <p:cNvPr id="5" name="Concept example label">
            <a:extLst xmlns:a="http://schemas.openxmlformats.org/drawingml/2006/main">
              <a:ext uri="{FF2B5EF4-FFF2-40B4-BE49-F238E27FC236}">
                <a16:creationId xmlns:a16="http://schemas.microsoft.com/office/drawing/2014/main" id="{5288B789-04F2-4C96-B655-9AA1C1A68CEA}"/>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516E8FF7-BFB9-4FE4-83FA-5CA0B1436D3A}"/>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Levantaremos el sistema en nuestra computadora y seguiremos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una petición para encontrar dónde ocurre una demora.</a:t>
            </a:r>
          </a:p>
        </p:txBody>
      </p:sp>
    </p:spTree>
    <p:extLst>
      <p:ext uri="{BB962C8B-B14F-4D97-AF65-F5344CB8AC3E}">
        <p14:creationId xmlns:p14="http://schemas.microsoft.com/office/powerpoint/2010/main" val="2041343156"/>
      </p:ext>
    </p:extLst>
  </p:cSld>
</p:sld>
</file>

<file path=ppt/slides/slide2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B5E2F4E8-EF29-4027-9FE8-AA119D6475B8}"/>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10</a:t>
            </a:r>
          </a:p>
        </p:txBody>
      </p:sp>
      <p:sp>
        <p:nvSpPr>
          <p:cNvPr id="3" name="Class title">
            <a:extLst xmlns:a="http://schemas.openxmlformats.org/drawingml/2006/main">
              <a:ext uri="{FF2B5EF4-FFF2-40B4-BE49-F238E27FC236}">
                <a16:creationId xmlns:a16="http://schemas.microsoft.com/office/drawing/2014/main" id="{B824E76C-F928-45D9-B40B-3B78F0499216}"/>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Integración</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entrega</a:t>
            </a:r>
          </a:p>
        </p:txBody>
      </p:sp>
      <p:sp>
        <p:nvSpPr>
          <p:cNvPr id="5" name="Learning outcome">
            <a:extLst xmlns:a="http://schemas.openxmlformats.org/drawingml/2006/main">
              <a:ext uri="{FF2B5EF4-FFF2-40B4-BE49-F238E27FC236}">
                <a16:creationId xmlns:a16="http://schemas.microsoft.com/office/drawing/2014/main" id="{FA7D994D-EE34-463A-A8E6-BC27859320CB}"/>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revisar la solución completa</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y preparar su siguiente etapa.</a:t>
            </a:r>
          </a:p>
        </p:txBody>
      </p:sp>
      <p:sp>
        <p:nvSpPr>
          <p:cNvPr id="7" name="Practice outcome">
            <a:extLst xmlns:a="http://schemas.openxmlformats.org/drawingml/2006/main">
              <a:ext uri="{FF2B5EF4-FFF2-40B4-BE49-F238E27FC236}">
                <a16:creationId xmlns:a16="http://schemas.microsoft.com/office/drawing/2014/main" id="{88B4F69C-8D22-4185-A92F-016361B290BA}"/>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Resolver el desafío final</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justificar tus decisiones.</a:t>
            </a:r>
          </a:p>
        </p:txBody>
      </p:sp>
      <p:sp>
        <p:nvSpPr>
          <p:cNvPr id="9" name="Module context">
            <a:extLst xmlns:a="http://schemas.openxmlformats.org/drawingml/2006/main">
              <a:ext uri="{FF2B5EF4-FFF2-40B4-BE49-F238E27FC236}">
                <a16:creationId xmlns:a16="http://schemas.microsoft.com/office/drawing/2014/main" id="{F932CE8D-F249-418E-B979-704F680BB683}"/>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entrega reúne lo aprendido en un cambio completo.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Demostrarás cómo funciona y explicarás sus decisiones,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evidencia y los pendientes para producción.</a:t>
            </a:r>
          </a:p>
        </p:txBody>
      </p:sp>
    </p:spTree>
    <p:extLst>
      <p:ext uri="{BB962C8B-B14F-4D97-AF65-F5344CB8AC3E}">
        <p14:creationId xmlns:p14="http://schemas.microsoft.com/office/powerpoint/2010/main" val="843059531"/>
      </p:ext>
    </p:extLst>
  </p:cSld>
</p:sld>
</file>

<file path=ppt/slides/slide2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095ADEB7-A417-4A7E-A727-9A193AD57211}"/>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10</a:t>
            </a:r>
          </a:p>
        </p:txBody>
      </p:sp>
      <p:sp>
        <p:nvSpPr>
          <p:cNvPr id="2" name="Concept title">
            <a:extLst xmlns:a="http://schemas.openxmlformats.org/drawingml/2006/main">
              <a:ext uri="{FF2B5EF4-FFF2-40B4-BE49-F238E27FC236}">
                <a16:creationId xmlns:a16="http://schemas.microsoft.com/office/drawing/2014/main" id="{2261A6DD-CE94-4A3D-BF04-7DA8A7B9062F}"/>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CI, decisiones y entrega</a:t>
            </a:r>
          </a:p>
        </p:txBody>
      </p:sp>
      <p:sp>
        <p:nvSpPr>
          <p:cNvPr id="3" name="Concept definition">
            <a:extLst xmlns:a="http://schemas.openxmlformats.org/drawingml/2006/main">
              <a:ext uri="{FF2B5EF4-FFF2-40B4-BE49-F238E27FC236}">
                <a16:creationId xmlns:a16="http://schemas.microsoft.com/office/drawing/2014/main" id="{06EFD895-A026-4C29-ABCA-C56972B7574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CI = Continuous Integration, o integración continua.</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Automatiza comprobaciones como compilar y ejecutar pruebas.</a:t>
            </a:r>
          </a:p>
        </p:txBody>
      </p:sp>
      <p:sp>
        <p:nvSpPr>
          <p:cNvPr id="4" name="Concept explanation">
            <a:extLst xmlns:a="http://schemas.openxmlformats.org/drawingml/2006/main">
              <a:ext uri="{FF2B5EF4-FFF2-40B4-BE49-F238E27FC236}">
                <a16:creationId xmlns:a16="http://schemas.microsoft.com/office/drawing/2014/main" id="{5529AAAD-C57C-48DC-8260-4BEC456CD3A6}"/>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ADR = Architecture Decision Record: registro de una decisión.</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Explica el contexto, las alternativas y las consecuencias.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El plan de producción indica qué falta y cómo verificarlo.</a:t>
            </a:r>
          </a:p>
        </p:txBody>
      </p:sp>
      <p:sp>
        <p:nvSpPr>
          <p:cNvPr id="5" name="Concept example label">
            <a:extLst xmlns:a="http://schemas.openxmlformats.org/drawingml/2006/main">
              <a:ext uri="{FF2B5EF4-FFF2-40B4-BE49-F238E27FC236}">
                <a16:creationId xmlns:a16="http://schemas.microsoft.com/office/drawing/2014/main" id="{2EC18040-B2FB-4749-9314-DF9C34C93968}"/>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7C6C2E55-9B18-40DF-8D9D-A336E8A42446}"/>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Añadiremos un filtro por estado a los pedidos propios.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Mostraremos pruebas y explicaremos las decisiones del cambio.</a:t>
            </a:r>
          </a:p>
        </p:txBody>
      </p:sp>
    </p:spTree>
    <p:extLst>
      <p:ext uri="{BB962C8B-B14F-4D97-AF65-F5344CB8AC3E}">
        <p14:creationId xmlns:p14="http://schemas.microsoft.com/office/powerpoint/2010/main" val="1056622573"/>
      </p:ext>
    </p:extLst>
  </p:cSld>
</p:sld>
</file>

<file path=ppt/slides/slide24.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0798260886f47b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elivery title">
            <a:extLst xmlns:a="http://schemas.openxmlformats.org/drawingml/2006/main">
              <a:ext uri="{FF2B5EF4-FFF2-40B4-BE49-F238E27FC236}">
                <a16:creationId xmlns:a16="http://schemas.microsoft.com/office/drawing/2014/main" id="{C0F37B35-045C-4F90-AA5B-CB280D6CCF40}"/>
              </a:ext>
            </a:extLst>
          </p:cNvPr>
          <p:cNvSpPr>
            <a:spLocks xmlns:a="http://schemas.openxmlformats.org/drawingml/2006/main" noGrp="1"/>
          </p:cNvSpPr>
          <p:nvPr/>
        </p:nvSpPr>
        <p:spPr>
          <a:xfrm xmlns:a="http://schemas.openxmlformats.org/drawingml/2006/main">
            <a:off x="762000" y="952500"/>
            <a:ext cx="6905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875" b="1">
                <a:solidFill>
                  <a:srgbClr val="FFFFFF"/>
                </a:solidFill>
                <a:latin typeface="Arial"/>
                <a:ea typeface="Arial"/>
                <a:cs typeface="Arial"/>
              </a:defRPr>
            </a:pPr>
            <a:r>
              <a:rPr sz="4875" b="1">
                <a:solidFill>
                  <a:srgbClr val="FFFFFF"/>
                </a:solidFill>
                <a:latin typeface="Arial"/>
                <a:ea typeface="Arial"/>
                <a:cs typeface="Arial"/>
              </a:rPr>
              <a:t>Tu entrega final</a:t>
            </a:r>
          </a:p>
        </p:txBody>
      </p:sp>
      <p:sp>
        <p:nvSpPr>
          <p:cNvPr id="3" name="Delivery application">
            <a:extLst xmlns:a="http://schemas.openxmlformats.org/drawingml/2006/main">
              <a:ext uri="{FF2B5EF4-FFF2-40B4-BE49-F238E27FC236}">
                <a16:creationId xmlns:a16="http://schemas.microsoft.com/office/drawing/2014/main" id="{AC0F568E-6545-452D-A225-856D3F650881}"/>
              </a:ext>
            </a:extLst>
          </p:cNvPr>
          <p:cNvSpPr>
            <a:spLocks xmlns:a="http://schemas.openxmlformats.org/drawingml/2006/main" noGrp="1"/>
          </p:cNvSpPr>
          <p:nvPr/>
        </p:nvSpPr>
        <p:spPr>
          <a:xfrm xmlns:a="http://schemas.openxmlformats.org/drawingml/2006/main">
            <a:off x="800100" y="2647950"/>
            <a:ext cx="657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Aplicación funcionando.</a:t>
            </a:r>
          </a:p>
        </p:txBody>
      </p:sp>
      <p:sp>
        <p:nvSpPr>
          <p:cNvPr id="4" name="Delivery evidence">
            <a:extLst xmlns:a="http://schemas.openxmlformats.org/drawingml/2006/main">
              <a:ext uri="{FF2B5EF4-FFF2-40B4-BE49-F238E27FC236}">
                <a16:creationId xmlns:a16="http://schemas.microsoft.com/office/drawing/2014/main" id="{017A3F5D-E514-41F9-A5C5-A66BDF95395C}"/>
              </a:ext>
            </a:extLst>
          </p:cNvPr>
          <p:cNvSpPr>
            <a:spLocks xmlns:a="http://schemas.openxmlformats.org/drawingml/2006/main" noGrp="1"/>
          </p:cNvSpPr>
          <p:nvPr/>
        </p:nvSpPr>
        <p:spPr>
          <a:xfrm xmlns:a="http://schemas.openxmlformats.org/drawingml/2006/main">
            <a:off x="800100" y="3457575"/>
            <a:ext cx="657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Pruebas y documentación.</a:t>
            </a:r>
          </a:p>
        </p:txBody>
      </p:sp>
      <p:sp>
        <p:nvSpPr>
          <p:cNvPr id="5" name="Delivery understanding">
            <a:extLst xmlns:a="http://schemas.openxmlformats.org/drawingml/2006/main">
              <a:ext uri="{FF2B5EF4-FFF2-40B4-BE49-F238E27FC236}">
                <a16:creationId xmlns:a16="http://schemas.microsoft.com/office/drawing/2014/main" id="{7FA8C5BE-FB39-4E9F-A78C-5963A145233D}"/>
              </a:ext>
            </a:extLst>
          </p:cNvPr>
          <p:cNvSpPr>
            <a:spLocks xmlns:a="http://schemas.openxmlformats.org/drawingml/2006/main" noGrp="1"/>
          </p:cNvSpPr>
          <p:nvPr/>
        </p:nvSpPr>
        <p:spPr>
          <a:xfrm xmlns:a="http://schemas.openxmlformats.org/drawingml/2006/main">
            <a:off x="800100" y="4267200"/>
            <a:ext cx="685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Decisiones que puedes explicar.</a:t>
            </a:r>
          </a:p>
        </p:txBody>
      </p:sp>
      <p:sp>
        <p:nvSpPr>
          <p:cNvPr id="6" name="Course repository">
            <a:extLst xmlns:a="http://schemas.openxmlformats.org/drawingml/2006/main">
              <a:ext uri="{FF2B5EF4-FFF2-40B4-BE49-F238E27FC236}">
                <a16:creationId xmlns:a16="http://schemas.microsoft.com/office/drawing/2014/main" id="{2F8774B0-8396-446E-AF31-1F4BE8242D47}"/>
              </a:ext>
            </a:extLst>
          </p:cNvPr>
          <p:cNvSpPr>
            <a:spLocks xmlns:a="http://schemas.openxmlformats.org/drawingml/2006/main" noGrp="1"/>
          </p:cNvSpPr>
          <p:nvPr/>
        </p:nvSpPr>
        <p:spPr>
          <a:xfrm xmlns:a="http://schemas.openxmlformats.org/drawingml/2006/main">
            <a:off x="800100" y="5848350"/>
            <a:ext cx="681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A7E2D7"/>
                </a:solidFill>
                <a:latin typeface="Arial"/>
                <a:ea typeface="Arial"/>
                <a:cs typeface="Arial"/>
              </a:defRPr>
            </a:pPr>
            <a:r>
              <a:rPr sz="2100" b="0">
                <a:solidFill>
                  <a:srgbClr val="A7E2D7"/>
                </a:solidFill>
                <a:latin typeface="Arial"/>
                <a:ea typeface="Arial"/>
                <a:cs typeface="Arial"/>
                <a:hlinkClick xmlns:r="http://schemas.openxmlformats.org/officeDocument/2006/relationships" r:id="Rdf1cf172ef2b41b6"/>
              </a:rPr>
              <a:t>github.com/ychavez/CursoNETIA</a:t>
            </a:r>
          </a:p>
        </p:txBody>
      </p:sp>
    </p:spTree>
    <p:extLst>
      <p:ext uri="{BB962C8B-B14F-4D97-AF65-F5344CB8AC3E}">
        <p14:creationId xmlns:p14="http://schemas.microsoft.com/office/powerpoint/2010/main" val="14348117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2026-09-29T15:46:58.9770000Z</dcterms:created>
  <dcterms:modified xsi:type="dcterms:W3CDTF">2026-09-29T15:46:58.9770000Z</dcterms:modified>
</coreProperties>
</file>